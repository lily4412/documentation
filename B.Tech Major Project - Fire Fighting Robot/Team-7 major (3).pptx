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75" r:id="rId9"/>
    <p:sldId id="273" r:id="rId10"/>
    <p:sldId id="263" r:id="rId11"/>
    <p:sldId id="271" r:id="rId12"/>
    <p:sldId id="272" r:id="rId13"/>
    <p:sldId id="274" r:id="rId14"/>
    <p:sldId id="269" r:id="rId15"/>
    <p:sldId id="276" r:id="rId16"/>
    <p:sldId id="270" r:id="rId17"/>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6" userDrawn="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758D"/>
    <a:srgbClr val="E6ECE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22" autoAdjust="0"/>
  </p:normalViewPr>
  <p:slideViewPr>
    <p:cSldViewPr>
      <p:cViewPr varScale="1">
        <p:scale>
          <a:sx n="62" d="100"/>
          <a:sy n="62" d="100"/>
        </p:scale>
        <p:origin x="274" y="58"/>
      </p:cViewPr>
      <p:guideLst>
        <p:guide orient="horz" pos="2136"/>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4/16/2024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4/16/2024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4/16/2024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4/16/2024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4/16/2024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4/16/2024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343400" y="2857500"/>
            <a:ext cx="8656992" cy="5513842"/>
            <a:chOff x="0" y="-104775"/>
            <a:chExt cx="11542655" cy="7351790"/>
          </a:xfrm>
        </p:grpSpPr>
        <p:sp>
          <p:nvSpPr>
            <p:cNvPr id="3" name="TextBox 3"/>
            <p:cNvSpPr txBox="1"/>
            <p:nvPr/>
          </p:nvSpPr>
          <p:spPr>
            <a:xfrm>
              <a:off x="40640" y="2088673"/>
              <a:ext cx="11502015" cy="1969771"/>
            </a:xfrm>
            <a:prstGeom prst="rect">
              <a:avLst/>
            </a:prstGeom>
          </p:spPr>
          <p:txBody>
            <a:bodyPr lIns="0" tIns="0" rIns="0" bIns="0" rtlCol="0" anchor="t">
              <a:spAutoFit/>
            </a:bodyPr>
            <a:lstStyle/>
            <a:p>
              <a:r>
                <a:rPr lang="en-US" sz="4800" dirty="0">
                  <a:solidFill>
                    <a:srgbClr val="000000"/>
                  </a:solidFill>
                  <a:latin typeface="Times New Roman" panose="02020603050405020304" pitchFamily="18" charset="0"/>
                  <a:cs typeface="Times New Roman" panose="02020603050405020304" pitchFamily="18" charset="0"/>
                </a:rPr>
                <a:t>Fire Fighting Robot Using Arduino with Call and SMS Alert</a:t>
              </a:r>
            </a:p>
          </p:txBody>
        </p:sp>
        <p:sp>
          <p:nvSpPr>
            <p:cNvPr id="4" name="TextBox 4"/>
            <p:cNvSpPr txBox="1"/>
            <p:nvPr/>
          </p:nvSpPr>
          <p:spPr>
            <a:xfrm>
              <a:off x="0" y="-104775"/>
              <a:ext cx="11502015" cy="1163824"/>
            </a:xfrm>
            <a:prstGeom prst="rect">
              <a:avLst/>
            </a:prstGeom>
          </p:spPr>
          <p:txBody>
            <a:bodyPr lIns="0" tIns="0" rIns="0" bIns="0" rtlCol="0" anchor="t">
              <a:spAutoFit/>
            </a:bodyPr>
            <a:lstStyle/>
            <a:p>
              <a:pPr>
                <a:lnSpc>
                  <a:spcPts val="7699"/>
                </a:lnSpc>
              </a:pPr>
              <a:r>
                <a:rPr lang="en-US" sz="4400" dirty="0">
                  <a:solidFill>
                    <a:srgbClr val="4C758D"/>
                  </a:solidFill>
                  <a:latin typeface="Times New Roman" panose="02020603050405020304" pitchFamily="18" charset="0"/>
                  <a:cs typeface="Times New Roman" panose="02020603050405020304" pitchFamily="18" charset="0"/>
                </a:rPr>
                <a:t>Department of CSE(AI&amp;ML)</a:t>
              </a:r>
            </a:p>
          </p:txBody>
        </p:sp>
        <p:sp>
          <p:nvSpPr>
            <p:cNvPr id="5" name="TextBox 5"/>
            <p:cNvSpPr txBox="1"/>
            <p:nvPr/>
          </p:nvSpPr>
          <p:spPr>
            <a:xfrm>
              <a:off x="0" y="6710017"/>
              <a:ext cx="11502015" cy="536998"/>
            </a:xfrm>
            <a:prstGeom prst="rect">
              <a:avLst/>
            </a:prstGeom>
          </p:spPr>
          <p:txBody>
            <a:bodyPr lIns="0" tIns="0" rIns="0" bIns="0" rtlCol="0" anchor="t">
              <a:spAutoFit/>
            </a:bodyPr>
            <a:lstStyle/>
            <a:p>
              <a:pPr>
                <a:lnSpc>
                  <a:spcPts val="3394"/>
                </a:lnSpc>
              </a:pPr>
              <a:endParaRPr/>
            </a:p>
          </p:txBody>
        </p:sp>
      </p:grpSp>
      <p:sp>
        <p:nvSpPr>
          <p:cNvPr id="6" name="TextBox 6"/>
          <p:cNvSpPr txBox="1"/>
          <p:nvPr/>
        </p:nvSpPr>
        <p:spPr>
          <a:xfrm>
            <a:off x="3146419" y="359759"/>
            <a:ext cx="14112881" cy="1638300"/>
          </a:xfrm>
          <a:prstGeom prst="rect">
            <a:avLst/>
          </a:prstGeom>
        </p:spPr>
        <p:txBody>
          <a:bodyPr lIns="0" tIns="0" rIns="0" bIns="0" rtlCol="0" anchor="t">
            <a:spAutoFit/>
          </a:bodyPr>
          <a:lstStyle/>
          <a:p>
            <a:pPr>
              <a:lnSpc>
                <a:spcPts val="6300"/>
              </a:lnSpc>
              <a:spcBef>
                <a:spcPct val="0"/>
              </a:spcBef>
            </a:pPr>
            <a:r>
              <a:rPr lang="en-US" sz="6000" b="1" dirty="0">
                <a:solidFill>
                  <a:srgbClr val="000000"/>
                </a:solidFill>
                <a:latin typeface="Times New Roman" panose="02020603050405020304" pitchFamily="18" charset="0"/>
                <a:cs typeface="Times New Roman" panose="02020603050405020304" pitchFamily="18" charset="0"/>
              </a:rPr>
              <a:t>Vignan’s Institute of Management and Technology  for Women</a:t>
            </a:r>
          </a:p>
        </p:txBody>
      </p:sp>
      <p:sp>
        <p:nvSpPr>
          <p:cNvPr id="7" name="Freeform 7"/>
          <p:cNvSpPr/>
          <p:nvPr/>
        </p:nvSpPr>
        <p:spPr>
          <a:xfrm>
            <a:off x="1028700" y="283559"/>
            <a:ext cx="1752612" cy="1752612"/>
          </a:xfrm>
          <a:custGeom>
            <a:avLst/>
            <a:gdLst/>
            <a:ahLst/>
            <a:cxnLst/>
            <a:rect l="l" t="t" r="r" b="b"/>
            <a:pathLst>
              <a:path w="1752612" h="1752612">
                <a:moveTo>
                  <a:pt x="0" y="0"/>
                </a:moveTo>
                <a:lnTo>
                  <a:pt x="1752612" y="0"/>
                </a:lnTo>
                <a:lnTo>
                  <a:pt x="1752612" y="1752611"/>
                </a:lnTo>
                <a:lnTo>
                  <a:pt x="0" y="1752611"/>
                </a:lnTo>
                <a:lnTo>
                  <a:pt x="0" y="0"/>
                </a:lnTo>
                <a:close/>
              </a:path>
            </a:pathLst>
          </a:custGeom>
          <a:blipFill>
            <a:blip r:embed="rId2" cstate="print"/>
            <a:stretch>
              <a:fillRect/>
            </a:stretch>
          </a:blipFill>
        </p:spPr>
      </p:sp>
      <p:sp>
        <p:nvSpPr>
          <p:cNvPr id="8" name="TextBox 8"/>
          <p:cNvSpPr txBox="1"/>
          <p:nvPr/>
        </p:nvSpPr>
        <p:spPr>
          <a:xfrm>
            <a:off x="12420600" y="7889356"/>
            <a:ext cx="5550548" cy="1422672"/>
          </a:xfrm>
          <a:prstGeom prst="rect">
            <a:avLst/>
          </a:prstGeom>
        </p:spPr>
        <p:txBody>
          <a:bodyPr lIns="0" tIns="0" rIns="0" bIns="0" rtlCol="0" anchor="t">
            <a:spAutoFit/>
          </a:bodyPr>
          <a:lstStyle/>
          <a:p>
            <a:pPr>
              <a:lnSpc>
                <a:spcPts val="2814"/>
              </a:lnSpc>
            </a:pPr>
            <a:r>
              <a:rPr lang="en-US" sz="2400" dirty="0">
                <a:solidFill>
                  <a:srgbClr val="000000"/>
                </a:solidFill>
                <a:latin typeface="Times New Roman" panose="02020603050405020304" pitchFamily="18" charset="0"/>
                <a:cs typeface="Times New Roman" panose="02020603050405020304" pitchFamily="18" charset="0"/>
              </a:rPr>
              <a:t>D.Likhitha </a:t>
            </a:r>
            <a:r>
              <a:rPr lang="en-US" sz="2400" dirty="0" err="1">
                <a:solidFill>
                  <a:srgbClr val="000000"/>
                </a:solidFill>
                <a:latin typeface="Times New Roman" panose="02020603050405020304" pitchFamily="18" charset="0"/>
                <a:cs typeface="Times New Roman" panose="02020603050405020304" pitchFamily="18" charset="0"/>
              </a:rPr>
              <a:t>MahaLaxmi</a:t>
            </a:r>
            <a:r>
              <a:rPr lang="en-US" sz="2400" dirty="0">
                <a:solidFill>
                  <a:srgbClr val="000000"/>
                </a:solidFill>
                <a:latin typeface="Times New Roman" panose="02020603050405020304" pitchFamily="18" charset="0"/>
                <a:cs typeface="Times New Roman" panose="02020603050405020304" pitchFamily="18" charset="0"/>
              </a:rPr>
              <a:t> (20UP1A6611)</a:t>
            </a:r>
          </a:p>
          <a:p>
            <a:pPr>
              <a:lnSpc>
                <a:spcPts val="2814"/>
              </a:lnSpc>
            </a:pPr>
            <a:r>
              <a:rPr lang="en-US" sz="2400" dirty="0" err="1">
                <a:solidFill>
                  <a:srgbClr val="000000"/>
                </a:solidFill>
                <a:latin typeface="Times New Roman" panose="02020603050405020304" pitchFamily="18" charset="0"/>
                <a:cs typeface="Times New Roman" panose="02020603050405020304" pitchFamily="18" charset="0"/>
              </a:rPr>
              <a:t>G.Shravani</a:t>
            </a:r>
            <a:r>
              <a:rPr lang="en-US" sz="2400" dirty="0">
                <a:solidFill>
                  <a:srgbClr val="000000"/>
                </a:solidFill>
                <a:latin typeface="Times New Roman" panose="02020603050405020304" pitchFamily="18" charset="0"/>
                <a:cs typeface="Times New Roman" panose="02020603050405020304" pitchFamily="18" charset="0"/>
              </a:rPr>
              <a:t> (20UP1A6614)</a:t>
            </a:r>
          </a:p>
          <a:p>
            <a:pPr>
              <a:lnSpc>
                <a:spcPts val="2814"/>
              </a:lnSpc>
            </a:pPr>
            <a:r>
              <a:rPr lang="en-US" sz="2400" dirty="0" err="1">
                <a:solidFill>
                  <a:srgbClr val="000000"/>
                </a:solidFill>
                <a:latin typeface="Times New Roman" panose="02020603050405020304" pitchFamily="18" charset="0"/>
                <a:cs typeface="Times New Roman" panose="02020603050405020304" pitchFamily="18" charset="0"/>
              </a:rPr>
              <a:t>M.Shruthi</a:t>
            </a:r>
            <a:r>
              <a:rPr lang="en-US" sz="2400" dirty="0">
                <a:solidFill>
                  <a:srgbClr val="000000"/>
                </a:solidFill>
                <a:latin typeface="Times New Roman" panose="02020603050405020304" pitchFamily="18" charset="0"/>
                <a:cs typeface="Times New Roman" panose="02020603050405020304" pitchFamily="18" charset="0"/>
              </a:rPr>
              <a:t> (20UP1A6632)</a:t>
            </a:r>
          </a:p>
          <a:p>
            <a:pPr>
              <a:lnSpc>
                <a:spcPts val="2814"/>
              </a:lnSpc>
              <a:spcBef>
                <a:spcPct val="0"/>
              </a:spcBef>
            </a:pPr>
            <a:r>
              <a:rPr lang="en-US" sz="2400" dirty="0" err="1">
                <a:solidFill>
                  <a:srgbClr val="000000"/>
                </a:solidFill>
                <a:latin typeface="Times New Roman" panose="02020603050405020304" pitchFamily="18" charset="0"/>
                <a:cs typeface="Times New Roman" panose="02020603050405020304" pitchFamily="18" charset="0"/>
              </a:rPr>
              <a:t>M.Sreeja</a:t>
            </a:r>
            <a:r>
              <a:rPr lang="en-US" sz="2400" dirty="0">
                <a:solidFill>
                  <a:srgbClr val="000000"/>
                </a:solidFill>
                <a:latin typeface="Times New Roman" panose="02020603050405020304" pitchFamily="18" charset="0"/>
                <a:cs typeface="Times New Roman" panose="02020603050405020304" pitchFamily="18" charset="0"/>
              </a:rPr>
              <a:t> (21UP5A6602)</a:t>
            </a:r>
          </a:p>
        </p:txBody>
      </p:sp>
      <p:sp>
        <p:nvSpPr>
          <p:cNvPr id="9" name="TextBox 8">
            <a:extLst>
              <a:ext uri="{FF2B5EF4-FFF2-40B4-BE49-F238E27FC236}">
                <a16:creationId xmlns:a16="http://schemas.microsoft.com/office/drawing/2014/main" id="{ACD8B65C-F94D-D6B0-E97D-F06EC621131A}"/>
              </a:ext>
            </a:extLst>
          </p:cNvPr>
          <p:cNvSpPr txBox="1"/>
          <p:nvPr/>
        </p:nvSpPr>
        <p:spPr>
          <a:xfrm>
            <a:off x="1059180" y="7889356"/>
            <a:ext cx="3886200" cy="1200329"/>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Under the guidance of</a:t>
            </a:r>
          </a:p>
          <a:p>
            <a:pPr algn="ctr"/>
            <a:r>
              <a:rPr lang="en-US" sz="2400" dirty="0" err="1">
                <a:latin typeface="Times New Roman" panose="02020603050405020304" pitchFamily="18" charset="0"/>
                <a:cs typeface="Times New Roman" panose="02020603050405020304" pitchFamily="18" charset="0"/>
              </a:rPr>
              <a:t>B.Sangeetha</a:t>
            </a:r>
            <a:endParaRPr lang="en-US" sz="2400" dirty="0">
              <a:latin typeface="Times New Roman" panose="02020603050405020304" pitchFamily="18" charset="0"/>
              <a:cs typeface="Times New Roman" panose="02020603050405020304" pitchFamily="18" charset="0"/>
            </a:endParaRPr>
          </a:p>
          <a:p>
            <a:pPr algn="ctr"/>
            <a:r>
              <a:rPr lang="en-IN" sz="2400" dirty="0">
                <a:latin typeface="Times New Roman" panose="02020603050405020304" pitchFamily="18" charset="0"/>
                <a:cs typeface="Times New Roman" panose="02020603050405020304" pitchFamily="18" charset="0"/>
              </a:rPr>
              <a:t>Assistant Professor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514600" y="1028700"/>
            <a:ext cx="12412264" cy="7833651"/>
            <a:chOff x="0" y="-9525"/>
            <a:chExt cx="16549685" cy="10444869"/>
          </a:xfrm>
        </p:grpSpPr>
        <p:sp>
          <p:nvSpPr>
            <p:cNvPr id="3" name="TextBox 3"/>
            <p:cNvSpPr txBox="1"/>
            <p:nvPr/>
          </p:nvSpPr>
          <p:spPr>
            <a:xfrm>
              <a:off x="0" y="-9525"/>
              <a:ext cx="16549685" cy="1423467"/>
            </a:xfrm>
            <a:prstGeom prst="rect">
              <a:avLst/>
            </a:prstGeom>
          </p:spPr>
          <p:txBody>
            <a:bodyPr lIns="0" tIns="0" rIns="0" bIns="0" rtlCol="0" anchor="t">
              <a:spAutoFit/>
            </a:bodyPr>
            <a:lstStyle/>
            <a:p>
              <a:pPr algn="ctr">
                <a:lnSpc>
                  <a:spcPts val="9600"/>
                </a:lnSpc>
              </a:pPr>
              <a:r>
                <a:rPr lang="en-US" sz="4800" dirty="0">
                  <a:solidFill>
                    <a:srgbClr val="000000"/>
                  </a:solidFill>
                  <a:latin typeface="Times New Roman" panose="02020603050405020304" pitchFamily="18" charset="0"/>
                  <a:cs typeface="Times New Roman" panose="02020603050405020304" pitchFamily="18" charset="0"/>
                </a:rPr>
                <a:t>ABSTRACT</a:t>
              </a:r>
            </a:p>
          </p:txBody>
        </p:sp>
        <p:sp>
          <p:nvSpPr>
            <p:cNvPr id="4" name="TextBox 4"/>
            <p:cNvSpPr txBox="1"/>
            <p:nvPr/>
          </p:nvSpPr>
          <p:spPr>
            <a:xfrm>
              <a:off x="0" y="1920875"/>
              <a:ext cx="16549685" cy="8514469"/>
            </a:xfrm>
            <a:prstGeom prst="rect">
              <a:avLst/>
            </a:prstGeom>
          </p:spPr>
          <p:txBody>
            <a:bodyPr lIns="0" tIns="0" rIns="0" bIns="0" rtlCol="0" anchor="t">
              <a:spAutoFit/>
            </a:bodyPr>
            <a:lstStyle/>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Arduino-based fire-fighting robot with SMS alert is aimed at developing an autonomous robot capable of detecting and extinguishing fires in indoor environments. </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This project integrates a GSM module to send real-time SMS alerts to designated phone numbers, ensuring timely notification of fire incidents. By utilizing Arduino Uno, along with components like fire sensors, motor drivers, and a water sprinkler, the robot provides an efficient solution for fire safety.</a:t>
              </a:r>
            </a:p>
            <a:p>
              <a:pPr marL="457200" indent="-457200" algn="just">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This project contributes to the field of fire safety by integrating advanced technologies to create a dependable and self-directed system for fire detection, suppression, and real-time communication.</a:t>
              </a:r>
              <a:endParaRPr lang="en-US" sz="2800" dirty="0">
                <a:solidFill>
                  <a:srgbClr val="000000"/>
                </a:solidFill>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rduino Based Autonomous Fire Fighting Robot Project">
            <a:extLst>
              <a:ext uri="{FF2B5EF4-FFF2-40B4-BE49-F238E27FC236}">
                <a16:creationId xmlns:a16="http://schemas.microsoft.com/office/drawing/2014/main" id="{4BFA2526-BD94-F47B-AADF-BDCADC1E596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2164" r="23712"/>
          <a:stretch/>
        </p:blipFill>
        <p:spPr bwMode="auto">
          <a:xfrm>
            <a:off x="12325248" y="1337329"/>
            <a:ext cx="5962752" cy="8262671"/>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3"/>
          <p:cNvGrpSpPr/>
          <p:nvPr/>
        </p:nvGrpSpPr>
        <p:grpSpPr>
          <a:xfrm>
            <a:off x="1676400" y="2324100"/>
            <a:ext cx="9448299" cy="6408441"/>
            <a:chOff x="-465931" y="-340794"/>
            <a:chExt cx="11293649" cy="8544587"/>
          </a:xfrm>
        </p:grpSpPr>
        <p:sp>
          <p:nvSpPr>
            <p:cNvPr id="4" name="TextBox 4"/>
            <p:cNvSpPr txBox="1"/>
            <p:nvPr/>
          </p:nvSpPr>
          <p:spPr>
            <a:xfrm>
              <a:off x="-65167" y="-340794"/>
              <a:ext cx="10892885" cy="1115691"/>
            </a:xfrm>
            <a:prstGeom prst="rect">
              <a:avLst/>
            </a:prstGeom>
          </p:spPr>
          <p:txBody>
            <a:bodyPr lIns="0" tIns="0" rIns="0" bIns="0" rtlCol="0" anchor="t">
              <a:spAutoFit/>
            </a:bodyPr>
            <a:lstStyle/>
            <a:p>
              <a:pPr>
                <a:lnSpc>
                  <a:spcPts val="7200"/>
                </a:lnSpc>
              </a:pPr>
              <a:r>
                <a:rPr lang="en-US" sz="4000" dirty="0">
                  <a:solidFill>
                    <a:srgbClr val="000000"/>
                  </a:solidFill>
                  <a:latin typeface="Times New Roman" panose="02020603050405020304" pitchFamily="18" charset="0"/>
                  <a:cs typeface="Times New Roman" panose="02020603050405020304" pitchFamily="18" charset="0"/>
                </a:rPr>
                <a:t>What is a Fire Fighting Robot?</a:t>
              </a:r>
            </a:p>
          </p:txBody>
        </p:sp>
        <p:sp>
          <p:nvSpPr>
            <p:cNvPr id="5" name="TextBox 5"/>
            <p:cNvSpPr txBox="1"/>
            <p:nvPr/>
          </p:nvSpPr>
          <p:spPr>
            <a:xfrm>
              <a:off x="-465931" y="1412875"/>
              <a:ext cx="10892885" cy="6790918"/>
            </a:xfrm>
            <a:prstGeom prst="rect">
              <a:avLst/>
            </a:prstGeom>
          </p:spPr>
          <p:txBody>
            <a:bodyPr lIns="0" tIns="0" rIns="0" bIns="0" rtlCol="0" anchor="t">
              <a:spAutoFit/>
            </a:bodyPr>
            <a:lstStyle/>
            <a:p>
              <a:pPr marL="737871" lvl="1" indent="-457200" algn="just">
                <a:lnSpc>
                  <a:spcPct val="150000"/>
                </a:lnSpc>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A firefighting robot is a specialized robot designed to assist firefighters in extinguishing fires and performing tasks in hazardous environments. </a:t>
              </a:r>
            </a:p>
            <a:p>
              <a:pPr marL="737871" lvl="1" indent="-457200" algn="just">
                <a:lnSpc>
                  <a:spcPct val="150000"/>
                </a:lnSpc>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These robots are equipped with various sensors, cameras, and tools to navigate through smoke-filled areas and assess the situation. </a:t>
              </a:r>
            </a:p>
            <a:p>
              <a:pPr marL="737871" lvl="1" indent="-457200" algn="just">
                <a:lnSpc>
                  <a:spcPct val="150000"/>
                </a:lnSpc>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They can be remotely operated or autonomous, depending on their design.</a:t>
              </a:r>
              <a:endParaRPr lang="en-US" sz="2800" dirty="0">
                <a:latin typeface="Times New Roman" panose="02020603050405020304" pitchFamily="18" charset="0"/>
                <a:cs typeface="Times New Roman" panose="02020603050405020304" pitchFamily="18" charset="0"/>
              </a:endParaRPr>
            </a:p>
          </p:txBody>
        </p:sp>
      </p:grpSp>
      <p:sp>
        <p:nvSpPr>
          <p:cNvPr id="6" name="TextBox 6"/>
          <p:cNvSpPr txBox="1"/>
          <p:nvPr/>
        </p:nvSpPr>
        <p:spPr>
          <a:xfrm>
            <a:off x="5264021" y="233629"/>
            <a:ext cx="7759958" cy="1103700"/>
          </a:xfrm>
          <a:prstGeom prst="rect">
            <a:avLst/>
          </a:prstGeom>
        </p:spPr>
        <p:txBody>
          <a:bodyPr wrap="square" lIns="0" tIns="0" rIns="0" bIns="0" rtlCol="0" anchor="t">
            <a:spAutoFit/>
          </a:bodyPr>
          <a:lstStyle/>
          <a:p>
            <a:pPr algn="ctr">
              <a:lnSpc>
                <a:spcPts val="9600"/>
              </a:lnSpc>
              <a:spcBef>
                <a:spcPct val="0"/>
              </a:spcBef>
            </a:pPr>
            <a:r>
              <a:rPr lang="en-US" sz="6000" dirty="0">
                <a:solidFill>
                  <a:srgbClr val="4C758D"/>
                </a:solidFill>
                <a:latin typeface="Times New Roman" panose="02020603050405020304" pitchFamily="18" charset="0"/>
                <a:cs typeface="Times New Roman" panose="02020603050405020304" pitchFamily="18" charset="0"/>
              </a:rPr>
              <a:t>INTRODUCTION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1600200" y="1714500"/>
            <a:ext cx="9677400" cy="7376450"/>
            <a:chOff x="0" y="815557"/>
            <a:chExt cx="11979360" cy="7135353"/>
          </a:xfrm>
        </p:grpSpPr>
        <p:sp>
          <p:nvSpPr>
            <p:cNvPr id="4" name="TextBox 4"/>
            <p:cNvSpPr txBox="1"/>
            <p:nvPr/>
          </p:nvSpPr>
          <p:spPr>
            <a:xfrm>
              <a:off x="0" y="815557"/>
              <a:ext cx="11979360" cy="521005"/>
            </a:xfrm>
            <a:prstGeom prst="rect">
              <a:avLst/>
            </a:prstGeom>
          </p:spPr>
          <p:txBody>
            <a:bodyPr lIns="0" tIns="0" rIns="0" bIns="0" rtlCol="0" anchor="t">
              <a:spAutoFit/>
            </a:bodyPr>
            <a:lstStyle/>
            <a:p>
              <a:pPr>
                <a:lnSpc>
                  <a:spcPts val="4200"/>
                </a:lnSpc>
              </a:pPr>
              <a:r>
                <a:rPr lang="en-US" sz="4000" dirty="0">
                  <a:solidFill>
                    <a:srgbClr val="000000"/>
                  </a:solidFill>
                  <a:latin typeface="Times New Roman" panose="02020603050405020304" pitchFamily="18" charset="0"/>
                  <a:cs typeface="Times New Roman" panose="02020603050405020304" pitchFamily="18" charset="0"/>
                </a:rPr>
                <a:t>Objectives of Fire Fighting Robot</a:t>
              </a:r>
            </a:p>
          </p:txBody>
        </p:sp>
        <p:sp>
          <p:nvSpPr>
            <p:cNvPr id="5" name="TextBox 5"/>
            <p:cNvSpPr txBox="1"/>
            <p:nvPr/>
          </p:nvSpPr>
          <p:spPr>
            <a:xfrm>
              <a:off x="0" y="1773779"/>
              <a:ext cx="11319080" cy="6177131"/>
            </a:xfrm>
            <a:prstGeom prst="rect">
              <a:avLst/>
            </a:prstGeom>
          </p:spPr>
          <p:txBody>
            <a:bodyPr wrap="square" lIns="0" tIns="0" rIns="0" bIns="0" rtlCol="0" anchor="t">
              <a:spAutoFit/>
            </a:bodyPr>
            <a:lstStyle/>
            <a:p>
              <a:pPr marL="561341" lvl="1" indent="-280670" algn="just">
                <a:lnSpc>
                  <a:spcPct val="150000"/>
                </a:lnSpc>
                <a:buFont typeface="Arial"/>
                <a:buChar char="•"/>
              </a:pPr>
              <a:r>
                <a:rPr lang="en-IN" sz="2800" dirty="0">
                  <a:latin typeface="Times New Roman" panose="02020603050405020304" pitchFamily="18" charset="0"/>
                  <a:cs typeface="Times New Roman" panose="02020603050405020304" pitchFamily="18" charset="0"/>
                </a:rPr>
                <a:t>Develop an autonomous fire-fighting robot for indoor environments. </a:t>
              </a:r>
            </a:p>
            <a:p>
              <a:pPr marL="561341" lvl="1" indent="-280670" algn="just">
                <a:lnSpc>
                  <a:spcPct val="150000"/>
                </a:lnSpc>
                <a:buFont typeface="Arial"/>
                <a:buChar char="•"/>
              </a:pPr>
              <a:r>
                <a:rPr lang="en-IN" sz="2800" dirty="0">
                  <a:latin typeface="Times New Roman" panose="02020603050405020304" pitchFamily="18" charset="0"/>
                  <a:cs typeface="Times New Roman" panose="02020603050405020304" pitchFamily="18" charset="0"/>
                </a:rPr>
                <a:t> Implement a fire suppression mechanism for efficient extinguishing. </a:t>
              </a:r>
            </a:p>
            <a:p>
              <a:pPr marL="561341" lvl="1" indent="-280670" algn="just">
                <a:lnSpc>
                  <a:spcPct val="150000"/>
                </a:lnSpc>
                <a:buFont typeface="Arial"/>
                <a:buChar char="•"/>
              </a:pPr>
              <a:r>
                <a:rPr lang="en-IN" sz="2800" dirty="0">
                  <a:latin typeface="Times New Roman" panose="02020603050405020304" pitchFamily="18" charset="0"/>
                  <a:cs typeface="Times New Roman" panose="02020603050405020304" pitchFamily="18" charset="0"/>
                </a:rPr>
                <a:t>Integrate a GSM module for real-time SMS alerts.</a:t>
              </a:r>
            </a:p>
            <a:p>
              <a:pPr marL="561341" lvl="1" indent="-280670" algn="just">
                <a:lnSpc>
                  <a:spcPct val="150000"/>
                </a:lnSpc>
                <a:buFont typeface="Arial"/>
                <a:buChar char="•"/>
              </a:pPr>
              <a:r>
                <a:rPr lang="en-IN" sz="2800" dirty="0">
                  <a:latin typeface="Times New Roman" panose="02020603050405020304" pitchFamily="18" charset="0"/>
                  <a:cs typeface="Times New Roman" panose="02020603050405020304" pitchFamily="18" charset="0"/>
                </a:rPr>
                <a:t>Enhance fire safety and response efficiency through automation.</a:t>
              </a:r>
            </a:p>
            <a:p>
              <a:pPr marL="561341" lvl="1" indent="-280670" algn="just">
                <a:lnSpc>
                  <a:spcPct val="150000"/>
                </a:lnSpc>
                <a:buFont typeface="Arial"/>
                <a:buChar char="•"/>
              </a:pPr>
              <a:r>
                <a:rPr lang="en-IN" sz="2800" dirty="0">
                  <a:latin typeface="Times New Roman" panose="02020603050405020304" pitchFamily="18" charset="0"/>
                  <a:cs typeface="Times New Roman" panose="02020603050405020304" pitchFamily="18" charset="0"/>
                </a:rPr>
                <a:t> Utilize Arduino Uno for control and programming flexibility. </a:t>
              </a:r>
            </a:p>
            <a:p>
              <a:pPr marL="561341" lvl="1" indent="-280670" algn="just">
                <a:lnSpc>
                  <a:spcPct val="150000"/>
                </a:lnSpc>
                <a:buFont typeface="Arial"/>
                <a:buChar char="•"/>
              </a:pPr>
              <a:r>
                <a:rPr lang="en-IN" sz="2800" dirty="0">
                  <a:latin typeface="Times New Roman" panose="02020603050405020304" pitchFamily="18" charset="0"/>
                  <a:cs typeface="Times New Roman" panose="02020603050405020304" pitchFamily="18" charset="0"/>
                </a:rPr>
                <a:t> Allow customization and future expansion.</a:t>
              </a:r>
              <a:endParaRPr lang="en-US" sz="2800" dirty="0">
                <a:solidFill>
                  <a:srgbClr val="000000"/>
                </a:solidFill>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0"/>
            <a:ext cx="7882111" cy="10287000"/>
          </a:xfrm>
          <a:prstGeom prst="rect">
            <a:avLst/>
          </a:prstGeom>
          <a:solidFill>
            <a:srgbClr val="84A1B2"/>
          </a:solidFill>
        </p:spPr>
      </p:sp>
      <p:sp>
        <p:nvSpPr>
          <p:cNvPr id="7" name="TextBox 7"/>
          <p:cNvSpPr txBox="1"/>
          <p:nvPr/>
        </p:nvSpPr>
        <p:spPr>
          <a:xfrm>
            <a:off x="838200" y="1638300"/>
            <a:ext cx="6387160" cy="1909690"/>
          </a:xfrm>
          <a:prstGeom prst="rect">
            <a:avLst/>
          </a:prstGeom>
        </p:spPr>
        <p:txBody>
          <a:bodyPr wrap="square" lIns="0" tIns="0" rIns="0" bIns="0" rtlCol="0" anchor="t">
            <a:spAutoFit/>
          </a:bodyPr>
          <a:lstStyle/>
          <a:p>
            <a:pPr algn="ctr">
              <a:lnSpc>
                <a:spcPct val="150000"/>
              </a:lnSpc>
            </a:pPr>
            <a:r>
              <a:rPr lang="en-US" sz="4400" dirty="0">
                <a:solidFill>
                  <a:srgbClr val="000000"/>
                </a:solidFill>
                <a:latin typeface="Times New Roman" panose="02020603050405020304" pitchFamily="18" charset="0"/>
                <a:cs typeface="Times New Roman" panose="02020603050405020304" pitchFamily="18" charset="0"/>
              </a:rPr>
              <a:t>EXISTING SYSTEM OF FIRE FIGHTING ROBOT</a:t>
            </a:r>
          </a:p>
        </p:txBody>
      </p:sp>
      <p:sp>
        <p:nvSpPr>
          <p:cNvPr id="20" name="TextBox 19">
            <a:extLst>
              <a:ext uri="{FF2B5EF4-FFF2-40B4-BE49-F238E27FC236}">
                <a16:creationId xmlns:a16="http://schemas.microsoft.com/office/drawing/2014/main" id="{36030A9A-D7A0-971C-80B3-D3B461471E7D}"/>
              </a:ext>
            </a:extLst>
          </p:cNvPr>
          <p:cNvSpPr txBox="1"/>
          <p:nvPr/>
        </p:nvSpPr>
        <p:spPr>
          <a:xfrm>
            <a:off x="8532792" y="2019300"/>
            <a:ext cx="9144000" cy="6119945"/>
          </a:xfrm>
          <a:prstGeom prst="rect">
            <a:avLst/>
          </a:prstGeom>
          <a:noFill/>
        </p:spPr>
        <p:txBody>
          <a:bodyPr wrap="square">
            <a:spAutoFit/>
          </a:bodyPr>
          <a:lstStyle/>
          <a:p>
            <a:pPr marL="342900" indent="-342900" algn="l">
              <a:lnSpc>
                <a:spcPct val="150000"/>
              </a:lnSpc>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The common conventional firefighting methods involve fire brigades, portable fire extinguisher (hand held) and sprinklers. </a:t>
            </a:r>
          </a:p>
          <a:p>
            <a:pPr marL="342900" indent="-342900" algn="l">
              <a:lnSpc>
                <a:spcPct val="150000"/>
              </a:lnSpc>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These conventional methods consume lot of time to reach the place of the mishap like the fire brigade must be deployed from the fire station and should get through the traffic and reach the fire struck area, the portable extinguisher is also no gift because it is generally place at one off the corners of the building which may be difficult to reach and it needs constant maintenance. </a:t>
            </a:r>
          </a:p>
          <a:p>
            <a:pPr marL="342900" indent="-342900" algn="l">
              <a:lnSpc>
                <a:spcPct val="150000"/>
              </a:lnSpc>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On the other hand the sprinkler and smoke detector set up is very non reliable method because the sprinkler pipes has any defect may not provide enough pressure and it is not suited to cover large areas.</a:t>
            </a:r>
          </a:p>
        </p:txBody>
      </p:sp>
      <p:pic>
        <p:nvPicPr>
          <p:cNvPr id="8194" name="Picture 2" descr="Fire Extinguisher Funny Vector Images (over 470)"/>
          <p:cNvPicPr>
            <a:picLocks noChangeAspect="1" noChangeArrowheads="1"/>
          </p:cNvPicPr>
          <p:nvPr/>
        </p:nvPicPr>
        <p:blipFill>
          <a:blip r:embed="rId2" cstate="print"/>
          <a:srcRect/>
          <a:stretch>
            <a:fillRect/>
          </a:stretch>
        </p:blipFill>
        <p:spPr bwMode="auto">
          <a:xfrm>
            <a:off x="1066800" y="4914900"/>
            <a:ext cx="5870448" cy="2743200"/>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4343400" y="800100"/>
            <a:ext cx="9525000" cy="882486"/>
          </a:xfrm>
          <a:prstGeom prst="rect">
            <a:avLst/>
          </a:prstGeom>
        </p:spPr>
        <p:txBody>
          <a:bodyPr wrap="square" lIns="0" tIns="0" rIns="0" bIns="0" rtlCol="0" anchor="t">
            <a:spAutoFit/>
          </a:bodyPr>
          <a:lstStyle/>
          <a:p>
            <a:pPr algn="ctr">
              <a:lnSpc>
                <a:spcPts val="7276"/>
              </a:lnSpc>
            </a:pPr>
            <a:r>
              <a:rPr lang="en-US" sz="6000" dirty="0">
                <a:solidFill>
                  <a:srgbClr val="4C758D"/>
                </a:solidFill>
                <a:latin typeface="Times New Roman" panose="02020603050405020304" pitchFamily="18" charset="0"/>
                <a:cs typeface="Times New Roman" panose="02020603050405020304" pitchFamily="18" charset="0"/>
              </a:rPr>
              <a:t>LIMITATIONS AND GAPS</a:t>
            </a:r>
          </a:p>
        </p:txBody>
      </p:sp>
      <p:sp>
        <p:nvSpPr>
          <p:cNvPr id="4" name="TextBox 4"/>
          <p:cNvSpPr txBox="1"/>
          <p:nvPr/>
        </p:nvSpPr>
        <p:spPr>
          <a:xfrm>
            <a:off x="2838450" y="2171700"/>
            <a:ext cx="12534900" cy="6581610"/>
          </a:xfrm>
          <a:prstGeom prst="rect">
            <a:avLst/>
          </a:prstGeom>
        </p:spPr>
        <p:txBody>
          <a:bodyPr wrap="square" lIns="0" tIns="0" rIns="0" bIns="0" rtlCol="0" anchor="t">
            <a:spAutoFit/>
          </a:bodyPr>
          <a:lstStyle/>
          <a:p>
            <a:pPr marL="342900" indent="-342900" algn="just">
              <a:lnSpc>
                <a:spcPct val="150000"/>
              </a:lnSpc>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The problem with existing system is that exposure to the hazardous and chaotic fire environment, rather than to the fire itself, is the most significant cause of injury and death in fires.</a:t>
            </a:r>
          </a:p>
          <a:p>
            <a:pPr marL="342900" indent="-342900" algn="just">
              <a:lnSpc>
                <a:spcPct val="150000"/>
              </a:lnSpc>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The reachability of precise information in real-time on the conditions directly at the center of the fire ground is a crucial factor in the guidance of rescue actions together with feasible counter-plans. </a:t>
            </a:r>
          </a:p>
          <a:p>
            <a:pPr marL="342900" indent="-342900" algn="just">
              <a:lnSpc>
                <a:spcPct val="150000"/>
              </a:lnSpc>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Unfortunately the firefighting environments are normally hard to reach and restricted inaccessibility by obstacles, tumbledown architectures and visibility by smoke, dangerous gases or dust.</a:t>
            </a:r>
          </a:p>
          <a:p>
            <a:pPr marL="342900" indent="-342900" algn="just">
              <a:lnSpc>
                <a:spcPct val="150000"/>
              </a:lnSpc>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Therefore, the fire scene is an information-poor environment due to lack of information on location of fire, firefighters and victims, and the search and rescue opportunities are previously unimaginable due to lack of situational conditions and real-time information for targeted decision making to this the accidents occurs.</a:t>
            </a:r>
          </a:p>
          <a:p>
            <a:pPr marL="342900" indent="-342900" algn="just">
              <a:lnSpc>
                <a:spcPct val="150000"/>
              </a:lnSpc>
              <a:buFont typeface="Arial" panose="020B0604020202020204" pitchFamily="34" charset="0"/>
              <a:buChar char="•"/>
            </a:pPr>
            <a:r>
              <a:rPr lang="en-US" sz="2400" b="0" i="0" dirty="0">
                <a:solidFill>
                  <a:srgbClr val="000000"/>
                </a:solidFill>
                <a:effectLst/>
                <a:latin typeface="Times New Roman" panose="02020603050405020304" pitchFamily="18" charset="0"/>
                <a:cs typeface="Times New Roman" panose="02020603050405020304" pitchFamily="18" charset="0"/>
              </a:rPr>
              <a:t>Additionally, the current methods applied in firefighting are inadequate and inefficient relying heavily on humans who are prone to error, no matter how extensively they have been trained.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AutoShape 2">
            <a:extLst>
              <a:ext uri="{FF2B5EF4-FFF2-40B4-BE49-F238E27FC236}">
                <a16:creationId xmlns:a16="http://schemas.microsoft.com/office/drawing/2014/main" id="{AE48D5E2-3BB7-328A-6528-1269799CDADD}"/>
              </a:ext>
            </a:extLst>
          </p:cNvPr>
          <p:cNvSpPr/>
          <p:nvPr/>
        </p:nvSpPr>
        <p:spPr>
          <a:xfrm>
            <a:off x="0" y="0"/>
            <a:ext cx="7882111" cy="10287000"/>
          </a:xfrm>
          <a:prstGeom prst="rect">
            <a:avLst/>
          </a:prstGeom>
          <a:solidFill>
            <a:srgbClr val="84A1B2"/>
          </a:solidFill>
        </p:spPr>
        <p:txBody>
          <a:bodyPr/>
          <a:lstStyle/>
          <a:p>
            <a:endParaRPr lang="en-IN" dirty="0"/>
          </a:p>
        </p:txBody>
      </p:sp>
      <p:sp>
        <p:nvSpPr>
          <p:cNvPr id="4" name="TextBox 4"/>
          <p:cNvSpPr txBox="1"/>
          <p:nvPr/>
        </p:nvSpPr>
        <p:spPr>
          <a:xfrm>
            <a:off x="8303350" y="355146"/>
            <a:ext cx="9714103" cy="1103700"/>
          </a:xfrm>
          <a:prstGeom prst="rect">
            <a:avLst/>
          </a:prstGeom>
        </p:spPr>
        <p:txBody>
          <a:bodyPr wrap="square" lIns="0" tIns="0" rIns="0" bIns="0" rtlCol="0" anchor="t">
            <a:spAutoFit/>
          </a:bodyPr>
          <a:lstStyle/>
          <a:p>
            <a:pPr algn="ctr">
              <a:lnSpc>
                <a:spcPts val="9600"/>
              </a:lnSpc>
            </a:pPr>
            <a:r>
              <a:rPr lang="en-US" sz="6000" dirty="0">
                <a:solidFill>
                  <a:srgbClr val="4C758D"/>
                </a:solidFill>
                <a:latin typeface="Times New Roman" panose="02020603050405020304" pitchFamily="18" charset="0"/>
                <a:cs typeface="Times New Roman" panose="02020603050405020304" pitchFamily="18" charset="0"/>
              </a:rPr>
              <a:t>PROPOSED SYSTEM</a:t>
            </a:r>
          </a:p>
        </p:txBody>
      </p:sp>
      <p:grpSp>
        <p:nvGrpSpPr>
          <p:cNvPr id="5" name="Group 2">
            <a:extLst>
              <a:ext uri="{FF2B5EF4-FFF2-40B4-BE49-F238E27FC236}">
                <a16:creationId xmlns:a16="http://schemas.microsoft.com/office/drawing/2014/main" id="{9B587608-4D43-A981-6AEB-65B8698D40DB}"/>
              </a:ext>
            </a:extLst>
          </p:cNvPr>
          <p:cNvGrpSpPr/>
          <p:nvPr/>
        </p:nvGrpSpPr>
        <p:grpSpPr>
          <a:xfrm>
            <a:off x="762000" y="1535046"/>
            <a:ext cx="6718749" cy="6570576"/>
            <a:chOff x="0" y="260698"/>
            <a:chExt cx="8958333" cy="8673254"/>
          </a:xfrm>
        </p:grpSpPr>
        <p:sp>
          <p:nvSpPr>
            <p:cNvPr id="6" name="TextBox 3">
              <a:extLst>
                <a:ext uri="{FF2B5EF4-FFF2-40B4-BE49-F238E27FC236}">
                  <a16:creationId xmlns:a16="http://schemas.microsoft.com/office/drawing/2014/main" id="{BE91F1E6-6680-16F6-D83D-07254033ED17}"/>
                </a:ext>
              </a:extLst>
            </p:cNvPr>
            <p:cNvSpPr txBox="1"/>
            <p:nvPr/>
          </p:nvSpPr>
          <p:spPr>
            <a:xfrm>
              <a:off x="160284" y="260698"/>
              <a:ext cx="8798049" cy="1445952"/>
            </a:xfrm>
            <a:prstGeom prst="rect">
              <a:avLst/>
            </a:prstGeom>
          </p:spPr>
          <p:txBody>
            <a:bodyPr lIns="0" tIns="0" rIns="0" bIns="0" rtlCol="0" anchor="t">
              <a:spAutoFit/>
            </a:bodyPr>
            <a:lstStyle/>
            <a:p>
              <a:pPr>
                <a:lnSpc>
                  <a:spcPts val="9947"/>
                </a:lnSpc>
              </a:pPr>
              <a:r>
                <a:rPr lang="en-US" sz="4400" dirty="0">
                  <a:latin typeface="Times New Roman" panose="02020603050405020304" pitchFamily="18" charset="0"/>
                  <a:cs typeface="Times New Roman" panose="02020603050405020304" pitchFamily="18" charset="0"/>
                </a:rPr>
                <a:t>Components Required</a:t>
              </a:r>
            </a:p>
          </p:txBody>
        </p:sp>
        <p:sp>
          <p:nvSpPr>
            <p:cNvPr id="7" name="TextBox 4">
              <a:extLst>
                <a:ext uri="{FF2B5EF4-FFF2-40B4-BE49-F238E27FC236}">
                  <a16:creationId xmlns:a16="http://schemas.microsoft.com/office/drawing/2014/main" id="{4D8FED7B-599E-A7D9-FD22-B7956B08D1EB}"/>
                </a:ext>
              </a:extLst>
            </p:cNvPr>
            <p:cNvSpPr txBox="1"/>
            <p:nvPr/>
          </p:nvSpPr>
          <p:spPr>
            <a:xfrm>
              <a:off x="0" y="2210870"/>
              <a:ext cx="8798049" cy="6723082"/>
            </a:xfrm>
            <a:prstGeom prst="rect">
              <a:avLst/>
            </a:prstGeom>
          </p:spPr>
          <p:txBody>
            <a:bodyPr lIns="0" tIns="0" rIns="0" bIns="0" rtlCol="0" anchor="t">
              <a:spAutoFit/>
            </a:bodyPr>
            <a:lstStyle/>
            <a:p>
              <a:pPr marL="457200" indent="-457200" algn="l">
                <a:lnSpc>
                  <a:spcPct val="150000"/>
                </a:lnSpc>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Arduino </a:t>
              </a:r>
              <a:r>
                <a:rPr lang="en-US" sz="2800" dirty="0">
                  <a:latin typeface="Times New Roman" panose="02020603050405020304" pitchFamily="18" charset="0"/>
                  <a:cs typeface="Times New Roman" panose="02020603050405020304" pitchFamily="18" charset="0"/>
                </a:rPr>
                <a:t>MEGA</a:t>
              </a:r>
              <a:endParaRPr lang="en-US" sz="2800" b="0" i="0" dirty="0">
                <a:effectLst/>
                <a:latin typeface="Times New Roman" panose="02020603050405020304" pitchFamily="18" charset="0"/>
                <a:cs typeface="Times New Roman" panose="02020603050405020304" pitchFamily="18" charset="0"/>
              </a:endParaRPr>
            </a:p>
            <a:p>
              <a:pPr marL="457200" indent="-457200" algn="l">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Fire Sensors</a:t>
              </a:r>
            </a:p>
            <a:p>
              <a:pPr marL="457200" indent="-457200" algn="l">
                <a:lnSpc>
                  <a:spcPct val="150000"/>
                </a:lnSpc>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Motor Drivers</a:t>
              </a:r>
            </a:p>
            <a:p>
              <a:pPr marL="457200" indent="-457200" algn="l">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Motors and Wheels</a:t>
              </a:r>
            </a:p>
            <a:p>
              <a:pPr marL="457200" indent="-457200" algn="l">
                <a:lnSpc>
                  <a:spcPct val="150000"/>
                </a:lnSpc>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Water Sprinklers</a:t>
              </a:r>
              <a:r>
                <a:rPr lang="en-US" sz="2800" dirty="0">
                  <a:latin typeface="Times New Roman" panose="02020603050405020304" pitchFamily="18" charset="0"/>
                  <a:cs typeface="Times New Roman" panose="02020603050405020304" pitchFamily="18" charset="0"/>
                </a:rPr>
                <a:t> or Extinguishing Mechanism</a:t>
              </a:r>
            </a:p>
            <a:p>
              <a:pPr marL="457200" indent="-457200" algn="l">
                <a:lnSpc>
                  <a:spcPct val="150000"/>
                </a:lnSpc>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GSM Module</a:t>
              </a:r>
            </a:p>
            <a:p>
              <a:pPr marL="457200" indent="-457200" algn="l">
                <a:lnSpc>
                  <a:spcPct val="15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Power Supply</a:t>
              </a:r>
              <a:endParaRPr lang="en-US" sz="2800" b="0" i="0" dirty="0">
                <a:effectLst/>
                <a:latin typeface="Times New Roman" panose="02020603050405020304" pitchFamily="18" charset="0"/>
                <a:cs typeface="Times New Roman" panose="02020603050405020304" pitchFamily="18" charset="0"/>
              </a:endParaRPr>
            </a:p>
          </p:txBody>
        </p:sp>
      </p:grpSp>
      <p:sp>
        <p:nvSpPr>
          <p:cNvPr id="9" name="TextBox 8">
            <a:extLst>
              <a:ext uri="{FF2B5EF4-FFF2-40B4-BE49-F238E27FC236}">
                <a16:creationId xmlns:a16="http://schemas.microsoft.com/office/drawing/2014/main" id="{107350B8-4F58-7BCA-FB3D-3AFB8938CE3F}"/>
              </a:ext>
            </a:extLst>
          </p:cNvPr>
          <p:cNvSpPr txBox="1"/>
          <p:nvPr/>
        </p:nvSpPr>
        <p:spPr>
          <a:xfrm>
            <a:off x="8779564" y="1904437"/>
            <a:ext cx="8761676" cy="7263014"/>
          </a:xfrm>
          <a:prstGeom prst="rect">
            <a:avLst/>
          </a:prstGeom>
          <a:noFill/>
        </p:spPr>
        <p:txBody>
          <a:bodyPr wrap="square" rtlCol="0">
            <a:spAutoFit/>
          </a:bodyPr>
          <a:lstStyle/>
          <a:p>
            <a:pPr marL="457200" indent="-457200" algn="l">
              <a:lnSpc>
                <a:spcPct val="150000"/>
              </a:lnSpc>
              <a:buFont typeface="Arial" panose="020B0604020202020204" pitchFamily="34" charset="0"/>
              <a:buChar char="•"/>
            </a:pPr>
            <a:r>
              <a:rPr lang="en-US" sz="2600" b="0" i="0" dirty="0">
                <a:effectLst/>
                <a:latin typeface="Times New Roman" panose="02020603050405020304" pitchFamily="18" charset="0"/>
                <a:cs typeface="Times New Roman" panose="02020603050405020304" pitchFamily="18" charset="0"/>
              </a:rPr>
              <a:t>The proposed model is able to detect presence of fire using flame sensor and calculates object distance using ultrasonic sensor and moves the robot to fire  accident location.</a:t>
            </a:r>
          </a:p>
          <a:p>
            <a:pPr marL="457200" indent="-457200" algn="l">
              <a:lnSpc>
                <a:spcPct val="150000"/>
              </a:lnSpc>
              <a:buFont typeface="Arial" panose="020B0604020202020204" pitchFamily="34" charset="0"/>
              <a:buChar char="•"/>
            </a:pPr>
            <a:r>
              <a:rPr lang="en-US" sz="2600" b="0" i="0" dirty="0">
                <a:effectLst/>
                <a:latin typeface="Times New Roman" panose="02020603050405020304" pitchFamily="18" charset="0"/>
                <a:cs typeface="Times New Roman" panose="02020603050405020304" pitchFamily="18" charset="0"/>
              </a:rPr>
              <a:t> It contains gear motors and motor driver to control the movement  of robot.</a:t>
            </a:r>
          </a:p>
          <a:p>
            <a:pPr marL="457200" indent="-457200" algn="l">
              <a:lnSpc>
                <a:spcPct val="150000"/>
              </a:lnSpc>
              <a:buFont typeface="Arial" panose="020B0604020202020204" pitchFamily="34" charset="0"/>
              <a:buChar char="•"/>
            </a:pPr>
            <a:r>
              <a:rPr lang="en-US" sz="2600" b="0" i="0" dirty="0">
                <a:effectLst/>
                <a:latin typeface="Times New Roman" panose="02020603050405020304" pitchFamily="18" charset="0"/>
                <a:cs typeface="Times New Roman" panose="02020603050405020304" pitchFamily="18" charset="0"/>
              </a:rPr>
              <a:t> When it detects fire it communicates with microcontroller (Arduino  MEGA) and the robot will move towards the fire affected area. </a:t>
            </a:r>
          </a:p>
          <a:p>
            <a:pPr marL="457200" indent="-457200" algn="l">
              <a:lnSpc>
                <a:spcPct val="150000"/>
              </a:lnSpc>
              <a:buFont typeface="Arial" panose="020B0604020202020204" pitchFamily="34" charset="0"/>
              <a:buChar char="•"/>
            </a:pPr>
            <a:r>
              <a:rPr lang="en-US" sz="2600" b="0" i="0" dirty="0">
                <a:effectLst/>
                <a:latin typeface="Times New Roman" panose="02020603050405020304" pitchFamily="18" charset="0"/>
                <a:cs typeface="Times New Roman" panose="02020603050405020304" pitchFamily="18" charset="0"/>
              </a:rPr>
              <a:t>The fire extinguisher  is mounted on the robotic vehicle which is then controlled over the wireless  communication so that it extinguishes the fire automatically.</a:t>
            </a:r>
          </a:p>
          <a:p>
            <a:pPr>
              <a:lnSpc>
                <a:spcPct val="150000"/>
              </a:lnSpc>
            </a:pPr>
            <a:endParaRPr 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a:extLst>
              <a:ext uri="{FF2B5EF4-FFF2-40B4-BE49-F238E27FC236}">
                <a16:creationId xmlns:a16="http://schemas.microsoft.com/office/drawing/2014/main" id="{54A78011-EE4F-E345-137C-742C23AB78EB}"/>
              </a:ext>
            </a:extLst>
          </p:cNvPr>
          <p:cNvGrpSpPr/>
          <p:nvPr/>
        </p:nvGrpSpPr>
        <p:grpSpPr>
          <a:xfrm>
            <a:off x="1600200" y="1714500"/>
            <a:ext cx="9677400" cy="6729543"/>
            <a:chOff x="0" y="815557"/>
            <a:chExt cx="11979360" cy="6509590"/>
          </a:xfrm>
        </p:grpSpPr>
        <p:sp>
          <p:nvSpPr>
            <p:cNvPr id="3" name="TextBox 4">
              <a:extLst>
                <a:ext uri="{FF2B5EF4-FFF2-40B4-BE49-F238E27FC236}">
                  <a16:creationId xmlns:a16="http://schemas.microsoft.com/office/drawing/2014/main" id="{2876D115-09FD-9079-C86F-2D6FB1BF2C14}"/>
                </a:ext>
              </a:extLst>
            </p:cNvPr>
            <p:cNvSpPr txBox="1"/>
            <p:nvPr/>
          </p:nvSpPr>
          <p:spPr>
            <a:xfrm>
              <a:off x="0" y="815557"/>
              <a:ext cx="11979360" cy="521005"/>
            </a:xfrm>
            <a:prstGeom prst="rect">
              <a:avLst/>
            </a:prstGeom>
          </p:spPr>
          <p:txBody>
            <a:bodyPr lIns="0" tIns="0" rIns="0" bIns="0" rtlCol="0" anchor="t">
              <a:spAutoFit/>
            </a:bodyPr>
            <a:lstStyle/>
            <a:p>
              <a:pPr>
                <a:lnSpc>
                  <a:spcPts val="4200"/>
                </a:lnSpc>
              </a:pPr>
              <a:r>
                <a:rPr lang="en-US" sz="4000" dirty="0">
                  <a:solidFill>
                    <a:srgbClr val="4C758D"/>
                  </a:solidFill>
                  <a:latin typeface="Times New Roman" panose="02020603050405020304" pitchFamily="18" charset="0"/>
                  <a:cs typeface="Times New Roman" panose="02020603050405020304" pitchFamily="18" charset="0"/>
                </a:rPr>
                <a:t>Advantages of Fire Fighting Robot</a:t>
              </a:r>
            </a:p>
          </p:txBody>
        </p:sp>
        <p:sp>
          <p:nvSpPr>
            <p:cNvPr id="4" name="TextBox 5">
              <a:extLst>
                <a:ext uri="{FF2B5EF4-FFF2-40B4-BE49-F238E27FC236}">
                  <a16:creationId xmlns:a16="http://schemas.microsoft.com/office/drawing/2014/main" id="{3D339CC2-AAAF-40B3-DDD3-1C7B81093377}"/>
                </a:ext>
              </a:extLst>
            </p:cNvPr>
            <p:cNvSpPr txBox="1"/>
            <p:nvPr/>
          </p:nvSpPr>
          <p:spPr>
            <a:xfrm>
              <a:off x="0" y="1773779"/>
              <a:ext cx="11319080" cy="5551368"/>
            </a:xfrm>
            <a:prstGeom prst="rect">
              <a:avLst/>
            </a:prstGeom>
          </p:spPr>
          <p:txBody>
            <a:bodyPr wrap="square" lIns="0" tIns="0" rIns="0" bIns="0" rtlCol="0" anchor="t">
              <a:spAutoFit/>
            </a:bodyPr>
            <a:lstStyle/>
            <a:p>
              <a:pPr marL="457200" indent="-457200" algn="l">
                <a:lnSpc>
                  <a:spcPct val="150000"/>
                </a:lnSpc>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The robot will be used at places where it is dangerous for humans to enter. </a:t>
              </a:r>
            </a:p>
            <a:p>
              <a:pPr marL="457200" indent="-457200" algn="l">
                <a:lnSpc>
                  <a:spcPct val="150000"/>
                </a:lnSpc>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Capability of sensing accurately with increased flexibility. </a:t>
              </a:r>
            </a:p>
            <a:p>
              <a:pPr marL="457200" indent="-457200" algn="l">
                <a:lnSpc>
                  <a:spcPct val="150000"/>
                </a:lnSpc>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Reduce human effort. </a:t>
              </a:r>
            </a:p>
            <a:p>
              <a:pPr marL="457200" indent="-457200" algn="l">
                <a:lnSpc>
                  <a:spcPct val="150000"/>
                </a:lnSpc>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Reliable and economical. </a:t>
              </a:r>
            </a:p>
            <a:p>
              <a:pPr marL="457200" indent="-457200" algn="l">
                <a:lnSpc>
                  <a:spcPct val="150000"/>
                </a:lnSpc>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It reduces the time delay in reaching fire affected area. </a:t>
              </a:r>
            </a:p>
            <a:p>
              <a:pPr marL="457200" indent="-457200" algn="l">
                <a:lnSpc>
                  <a:spcPct val="150000"/>
                </a:lnSpc>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It reduce the errors and the limitations that are faced by human fire fighters. </a:t>
              </a:r>
            </a:p>
            <a:p>
              <a:pPr marL="457200" indent="-457200" algn="l">
                <a:lnSpc>
                  <a:spcPct val="150000"/>
                </a:lnSpc>
                <a:buFont typeface="Arial" panose="020B0604020202020204" pitchFamily="34" charset="0"/>
                <a:buChar char="•"/>
              </a:pPr>
              <a:r>
                <a:rPr lang="en-US" sz="2800" b="0" i="0" dirty="0">
                  <a:effectLst/>
                  <a:latin typeface="Times New Roman" panose="02020603050405020304" pitchFamily="18" charset="0"/>
                  <a:cs typeface="Times New Roman" panose="02020603050405020304" pitchFamily="18" charset="0"/>
                </a:rPr>
                <a:t>Sensors have long life time and less cost.</a:t>
              </a:r>
            </a:p>
          </p:txBody>
        </p:sp>
      </p:grpSp>
    </p:spTree>
    <p:extLst>
      <p:ext uri="{BB962C8B-B14F-4D97-AF65-F5344CB8AC3E}">
        <p14:creationId xmlns:p14="http://schemas.microsoft.com/office/powerpoint/2010/main" val="41118698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AutoShape 2" descr="blob:https://web.whatsapp.com/749dbdea-f75d-4cef-a9d5-dc872363624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5604" name="AutoShape 4" descr="blob:https://web.whatsapp.com/749dbdea-f75d-4cef-a9d5-dc872363624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5606" name="AutoShape 6" descr="blob:https://web.whatsapp.com/749dbdea-f75d-4cef-a9d5-dc872363624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5608" name="AutoShape 8" descr="blob:https://web.whatsapp.com/749dbdea-f75d-4cef-a9d5-dc872363624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5610" name="AutoShape 10" descr="blob:https://web.whatsapp.com/749dbdea-f75d-4cef-a9d5-dc872363624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5612" name="AutoShape 12" descr="blob:https://web.whatsapp.com/749dbdea-f75d-4cef-a9d5-dc872363624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5614" name="AutoShape 14" descr="blob:https://web.whatsapp.com/749dbdea-f75d-4cef-a9d5-dc872363624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5616" name="AutoShape 16" descr="blob:https://web.whatsapp.com/749dbdea-f75d-4cef-a9d5-dc872363624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6" name="Picture 2" descr="Hardware arrangement of the fire extinguisher robot. | Download ...">
            <a:extLst>
              <a:ext uri="{FF2B5EF4-FFF2-40B4-BE49-F238E27FC236}">
                <a16:creationId xmlns:a16="http://schemas.microsoft.com/office/drawing/2014/main" id="{2BD20724-1E73-8072-54AC-D4A56BE3CD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9074" y="1544485"/>
            <a:ext cx="10589851" cy="71980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6096000" y="1028700"/>
            <a:ext cx="6096000" cy="709361"/>
          </a:xfrm>
          <a:prstGeom prst="rect">
            <a:avLst/>
          </a:prstGeom>
        </p:spPr>
        <p:txBody>
          <a:bodyPr wrap="square" lIns="0" tIns="0" rIns="0" bIns="0" rtlCol="0" anchor="t">
            <a:spAutoFit/>
          </a:bodyPr>
          <a:lstStyle/>
          <a:p>
            <a:pPr>
              <a:lnSpc>
                <a:spcPts val="5468"/>
              </a:lnSpc>
            </a:pPr>
            <a:r>
              <a:rPr lang="en-US" sz="6000" dirty="0">
                <a:solidFill>
                  <a:srgbClr val="000000"/>
                </a:solidFill>
                <a:latin typeface="Times New Roman" panose="02020603050405020304" pitchFamily="18" charset="0"/>
                <a:cs typeface="Times New Roman" panose="02020603050405020304" pitchFamily="18" charset="0"/>
              </a:rPr>
              <a:t>ARCHITECTURE</a:t>
            </a:r>
            <a:endParaRPr lang="en-US" sz="60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087FE9B-22EE-C4D8-FC6B-5F15D55696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0137" y="2133600"/>
            <a:ext cx="8467725" cy="60198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Algorithm for Fire Location and Extinguishing Operation | Download ...">
            <a:extLst>
              <a:ext uri="{FF2B5EF4-FFF2-40B4-BE49-F238E27FC236}">
                <a16:creationId xmlns:a16="http://schemas.microsoft.com/office/drawing/2014/main" id="{2D550026-5ABA-F4E7-7498-C52BC9F20A5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0" y="689010"/>
            <a:ext cx="5105400" cy="8977309"/>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9"/>
          <p:cNvSpPr txBox="1"/>
          <p:nvPr/>
        </p:nvSpPr>
        <p:spPr>
          <a:xfrm>
            <a:off x="2590800" y="114300"/>
            <a:ext cx="13711793" cy="1103700"/>
          </a:xfrm>
          <a:prstGeom prst="rect">
            <a:avLst/>
          </a:prstGeom>
        </p:spPr>
        <p:txBody>
          <a:bodyPr wrap="square" lIns="0" tIns="0" rIns="0" bIns="0" rtlCol="0" anchor="t">
            <a:spAutoFit/>
          </a:bodyPr>
          <a:lstStyle/>
          <a:p>
            <a:pPr algn="ctr">
              <a:lnSpc>
                <a:spcPts val="9600"/>
              </a:lnSpc>
              <a:spcBef>
                <a:spcPct val="0"/>
              </a:spcBef>
            </a:pPr>
            <a:r>
              <a:rPr lang="en-US" sz="6000" dirty="0">
                <a:solidFill>
                  <a:srgbClr val="4C758D"/>
                </a:solidFill>
                <a:latin typeface="Times New Roman" panose="02020603050405020304" pitchFamily="18" charset="0"/>
                <a:cs typeface="Times New Roman" panose="02020603050405020304" pitchFamily="18" charset="0"/>
              </a:rPr>
              <a:t>IMPLEMENTATION</a:t>
            </a:r>
          </a:p>
        </p:txBody>
      </p:sp>
      <p:sp>
        <p:nvSpPr>
          <p:cNvPr id="21" name="TextBox 20">
            <a:extLst>
              <a:ext uri="{FF2B5EF4-FFF2-40B4-BE49-F238E27FC236}">
                <a16:creationId xmlns:a16="http://schemas.microsoft.com/office/drawing/2014/main" id="{643342EE-DB97-DDF6-48CC-3DAD849196DA}"/>
              </a:ext>
            </a:extLst>
          </p:cNvPr>
          <p:cNvSpPr txBox="1"/>
          <p:nvPr/>
        </p:nvSpPr>
        <p:spPr>
          <a:xfrm>
            <a:off x="7315200" y="2933700"/>
            <a:ext cx="9144000" cy="4467057"/>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2400" dirty="0">
                <a:latin typeface="Times New Roman" pitchFamily="18" charset="0"/>
                <a:cs typeface="Times New Roman" pitchFamily="18" charset="0"/>
              </a:rPr>
              <a:t>The Robot continuously monitors variation of the surrounding area using flame sensors.</a:t>
            </a:r>
          </a:p>
          <a:p>
            <a:pPr marL="285750" indent="-285750">
              <a:lnSpc>
                <a:spcPct val="150000"/>
              </a:lnSpc>
              <a:buFont typeface="Arial" panose="020B0604020202020204" pitchFamily="34" charset="0"/>
              <a:buChar char="•"/>
            </a:pPr>
            <a:r>
              <a:rPr lang="en-US" sz="2400" dirty="0">
                <a:latin typeface="Times New Roman" pitchFamily="18" charset="0"/>
                <a:cs typeface="Times New Roman" pitchFamily="18" charset="0"/>
              </a:rPr>
              <a:t>Sensor ready to sense the fire signal.</a:t>
            </a:r>
          </a:p>
          <a:p>
            <a:pPr marL="285750" indent="-285750">
              <a:lnSpc>
                <a:spcPct val="150000"/>
              </a:lnSpc>
              <a:buFont typeface="Arial" panose="020B0604020202020204" pitchFamily="34" charset="0"/>
              <a:buChar char="•"/>
            </a:pPr>
            <a:r>
              <a:rPr lang="en-US" sz="2400" dirty="0">
                <a:latin typeface="Times New Roman" pitchFamily="18" charset="0"/>
                <a:cs typeface="Times New Roman" pitchFamily="18" charset="0"/>
              </a:rPr>
              <a:t>If fire is detected it will send signal to microcontroller to start water sprinkler.</a:t>
            </a:r>
          </a:p>
          <a:p>
            <a:pPr marL="285750" indent="-285750">
              <a:lnSpc>
                <a:spcPct val="150000"/>
              </a:lnSpc>
              <a:buFont typeface="Arial" panose="020B0604020202020204" pitchFamily="34" charset="0"/>
              <a:buChar char="•"/>
            </a:pPr>
            <a:r>
              <a:rPr lang="en-US" sz="2400" dirty="0">
                <a:latin typeface="Times New Roman" pitchFamily="18" charset="0"/>
                <a:cs typeface="Times New Roman" pitchFamily="18" charset="0"/>
              </a:rPr>
              <a:t>Robot will keep on moving until fire is detected.</a:t>
            </a:r>
          </a:p>
          <a:p>
            <a:pPr marL="285750" indent="-285750">
              <a:lnSpc>
                <a:spcPct val="150000"/>
              </a:lnSpc>
              <a:buFont typeface="Arial" panose="020B0604020202020204" pitchFamily="34" charset="0"/>
              <a:buChar char="•"/>
            </a:pPr>
            <a:r>
              <a:rPr lang="en-US" sz="2400" dirty="0">
                <a:latin typeface="Times New Roman" pitchFamily="18" charset="0"/>
                <a:cs typeface="Times New Roman" pitchFamily="18" charset="0"/>
              </a:rPr>
              <a:t> If fire is not detected robot will stop and be ready to receive the new signal.</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18859806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
            <a:extLst>
              <a:ext uri="{FF2B5EF4-FFF2-40B4-BE49-F238E27FC236}">
                <a16:creationId xmlns:a16="http://schemas.microsoft.com/office/drawing/2014/main" id="{ABB5A95B-E1E8-482B-8056-8CF4932840BF}"/>
              </a:ext>
            </a:extLst>
          </p:cNvPr>
          <p:cNvSpPr txBox="1"/>
          <p:nvPr/>
        </p:nvSpPr>
        <p:spPr>
          <a:xfrm>
            <a:off x="4419600" y="800100"/>
            <a:ext cx="9753600" cy="709361"/>
          </a:xfrm>
          <a:prstGeom prst="rect">
            <a:avLst/>
          </a:prstGeom>
        </p:spPr>
        <p:txBody>
          <a:bodyPr wrap="square" lIns="0" tIns="0" rIns="0" bIns="0" rtlCol="0" anchor="t">
            <a:spAutoFit/>
          </a:bodyPr>
          <a:lstStyle/>
          <a:p>
            <a:pPr>
              <a:lnSpc>
                <a:spcPts val="5468"/>
              </a:lnSpc>
            </a:pPr>
            <a:r>
              <a:rPr lang="en-US" sz="6000" dirty="0">
                <a:latin typeface="Times New Roman" panose="02020603050405020304" pitchFamily="18" charset="0"/>
                <a:cs typeface="Times New Roman" panose="02020603050405020304" pitchFamily="18" charset="0"/>
              </a:rPr>
              <a:t>RESULTS AND DISCUSSION</a:t>
            </a:r>
          </a:p>
        </p:txBody>
      </p:sp>
      <p:pic>
        <p:nvPicPr>
          <p:cNvPr id="3074" name="Picture 2">
            <a:extLst>
              <a:ext uri="{FF2B5EF4-FFF2-40B4-BE49-F238E27FC236}">
                <a16:creationId xmlns:a16="http://schemas.microsoft.com/office/drawing/2014/main" id="{7CE9A976-9807-F13E-B380-AB964FAF7ECF}"/>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01" t="13734" r="3600" b="40400"/>
          <a:stretch/>
        </p:blipFill>
        <p:spPr bwMode="auto">
          <a:xfrm>
            <a:off x="2977116" y="1547561"/>
            <a:ext cx="12333767" cy="4419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2661BF7-2754-2901-798A-6458A303490A}"/>
              </a:ext>
            </a:extLst>
          </p:cNvPr>
          <p:cNvSpPr txBox="1"/>
          <p:nvPr/>
        </p:nvSpPr>
        <p:spPr>
          <a:xfrm>
            <a:off x="3124200" y="6438900"/>
            <a:ext cx="12039600" cy="260019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In the 1st Phase, we have completed basic connection of Arduino UNO, Motor Driver and three flame sensors using jumper wires.</a:t>
            </a:r>
          </a:p>
          <a:p>
            <a:pPr marL="285750" indent="-285750">
              <a:lnSpc>
                <a:spcPct val="150000"/>
              </a:lnSpc>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In the 2nd Phase, we have connected servo motor with water pump to extinguish fire.</a:t>
            </a:r>
          </a:p>
        </p:txBody>
      </p:sp>
    </p:spTree>
    <p:extLst>
      <p:ext uri="{BB962C8B-B14F-4D97-AF65-F5344CB8AC3E}">
        <p14:creationId xmlns:p14="http://schemas.microsoft.com/office/powerpoint/2010/main" val="5619026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248400" y="647700"/>
            <a:ext cx="5791200" cy="1015663"/>
          </a:xfrm>
          <a:prstGeom prst="rect">
            <a:avLst/>
          </a:prstGeom>
        </p:spPr>
        <p:txBody>
          <a:bodyPr wrap="square">
            <a:spAutoFit/>
          </a:bodyPr>
          <a:lstStyle/>
          <a:p>
            <a:r>
              <a:rPr lang="en-US" sz="6000" dirty="0">
                <a:solidFill>
                  <a:srgbClr val="4C758D"/>
                </a:solidFill>
                <a:latin typeface="Times New Roman" panose="02020603050405020304" pitchFamily="18" charset="0"/>
                <a:cs typeface="Times New Roman" panose="02020603050405020304" pitchFamily="18" charset="0"/>
              </a:rPr>
              <a:t>FUTURE SCOPE</a:t>
            </a:r>
            <a:endParaRPr lang="en-US" sz="6000" dirty="0"/>
          </a:p>
        </p:txBody>
      </p:sp>
      <p:sp>
        <p:nvSpPr>
          <p:cNvPr id="3" name="Rectangle 2"/>
          <p:cNvSpPr/>
          <p:nvPr/>
        </p:nvSpPr>
        <p:spPr>
          <a:xfrm>
            <a:off x="2743200" y="2400300"/>
            <a:ext cx="13106400" cy="6555641"/>
          </a:xfrm>
          <a:prstGeom prst="rect">
            <a:avLst/>
          </a:prstGeom>
        </p:spPr>
        <p:txBody>
          <a:bodyPr wrap="square">
            <a:spAutoFit/>
          </a:bodyPr>
          <a:lstStyle/>
          <a:p>
            <a:pPr>
              <a:lnSpc>
                <a:spcPct val="150000"/>
              </a:lnSpc>
            </a:pPr>
            <a:r>
              <a:rPr lang="en-US" sz="2800" dirty="0">
                <a:latin typeface="Times New Roman" pitchFamily="18" charset="0"/>
                <a:cs typeface="Times New Roman" pitchFamily="18" charset="0"/>
              </a:rPr>
              <a:t>There are several potential future enhancements that could be made to Arduino based fire fighting robots:  </a:t>
            </a:r>
          </a:p>
          <a:p>
            <a:pPr>
              <a:lnSpc>
                <a:spcPct val="150000"/>
              </a:lnSpc>
              <a:buFont typeface="Arial" pitchFamily="34" charset="0"/>
              <a:buChar char="•"/>
            </a:pPr>
            <a:r>
              <a:rPr lang="en-US" sz="2800" dirty="0">
                <a:latin typeface="Times New Roman" pitchFamily="18" charset="0"/>
                <a:cs typeface="Times New Roman" pitchFamily="18" charset="0"/>
              </a:rPr>
              <a:t>Enhanced Sensing Technologies</a:t>
            </a:r>
          </a:p>
          <a:p>
            <a:pPr>
              <a:lnSpc>
                <a:spcPct val="150000"/>
              </a:lnSpc>
              <a:buFont typeface="Arial" pitchFamily="34" charset="0"/>
              <a:buChar char="•"/>
            </a:pPr>
            <a:r>
              <a:rPr lang="en-US" sz="2800" dirty="0">
                <a:latin typeface="Times New Roman" pitchFamily="18" charset="0"/>
                <a:cs typeface="Times New Roman" pitchFamily="18" charset="0"/>
              </a:rPr>
              <a:t>Intelligent Path Planning</a:t>
            </a:r>
          </a:p>
          <a:p>
            <a:pPr>
              <a:lnSpc>
                <a:spcPct val="150000"/>
              </a:lnSpc>
              <a:buFont typeface="Arial" pitchFamily="34" charset="0"/>
              <a:buChar char="•"/>
            </a:pPr>
            <a:r>
              <a:rPr lang="en-US" sz="2800" dirty="0">
                <a:latin typeface="Times New Roman" pitchFamily="18" charset="0"/>
                <a:cs typeface="Times New Roman" pitchFamily="18" charset="0"/>
              </a:rPr>
              <a:t> Wireless Communication</a:t>
            </a:r>
          </a:p>
          <a:p>
            <a:pPr>
              <a:lnSpc>
                <a:spcPct val="150000"/>
              </a:lnSpc>
              <a:buFont typeface="Arial" pitchFamily="34" charset="0"/>
              <a:buChar char="•"/>
            </a:pPr>
            <a:r>
              <a:rPr lang="en-US" sz="2800" dirty="0">
                <a:latin typeface="Times New Roman" pitchFamily="18" charset="0"/>
                <a:cs typeface="Times New Roman" pitchFamily="18" charset="0"/>
              </a:rPr>
              <a:t> Fire Analytics and Prediction</a:t>
            </a:r>
          </a:p>
          <a:p>
            <a:pPr>
              <a:lnSpc>
                <a:spcPct val="150000"/>
              </a:lnSpc>
              <a:buFont typeface="Arial" pitchFamily="34" charset="0"/>
              <a:buChar char="•"/>
            </a:pPr>
            <a:r>
              <a:rPr lang="en-US" sz="2800" dirty="0">
                <a:latin typeface="Times New Roman" pitchFamily="18" charset="0"/>
                <a:cs typeface="Times New Roman" pitchFamily="18" charset="0"/>
              </a:rPr>
              <a:t> Autonomous Recharging and Maintenance</a:t>
            </a:r>
          </a:p>
          <a:p>
            <a:pPr>
              <a:lnSpc>
                <a:spcPct val="150000"/>
              </a:lnSpc>
              <a:buFont typeface="Arial" pitchFamily="34" charset="0"/>
              <a:buChar char="•"/>
            </a:pPr>
            <a:r>
              <a:rPr lang="en-US" sz="2800" dirty="0">
                <a:latin typeface="Times New Roman" pitchFamily="18" charset="0"/>
                <a:cs typeface="Times New Roman" pitchFamily="18" charset="0"/>
              </a:rPr>
              <a:t> Collaboration with Emergency Services</a:t>
            </a:r>
          </a:p>
          <a:p>
            <a:pPr>
              <a:lnSpc>
                <a:spcPct val="150000"/>
              </a:lnSpc>
              <a:buFont typeface="Arial" pitchFamily="34" charset="0"/>
              <a:buChar char="•"/>
            </a:pPr>
            <a:r>
              <a:rPr lang="en-US" sz="2800" dirty="0">
                <a:latin typeface="Times New Roman" pitchFamily="18" charset="0"/>
                <a:cs typeface="Times New Roman" pitchFamily="18" charset="0"/>
              </a:rPr>
              <a:t> Integration with Building Systems</a:t>
            </a:r>
          </a:p>
          <a:p>
            <a:pPr>
              <a:lnSpc>
                <a:spcPct val="150000"/>
              </a:lnSpc>
              <a:buFont typeface="Arial" pitchFamily="34" charset="0"/>
              <a:buChar char="•"/>
            </a:pPr>
            <a:r>
              <a:rPr lang="en-US" sz="2800" dirty="0">
                <a:latin typeface="Times New Roman" pitchFamily="18" charset="0"/>
                <a:cs typeface="Times New Roman" pitchFamily="18" charset="0"/>
              </a:rPr>
              <a:t> Environmental Adaptability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1295400" y="723900"/>
            <a:ext cx="11056118" cy="8658835"/>
            <a:chOff x="0" y="-9525"/>
            <a:chExt cx="13023784" cy="11545114"/>
          </a:xfrm>
        </p:grpSpPr>
        <p:sp>
          <p:nvSpPr>
            <p:cNvPr id="4" name="TextBox 4"/>
            <p:cNvSpPr txBox="1"/>
            <p:nvPr/>
          </p:nvSpPr>
          <p:spPr>
            <a:xfrm>
              <a:off x="0" y="-9525"/>
              <a:ext cx="8225832" cy="1612664"/>
            </a:xfrm>
            <a:prstGeom prst="rect">
              <a:avLst/>
            </a:prstGeom>
          </p:spPr>
          <p:txBody>
            <a:bodyPr lIns="0" tIns="0" rIns="0" bIns="0" rtlCol="0" anchor="t">
              <a:spAutoFit/>
            </a:bodyPr>
            <a:lstStyle/>
            <a:p>
              <a:pPr>
                <a:lnSpc>
                  <a:spcPts val="10654"/>
                </a:lnSpc>
              </a:pPr>
              <a:r>
                <a:rPr lang="en-US" sz="6000" dirty="0">
                  <a:solidFill>
                    <a:srgbClr val="000000"/>
                  </a:solidFill>
                  <a:latin typeface="Times New Roman" panose="02020603050405020304" pitchFamily="18" charset="0"/>
                  <a:cs typeface="Times New Roman" panose="02020603050405020304" pitchFamily="18" charset="0"/>
                </a:rPr>
                <a:t>CONCLUSION</a:t>
              </a:r>
            </a:p>
          </p:txBody>
        </p:sp>
        <p:sp>
          <p:nvSpPr>
            <p:cNvPr id="5" name="TextBox 5"/>
            <p:cNvSpPr txBox="1"/>
            <p:nvPr/>
          </p:nvSpPr>
          <p:spPr>
            <a:xfrm>
              <a:off x="0" y="2159347"/>
              <a:ext cx="13023784" cy="9376242"/>
            </a:xfrm>
            <a:prstGeom prst="rect">
              <a:avLst/>
            </a:prstGeom>
          </p:spPr>
          <p:txBody>
            <a:bodyPr lIns="0" tIns="0" rIns="0" bIns="0" rtlCol="0" anchor="t">
              <a:spAutoFit/>
            </a:bodyPr>
            <a:lstStyle/>
            <a:p>
              <a:pPr marL="457200" indent="-457200" algn="just">
                <a:lnSpc>
                  <a:spcPct val="150000"/>
                </a:lnSpc>
                <a:spcBef>
                  <a:spcPct val="0"/>
                </a:spcBef>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Arduino-based fire-fighting robot with SMS alert project presents an innovative solution for enhancing fire safety in indoor environments. </a:t>
              </a:r>
            </a:p>
            <a:p>
              <a:pPr marL="457200" indent="-457200" algn="just">
                <a:lnSpc>
                  <a:spcPct val="150000"/>
                </a:lnSpc>
                <a:spcBef>
                  <a:spcPct val="0"/>
                </a:spcBef>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By integrating autonomous fire detection, navigation, fire suppression mechanisms, and real-time SMS alerts, the robot improves response time and minimizes risks associated with fire incidents. </a:t>
              </a:r>
            </a:p>
            <a:p>
              <a:pPr marL="457200" indent="-457200" algn="just">
                <a:lnSpc>
                  <a:spcPct val="150000"/>
                </a:lnSpc>
                <a:spcBef>
                  <a:spcPct val="0"/>
                </a:spcBef>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project demonstrates the potential of Arduino Uno and GSM module integration, providing a reliable and adaptable system for fire emergency management. </a:t>
              </a:r>
            </a:p>
            <a:p>
              <a:pPr marL="457200" indent="-457200" algn="just">
                <a:lnSpc>
                  <a:spcPct val="150000"/>
                </a:lnSpc>
                <a:spcBef>
                  <a:spcPct val="0"/>
                </a:spcBef>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Overall, the fire-fighting robot with SMS alert project contributes to the field of fire safety by providing an efficient and proactive approach to detecting and suppressing fires.</a:t>
              </a:r>
              <a:endParaRPr lang="en-US" sz="2800" dirty="0">
                <a:solidFill>
                  <a:srgbClr val="000000"/>
                </a:solidFill>
                <a:latin typeface="Times New Roman" panose="02020603050405020304" pitchFamily="18" charset="0"/>
                <a:cs typeface="Times New Roman" panose="02020603050405020304" pitchFamily="18" charset="0"/>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C25CC9CD-376A-9F22-B109-6F7FA6A638D6}"/>
              </a:ext>
            </a:extLst>
          </p:cNvPr>
          <p:cNvGrpSpPr/>
          <p:nvPr/>
        </p:nvGrpSpPr>
        <p:grpSpPr>
          <a:xfrm>
            <a:off x="1295400" y="723900"/>
            <a:ext cx="15697200" cy="8658834"/>
            <a:chOff x="0" y="-9525"/>
            <a:chExt cx="18490843" cy="11545114"/>
          </a:xfrm>
        </p:grpSpPr>
        <p:sp>
          <p:nvSpPr>
            <p:cNvPr id="5" name="TextBox 4">
              <a:extLst>
                <a:ext uri="{FF2B5EF4-FFF2-40B4-BE49-F238E27FC236}">
                  <a16:creationId xmlns:a16="http://schemas.microsoft.com/office/drawing/2014/main" id="{B5CF6D8A-6EE7-AB78-A855-806B2167E733}"/>
                </a:ext>
              </a:extLst>
            </p:cNvPr>
            <p:cNvSpPr txBox="1"/>
            <p:nvPr/>
          </p:nvSpPr>
          <p:spPr>
            <a:xfrm>
              <a:off x="0" y="-9525"/>
              <a:ext cx="8225832" cy="1612664"/>
            </a:xfrm>
            <a:prstGeom prst="rect">
              <a:avLst/>
            </a:prstGeom>
          </p:spPr>
          <p:txBody>
            <a:bodyPr lIns="0" tIns="0" rIns="0" bIns="0" rtlCol="0" anchor="t">
              <a:spAutoFit/>
            </a:bodyPr>
            <a:lstStyle/>
            <a:p>
              <a:pPr>
                <a:lnSpc>
                  <a:spcPts val="10654"/>
                </a:lnSpc>
              </a:pPr>
              <a:r>
                <a:rPr lang="en-US" sz="6000" dirty="0">
                  <a:solidFill>
                    <a:srgbClr val="000000"/>
                  </a:solidFill>
                  <a:latin typeface="Times New Roman" panose="02020603050405020304" pitchFamily="18" charset="0"/>
                  <a:cs typeface="Times New Roman" panose="02020603050405020304" pitchFamily="18" charset="0"/>
                </a:rPr>
                <a:t>REFERENCES</a:t>
              </a:r>
            </a:p>
          </p:txBody>
        </p:sp>
        <p:sp>
          <p:nvSpPr>
            <p:cNvPr id="6" name="TextBox 5">
              <a:extLst>
                <a:ext uri="{FF2B5EF4-FFF2-40B4-BE49-F238E27FC236}">
                  <a16:creationId xmlns:a16="http://schemas.microsoft.com/office/drawing/2014/main" id="{1623AB6C-76E6-8B26-F293-061D174CF872}"/>
                </a:ext>
              </a:extLst>
            </p:cNvPr>
            <p:cNvSpPr txBox="1"/>
            <p:nvPr/>
          </p:nvSpPr>
          <p:spPr>
            <a:xfrm>
              <a:off x="0" y="2159347"/>
              <a:ext cx="18490843" cy="9376242"/>
            </a:xfrm>
            <a:prstGeom prst="rect">
              <a:avLst/>
            </a:prstGeom>
          </p:spPr>
          <p:txBody>
            <a:bodyPr wrap="square" lIns="0" tIns="0" rIns="0" bIns="0" rtlCol="0" anchor="t">
              <a:spAutoFit/>
            </a:bodyPr>
            <a:lstStyle/>
            <a:p>
              <a:pPr algn="just">
                <a:lnSpc>
                  <a:spcPct val="150000"/>
                </a:lnSpc>
                <a:spcBef>
                  <a:spcPct val="0"/>
                </a:spcBef>
              </a:pPr>
              <a:r>
                <a:rPr lang="en-US" sz="2800" dirty="0">
                  <a:solidFill>
                    <a:srgbClr val="000000"/>
                  </a:solidFill>
                  <a:latin typeface="Times New Roman" panose="02020603050405020304" pitchFamily="18" charset="0"/>
                  <a:cs typeface="Times New Roman" panose="02020603050405020304" pitchFamily="18" charset="0"/>
                </a:rPr>
                <a:t>1. </a:t>
              </a:r>
              <a:r>
                <a:rPr lang="en-US" sz="2800" dirty="0" err="1">
                  <a:solidFill>
                    <a:srgbClr val="000000"/>
                  </a:solidFill>
                  <a:latin typeface="Times New Roman" panose="02020603050405020304" pitchFamily="18" charset="0"/>
                  <a:cs typeface="Times New Roman" panose="02020603050405020304" pitchFamily="18" charset="0"/>
                </a:rPr>
                <a:t>Tawfiqur</a:t>
              </a:r>
              <a:r>
                <a:rPr lang="en-US" sz="2800" dirty="0">
                  <a:solidFill>
                    <a:srgbClr val="000000"/>
                  </a:solidFill>
                  <a:latin typeface="Times New Roman" panose="02020603050405020304" pitchFamily="18" charset="0"/>
                  <a:cs typeface="Times New Roman" panose="02020603050405020304" pitchFamily="18" charset="0"/>
                </a:rPr>
                <a:t> Rakib, M. A. Rashid Sarkar, “Design and fabrication of an autonomous </a:t>
              </a:r>
            </a:p>
            <a:p>
              <a:pPr algn="just">
                <a:lnSpc>
                  <a:spcPct val="150000"/>
                </a:lnSpc>
                <a:spcBef>
                  <a:spcPct val="0"/>
                </a:spcBef>
              </a:pPr>
              <a:r>
                <a:rPr lang="en-US" sz="2800" dirty="0">
                  <a:solidFill>
                    <a:srgbClr val="000000"/>
                  </a:solidFill>
                  <a:latin typeface="Times New Roman" panose="02020603050405020304" pitchFamily="18" charset="0"/>
                  <a:cs typeface="Times New Roman" panose="02020603050405020304" pitchFamily="18" charset="0"/>
                </a:rPr>
                <a:t>firefighting robot with multi sensor fire detection using PID controller”, ICIEV </a:t>
              </a:r>
              <a:r>
                <a:rPr lang="en-US" sz="2800" dirty="0" err="1">
                  <a:solidFill>
                    <a:srgbClr val="000000"/>
                  </a:solidFill>
                  <a:latin typeface="Times New Roman" panose="02020603050405020304" pitchFamily="18" charset="0"/>
                  <a:cs typeface="Times New Roman" panose="02020603050405020304" pitchFamily="18" charset="0"/>
                </a:rPr>
                <a:t>Volumn</a:t>
              </a:r>
              <a:r>
                <a:rPr lang="en-US" sz="2800" dirty="0">
                  <a:solidFill>
                    <a:srgbClr val="000000"/>
                  </a:solidFill>
                  <a:latin typeface="Times New Roman" panose="02020603050405020304" pitchFamily="18" charset="0"/>
                  <a:cs typeface="Times New Roman" panose="02020603050405020304" pitchFamily="18" charset="0"/>
                </a:rPr>
                <a:t> </a:t>
              </a:r>
            </a:p>
            <a:p>
              <a:pPr algn="just">
                <a:lnSpc>
                  <a:spcPct val="150000"/>
                </a:lnSpc>
                <a:spcBef>
                  <a:spcPct val="0"/>
                </a:spcBef>
              </a:pPr>
              <a:r>
                <a:rPr lang="en-US" sz="2800" dirty="0">
                  <a:solidFill>
                    <a:srgbClr val="000000"/>
                  </a:solidFill>
                  <a:latin typeface="Times New Roman" panose="02020603050405020304" pitchFamily="18" charset="0"/>
                  <a:cs typeface="Times New Roman" panose="02020603050405020304" pitchFamily="18" charset="0"/>
                </a:rPr>
                <a:t>23 issue-1 JUNE 2016. </a:t>
              </a:r>
            </a:p>
            <a:p>
              <a:pPr algn="just">
                <a:lnSpc>
                  <a:spcPct val="150000"/>
                </a:lnSpc>
                <a:spcBef>
                  <a:spcPct val="0"/>
                </a:spcBef>
              </a:pPr>
              <a:r>
                <a:rPr lang="en-US" sz="2800" dirty="0">
                  <a:solidFill>
                    <a:srgbClr val="000000"/>
                  </a:solidFill>
                  <a:latin typeface="Times New Roman" panose="02020603050405020304" pitchFamily="18" charset="0"/>
                  <a:cs typeface="Times New Roman" panose="02020603050405020304" pitchFamily="18" charset="0"/>
                </a:rPr>
                <a:t>2. Saravanan P. , Soni </a:t>
              </a:r>
              <a:r>
                <a:rPr lang="en-US" sz="2800" dirty="0" err="1">
                  <a:solidFill>
                    <a:srgbClr val="000000"/>
                  </a:solidFill>
                  <a:latin typeface="Times New Roman" panose="02020603050405020304" pitchFamily="18" charset="0"/>
                  <a:cs typeface="Times New Roman" panose="02020603050405020304" pitchFamily="18" charset="0"/>
                </a:rPr>
                <a:t>Ishawarya</a:t>
              </a:r>
              <a:r>
                <a:rPr lang="en-US" sz="2800" dirty="0">
                  <a:solidFill>
                    <a:srgbClr val="000000"/>
                  </a:solidFill>
                  <a:latin typeface="Times New Roman" panose="02020603050405020304" pitchFamily="18" charset="0"/>
                  <a:cs typeface="Times New Roman" panose="02020603050405020304" pitchFamily="18" charset="0"/>
                </a:rPr>
                <a:t>, “Android controlled </a:t>
              </a:r>
              <a:r>
                <a:rPr lang="en-US" sz="2800" dirty="0" err="1">
                  <a:solidFill>
                    <a:srgbClr val="000000"/>
                  </a:solidFill>
                  <a:latin typeface="Times New Roman" panose="02020603050405020304" pitchFamily="18" charset="0"/>
                  <a:cs typeface="Times New Roman" panose="02020603050405020304" pitchFamily="18" charset="0"/>
                </a:rPr>
                <a:t>intergrated</a:t>
              </a:r>
              <a:r>
                <a:rPr lang="en-US" sz="2800" dirty="0">
                  <a:solidFill>
                    <a:srgbClr val="000000"/>
                  </a:solidFill>
                  <a:latin typeface="Times New Roman" panose="02020603050405020304" pitchFamily="18" charset="0"/>
                  <a:cs typeface="Times New Roman" panose="02020603050405020304" pitchFamily="18" charset="0"/>
                </a:rPr>
                <a:t> semi-autonomous </a:t>
              </a:r>
            </a:p>
            <a:p>
              <a:pPr algn="just">
                <a:lnSpc>
                  <a:spcPct val="150000"/>
                </a:lnSpc>
                <a:spcBef>
                  <a:spcPct val="0"/>
                </a:spcBef>
              </a:pPr>
              <a:r>
                <a:rPr lang="en-US" sz="2800" dirty="0">
                  <a:solidFill>
                    <a:srgbClr val="000000"/>
                  </a:solidFill>
                  <a:latin typeface="Times New Roman" panose="02020603050405020304" pitchFamily="18" charset="0"/>
                  <a:cs typeface="Times New Roman" panose="02020603050405020304" pitchFamily="18" charset="0"/>
                </a:rPr>
                <a:t>firefighting robot”,</a:t>
              </a:r>
              <a:r>
                <a:rPr lang="en-US" sz="2800" dirty="0" err="1">
                  <a:solidFill>
                    <a:srgbClr val="000000"/>
                  </a:solidFill>
                  <a:latin typeface="Times New Roman" panose="02020603050405020304" pitchFamily="18" charset="0"/>
                  <a:cs typeface="Times New Roman" panose="02020603050405020304" pitchFamily="18" charset="0"/>
                </a:rPr>
                <a:t>Ineternational</a:t>
              </a:r>
              <a:r>
                <a:rPr lang="en-US" sz="2800" dirty="0">
                  <a:solidFill>
                    <a:srgbClr val="000000"/>
                  </a:solidFill>
                  <a:latin typeface="Times New Roman" panose="02020603050405020304" pitchFamily="18" charset="0"/>
                  <a:cs typeface="Times New Roman" panose="02020603050405020304" pitchFamily="18" charset="0"/>
                </a:rPr>
                <a:t> journal of innovative science </a:t>
              </a:r>
              <a:r>
                <a:rPr lang="en-US" sz="2800" dirty="0" err="1">
                  <a:solidFill>
                    <a:srgbClr val="000000"/>
                  </a:solidFill>
                  <a:latin typeface="Times New Roman" panose="02020603050405020304" pitchFamily="18" charset="0"/>
                  <a:cs typeface="Times New Roman" panose="02020603050405020304" pitchFamily="18" charset="0"/>
                </a:rPr>
                <a:t>Engg</a:t>
              </a:r>
              <a:r>
                <a:rPr lang="en-US" sz="2800" dirty="0">
                  <a:solidFill>
                    <a:srgbClr val="000000"/>
                  </a:solidFill>
                  <a:latin typeface="Times New Roman" panose="02020603050405020304" pitchFamily="18" charset="0"/>
                  <a:cs typeface="Times New Roman" panose="02020603050405020304" pitchFamily="18" charset="0"/>
                </a:rPr>
                <a:t>. And Technology </a:t>
              </a:r>
            </a:p>
            <a:p>
              <a:pPr algn="just">
                <a:lnSpc>
                  <a:spcPct val="150000"/>
                </a:lnSpc>
                <a:spcBef>
                  <a:spcPct val="0"/>
                </a:spcBef>
              </a:pPr>
              <a:r>
                <a:rPr lang="en-US" sz="2800" dirty="0">
                  <a:solidFill>
                    <a:srgbClr val="000000"/>
                  </a:solidFill>
                  <a:latin typeface="Times New Roman" panose="02020603050405020304" pitchFamily="18" charset="0"/>
                  <a:cs typeface="Times New Roman" panose="02020603050405020304" pitchFamily="18" charset="0"/>
                </a:rPr>
                <a:t>2015. </a:t>
              </a:r>
            </a:p>
            <a:p>
              <a:pPr algn="just">
                <a:lnSpc>
                  <a:spcPct val="150000"/>
                </a:lnSpc>
                <a:spcBef>
                  <a:spcPct val="0"/>
                </a:spcBef>
              </a:pPr>
              <a:r>
                <a:rPr lang="en-US" sz="2800" dirty="0">
                  <a:solidFill>
                    <a:srgbClr val="000000"/>
                  </a:solidFill>
                  <a:latin typeface="Times New Roman" panose="02020603050405020304" pitchFamily="18" charset="0"/>
                  <a:cs typeface="Times New Roman" panose="02020603050405020304" pitchFamily="18" charset="0"/>
                </a:rPr>
                <a:t>3. S. </a:t>
              </a:r>
              <a:r>
                <a:rPr lang="en-US" sz="2800" dirty="0" err="1">
                  <a:solidFill>
                    <a:srgbClr val="000000"/>
                  </a:solidFill>
                  <a:latin typeface="Times New Roman" panose="02020603050405020304" pitchFamily="18" charset="0"/>
                  <a:cs typeface="Times New Roman" panose="02020603050405020304" pitchFamily="18" charset="0"/>
                </a:rPr>
                <a:t>Jakthi</a:t>
              </a:r>
              <a:r>
                <a:rPr lang="en-US" sz="2800" dirty="0">
                  <a:solidFill>
                    <a:srgbClr val="000000"/>
                  </a:solidFill>
                  <a:latin typeface="Times New Roman" panose="02020603050405020304" pitchFamily="18" charset="0"/>
                  <a:cs typeface="Times New Roman" panose="02020603050405020304" pitchFamily="18" charset="0"/>
                </a:rPr>
                <a:t> </a:t>
              </a:r>
              <a:r>
                <a:rPr lang="en-US" sz="2800" dirty="0" err="1">
                  <a:solidFill>
                    <a:srgbClr val="000000"/>
                  </a:solidFill>
                  <a:latin typeface="Times New Roman" panose="02020603050405020304" pitchFamily="18" charset="0"/>
                  <a:cs typeface="Times New Roman" panose="02020603050405020304" pitchFamily="18" charset="0"/>
                </a:rPr>
                <a:t>Priyanka,R</a:t>
              </a:r>
              <a:r>
                <a:rPr lang="en-US" sz="2800" dirty="0">
                  <a:solidFill>
                    <a:srgbClr val="000000"/>
                  </a:solidFill>
                  <a:latin typeface="Times New Roman" panose="02020603050405020304" pitchFamily="18" charset="0"/>
                  <a:cs typeface="Times New Roman" panose="02020603050405020304" pitchFamily="18" charset="0"/>
                </a:rPr>
                <a:t>. Sangeetha, “Android controlled firefighting robot”, international </a:t>
              </a:r>
            </a:p>
            <a:p>
              <a:pPr algn="just">
                <a:lnSpc>
                  <a:spcPct val="150000"/>
                </a:lnSpc>
                <a:spcBef>
                  <a:spcPct val="0"/>
                </a:spcBef>
              </a:pPr>
              <a:r>
                <a:rPr lang="en-US" sz="2800" dirty="0">
                  <a:solidFill>
                    <a:srgbClr val="000000"/>
                  </a:solidFill>
                  <a:latin typeface="Times New Roman" panose="02020603050405020304" pitchFamily="18" charset="0"/>
                  <a:cs typeface="Times New Roman" panose="02020603050405020304" pitchFamily="18" charset="0"/>
                </a:rPr>
                <a:t>journal of innovative science </a:t>
              </a:r>
              <a:r>
                <a:rPr lang="en-US" sz="2800" dirty="0" err="1">
                  <a:solidFill>
                    <a:srgbClr val="000000"/>
                  </a:solidFill>
                  <a:latin typeface="Times New Roman" panose="02020603050405020304" pitchFamily="18" charset="0"/>
                  <a:cs typeface="Times New Roman" panose="02020603050405020304" pitchFamily="18" charset="0"/>
                </a:rPr>
                <a:t>Engg</a:t>
              </a:r>
              <a:r>
                <a:rPr lang="en-US" sz="2800" dirty="0">
                  <a:solidFill>
                    <a:srgbClr val="000000"/>
                  </a:solidFill>
                  <a:latin typeface="Times New Roman" panose="02020603050405020304" pitchFamily="18" charset="0"/>
                  <a:cs typeface="Times New Roman" panose="02020603050405020304" pitchFamily="18" charset="0"/>
                </a:rPr>
                <a:t>. and Technology ,</a:t>
              </a:r>
              <a:r>
                <a:rPr lang="en-US" sz="2800" dirty="0" err="1">
                  <a:solidFill>
                    <a:srgbClr val="000000"/>
                  </a:solidFill>
                  <a:latin typeface="Times New Roman" panose="02020603050405020304" pitchFamily="18" charset="0"/>
                  <a:cs typeface="Times New Roman" panose="02020603050405020304" pitchFamily="18" charset="0"/>
                </a:rPr>
                <a:t>Volumn</a:t>
              </a:r>
              <a:r>
                <a:rPr lang="en-US" sz="2800" dirty="0">
                  <a:solidFill>
                    <a:srgbClr val="000000"/>
                  </a:solidFill>
                  <a:latin typeface="Times New Roman" panose="02020603050405020304" pitchFamily="18" charset="0"/>
                  <a:cs typeface="Times New Roman" panose="02020603050405020304" pitchFamily="18" charset="0"/>
                </a:rPr>
                <a:t> 3, 2017. </a:t>
              </a:r>
            </a:p>
            <a:p>
              <a:pPr algn="just">
                <a:lnSpc>
                  <a:spcPct val="150000"/>
                </a:lnSpc>
                <a:spcBef>
                  <a:spcPct val="0"/>
                </a:spcBef>
              </a:pPr>
              <a:r>
                <a:rPr lang="en-US" sz="2800" dirty="0">
                  <a:solidFill>
                    <a:srgbClr val="000000"/>
                  </a:solidFill>
                  <a:latin typeface="Times New Roman" panose="02020603050405020304" pitchFamily="18" charset="0"/>
                  <a:cs typeface="Times New Roman" panose="02020603050405020304" pitchFamily="18" charset="0"/>
                </a:rPr>
                <a:t>4. Nagesh MS, Deepika T V , Stafford </a:t>
              </a:r>
              <a:r>
                <a:rPr lang="en-US" sz="2800" dirty="0" err="1">
                  <a:solidFill>
                    <a:srgbClr val="000000"/>
                  </a:solidFill>
                  <a:latin typeface="Times New Roman" panose="02020603050405020304" pitchFamily="18" charset="0"/>
                  <a:cs typeface="Times New Roman" panose="02020603050405020304" pitchFamily="18" charset="0"/>
                </a:rPr>
                <a:t>Michahial</a:t>
              </a:r>
              <a:r>
                <a:rPr lang="en-US" sz="2800" dirty="0">
                  <a:solidFill>
                    <a:srgbClr val="000000"/>
                  </a:solidFill>
                  <a:latin typeface="Times New Roman" panose="02020603050405020304" pitchFamily="18" charset="0"/>
                  <a:cs typeface="Times New Roman" panose="02020603050405020304" pitchFamily="18" charset="0"/>
                </a:rPr>
                <a:t>, Dr M </a:t>
              </a:r>
              <a:r>
                <a:rPr lang="en-US" sz="2800" dirty="0" err="1">
                  <a:solidFill>
                    <a:srgbClr val="000000"/>
                  </a:solidFill>
                  <a:latin typeface="Times New Roman" panose="02020603050405020304" pitchFamily="18" charset="0"/>
                  <a:cs typeface="Times New Roman" panose="02020603050405020304" pitchFamily="18" charset="0"/>
                </a:rPr>
                <a:t>Shivakumar</a:t>
              </a:r>
              <a:r>
                <a:rPr lang="en-US" sz="2800" dirty="0">
                  <a:solidFill>
                    <a:srgbClr val="000000"/>
                  </a:solidFill>
                  <a:latin typeface="Times New Roman" panose="02020603050405020304" pitchFamily="18" charset="0"/>
                  <a:cs typeface="Times New Roman" panose="02020603050405020304" pitchFamily="18" charset="0"/>
                </a:rPr>
                <a:t>, “Fire Extinguishing </a:t>
              </a:r>
            </a:p>
            <a:p>
              <a:pPr algn="just">
                <a:lnSpc>
                  <a:spcPct val="150000"/>
                </a:lnSpc>
                <a:spcBef>
                  <a:spcPct val="0"/>
                </a:spcBef>
              </a:pPr>
              <a:r>
                <a:rPr lang="en-US" sz="2800" dirty="0">
                  <a:solidFill>
                    <a:srgbClr val="000000"/>
                  </a:solidFill>
                  <a:latin typeface="Times New Roman" panose="02020603050405020304" pitchFamily="18" charset="0"/>
                  <a:cs typeface="Times New Roman" panose="02020603050405020304" pitchFamily="18" charset="0"/>
                </a:rPr>
                <a:t>Robot”, International Journal of Advanced Research in Computer and Communication </a:t>
              </a:r>
            </a:p>
            <a:p>
              <a:pPr algn="just">
                <a:lnSpc>
                  <a:spcPct val="150000"/>
                </a:lnSpc>
                <a:spcBef>
                  <a:spcPct val="0"/>
                </a:spcBef>
              </a:pPr>
              <a:r>
                <a:rPr lang="en-US" sz="2800" dirty="0" err="1">
                  <a:solidFill>
                    <a:srgbClr val="000000"/>
                  </a:solidFill>
                  <a:latin typeface="Times New Roman" panose="02020603050405020304" pitchFamily="18" charset="0"/>
                  <a:cs typeface="Times New Roman" panose="02020603050405020304" pitchFamily="18" charset="0"/>
                </a:rPr>
                <a:t>Engineering,Vol</a:t>
              </a:r>
              <a:r>
                <a:rPr lang="en-US" sz="2800" dirty="0">
                  <a:solidFill>
                    <a:srgbClr val="000000"/>
                  </a:solidFill>
                  <a:latin typeface="Times New Roman" panose="02020603050405020304" pitchFamily="18" charset="0"/>
                  <a:cs typeface="Times New Roman" panose="02020603050405020304" pitchFamily="18" charset="0"/>
                </a:rPr>
                <a:t>. 5, Issue 12, December 2016 </a:t>
              </a:r>
            </a:p>
          </p:txBody>
        </p:sp>
      </p:grpSp>
    </p:spTree>
    <p:extLst>
      <p:ext uri="{BB962C8B-B14F-4D97-AF65-F5344CB8AC3E}">
        <p14:creationId xmlns:p14="http://schemas.microsoft.com/office/powerpoint/2010/main" val="3128293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176000" y="2335474"/>
            <a:ext cx="7936000" cy="5616051"/>
          </a:xfrm>
          <a:custGeom>
            <a:avLst/>
            <a:gdLst/>
            <a:ahLst/>
            <a:cxnLst/>
            <a:rect l="l" t="t" r="r" b="b"/>
            <a:pathLst>
              <a:path w="7936000" h="5616051">
                <a:moveTo>
                  <a:pt x="0" y="0"/>
                </a:moveTo>
                <a:lnTo>
                  <a:pt x="7936000" y="0"/>
                </a:lnTo>
                <a:lnTo>
                  <a:pt x="7936000" y="5616052"/>
                </a:lnTo>
                <a:lnTo>
                  <a:pt x="0" y="5616052"/>
                </a:lnTo>
                <a:lnTo>
                  <a:pt x="0" y="0"/>
                </a:lnTo>
                <a:close/>
              </a:path>
            </a:pathLst>
          </a:custGeom>
          <a:blipFill>
            <a:blip r:embed="rId2" cstate="print"/>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535</TotalTime>
  <Words>1195</Words>
  <Application>Microsoft Office PowerPoint</Application>
  <PresentationFormat>Custom</PresentationFormat>
  <Paragraphs>94</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HealthCare Chatbot</dc:title>
  <dc:creator>20UP1A6611 .</dc:creator>
  <cp:lastModifiedBy>Gavini vamshi</cp:lastModifiedBy>
  <cp:revision>26</cp:revision>
  <dcterms:created xsi:type="dcterms:W3CDTF">2006-08-16T00:00:00Z</dcterms:created>
  <dcterms:modified xsi:type="dcterms:W3CDTF">2024-04-16T05:08:06Z</dcterms:modified>
  <dc:identifier>DAFzGCbkhEI</dc:identifier>
</cp:coreProperties>
</file>