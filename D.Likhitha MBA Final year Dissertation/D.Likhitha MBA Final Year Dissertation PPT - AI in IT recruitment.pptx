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4B"/>
                </a:solidFill>
                <a:latin typeface="Arial"/>
              </a:rPr>
              <a:t>Fig 4.3: Awareness Level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Awareness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3E-43FF-A196-979D150026B7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3E-43FF-A196-979D150026B7}"/>
              </c:ext>
            </c:extLst>
          </c:dPt>
          <c:dPt>
            <c:idx val="2"/>
            <c:bubble3D val="0"/>
            <c:spPr>
              <a:solidFill>
                <a:srgbClr val="94B4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3E-43FF-A196-979D150026B7}"/>
              </c:ext>
            </c:extLst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3E-43FF-A196-979D150026B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3E-43FF-A196-979D150026B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3E-43FF-A196-979D150026B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3E-43FF-A196-979D150026B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3E-43FF-A196-979D150026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Highly Aware (Active User)</c:v>
                </c:pt>
                <c:pt idx="1">
                  <c:v>Aware (Organization Uses)</c:v>
                </c:pt>
                <c:pt idx="2">
                  <c:v>Somewhat Aware</c:v>
                </c:pt>
                <c:pt idx="3">
                  <c:v>Not Aware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40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3E-43FF-A196-979D15002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B"/>
                </a:solidFill>
                <a:latin typeface="Arial"/>
              </a:rPr>
              <a:t>Fig 4.4: AI Tools Usage Rate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Rate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LinkedIn AI</c:v>
                </c:pt>
                <c:pt idx="1">
                  <c:v>AI-ATS</c:v>
                </c:pt>
                <c:pt idx="2">
                  <c:v>Tech Assessment AI</c:v>
                </c:pt>
                <c:pt idx="3">
                  <c:v>Resume Screen AI</c:v>
                </c:pt>
                <c:pt idx="4">
                  <c:v>Chatbots</c:v>
                </c:pt>
                <c:pt idx="5">
                  <c:v>Predictive Analytics</c:v>
                </c:pt>
                <c:pt idx="6">
                  <c:v>Video AI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68</c:v>
                </c:pt>
                <c:pt idx="2">
                  <c:v>61</c:v>
                </c:pt>
                <c:pt idx="3">
                  <c:v>55</c:v>
                </c:pt>
                <c:pt idx="4">
                  <c:v>48</c:v>
                </c:pt>
                <c:pt idx="5">
                  <c:v>32</c:v>
                </c:pt>
                <c:pt idx="6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F9-4D8F-B11E-8472BEF4F9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Pre-AI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Time-to-Fill (days)</c:v>
                </c:pt>
                <c:pt idx="1">
                  <c:v>Cost-per-Hire (₹000)</c:v>
                </c:pt>
                <c:pt idx="2">
                  <c:v>Quality Score (x10)</c:v>
                </c:pt>
                <c:pt idx="3">
                  <c:v>90-Day Retention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42.3</c:v>
                </c:pt>
                <c:pt idx="1">
                  <c:v>85.5</c:v>
                </c:pt>
                <c:pt idx="2">
                  <c:v>64</c:v>
                </c:pt>
                <c:pt idx="3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56-4538-827F-E4597C2C09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Post-AI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Time-to-Fill (days)</c:v>
                </c:pt>
                <c:pt idx="1">
                  <c:v>Cost-per-Hire (₹000)</c:v>
                </c:pt>
                <c:pt idx="2">
                  <c:v>Quality Score (x10)</c:v>
                </c:pt>
                <c:pt idx="3">
                  <c:v>90-Day Retention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24.5</c:v>
                </c:pt>
                <c:pt idx="1">
                  <c:v>62.3</c:v>
                </c:pt>
                <c:pt idx="2">
                  <c:v>78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56-4538-827F-E4597C2C09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Fig: Agreement Levels on AI Impact Statements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Agreed (Strongly Agree + Agree)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9D-466E-93F0-C69FD851059F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9D-466E-93F0-C69FD851059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E9D-466E-93F0-C69FD851059F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9D-466E-93F0-C69FD851059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E9D-466E-93F0-C69FD851059F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E9D-466E-93F0-C69FD85105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AI reduces hiring time</c:v>
                </c:pt>
                <c:pt idx="1">
                  <c:v>AI improves candidate quality</c:v>
                </c:pt>
                <c:pt idx="2">
                  <c:v>AI reduces recruitment costs</c:v>
                </c:pt>
                <c:pt idx="3">
                  <c:v>AI chatbots improve experience</c:v>
                </c:pt>
                <c:pt idx="4">
                  <c:v>Overall AI adoption beneficial</c:v>
                </c:pt>
                <c:pt idx="5">
                  <c:v>AI improves productivity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65</c:v>
                </c:pt>
                <c:pt idx="2">
                  <c:v>65</c:v>
                </c:pt>
                <c:pt idx="3">
                  <c:v>58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E9D-466E-93F0-C69FD85105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4B"/>
                </a:solidFill>
                <a:latin typeface="Arial"/>
              </a:rPr>
              <a:t>Overall Satisfaction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AFE-4FF4-B663-58D81FC0DCCC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FE-4FF4-B663-58D81FC0DCCC}"/>
              </c:ext>
            </c:extLst>
          </c:dPt>
          <c:dPt>
            <c:idx val="2"/>
            <c:bubble3D val="0"/>
            <c:spPr>
              <a:solidFill>
                <a:srgbClr val="94B4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FE-4FF4-B663-58D81FC0DCCC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FE-4FF4-B663-58D81FC0DCCC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AFE-4FF4-B663-58D81FC0DCC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FE-4FF4-B663-58D81FC0DCC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FE-4FF4-B663-58D81FC0DCC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AFE-4FF4-B663-58D81FC0DCC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AFE-4FF4-B663-58D81FC0DCC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AFE-4FF4-B663-58D81FC0DCC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Very Satisfied</c:v>
                </c:pt>
                <c:pt idx="1">
                  <c:v>Satisfied</c:v>
                </c:pt>
                <c:pt idx="2">
                  <c:v>Neutral</c:v>
                </c:pt>
                <c:pt idx="3">
                  <c:v>Dissatisfied</c:v>
                </c:pt>
                <c:pt idx="4">
                  <c:v>Very Dissatisfied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20</c:v>
                </c:pt>
                <c:pt idx="3">
                  <c:v>14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AFE-4FF4-B663-58D81FC0DC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Respondents Citing Challenge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97-4E5D-9ED0-02D77E809F27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97-4E5D-9ED0-02D77E809F27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97-4E5D-9ED0-02D77E809F27}"/>
              </c:ext>
            </c:extLst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97-4E5D-9ED0-02D77E809F27}"/>
              </c:ext>
            </c:extLst>
          </c:dPt>
          <c:dPt>
            <c:idx val="4"/>
            <c:invertIfNegative val="0"/>
            <c:bubble3D val="0"/>
            <c:spPr>
              <a:solidFill>
                <a:srgbClr val="84CC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897-4E5D-9ED0-02D77E809F27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897-4E5D-9ED0-02D77E809F27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897-4E5D-9ED0-02D77E809F27}"/>
              </c:ext>
            </c:extLst>
          </c:dPt>
          <c:dPt>
            <c:idx val="7"/>
            <c:invertIfNegative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897-4E5D-9ED0-02D77E809F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High Implementation Cost</c:v>
                </c:pt>
                <c:pt idx="1">
                  <c:v>Algorithmic Bias &amp; Fairness</c:v>
                </c:pt>
                <c:pt idx="2">
                  <c:v>Lack of HR Tech Expertise</c:v>
                </c:pt>
                <c:pt idx="3">
                  <c:v>Legacy System Integration</c:v>
                </c:pt>
                <c:pt idx="4">
                  <c:v>Data Privacy Concerns</c:v>
                </c:pt>
                <c:pt idx="5">
                  <c:v>Resistance to Change</c:v>
                </c:pt>
                <c:pt idx="6">
                  <c:v>Poor Training Data Quality</c:v>
                </c:pt>
                <c:pt idx="7">
                  <c:v>Black Box / Transparency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</c:v>
                </c:pt>
                <c:pt idx="1">
                  <c:v>65</c:v>
                </c:pt>
                <c:pt idx="2">
                  <c:v>58</c:v>
                </c:pt>
                <c:pt idx="3">
                  <c:v>54</c:v>
                </c:pt>
                <c:pt idx="4">
                  <c:v>51</c:v>
                </c:pt>
                <c:pt idx="5">
                  <c:v>48</c:v>
                </c:pt>
                <c:pt idx="6">
                  <c:v>44</c:v>
                </c:pt>
                <c:pt idx="7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897-4E5D-9ED0-02D77E809F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ly4412/AI-Recruit-Platfor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AMITY UNIVERSITY ONLINE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– IT Management| Dissertation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Artificial Intelligence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 Recruitment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Efficiency and Effectiveness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D.Likhitha Mahalaxmi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Enrollment No: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A9920124022429(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Deepti Gupta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Academic Year: 2024-26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8686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&amp; Background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3258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Research Objectives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Literature Review Highlights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240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Research Methodology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6974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 Findings &amp; Data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31546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AI Recruitment Dashboard (Live Demo)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36118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Challenges Identified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40690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Recommendations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4526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IT recruitment is slow, biased, costly, and unable to scale with high application volumes.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offers automated screening, predictive analytics, and chatbots to transform talent acquisition.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74320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10972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3317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HR market: USD 590M (2022) → projected USD 1.1B by 2027 at 6.7% CAGR.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IT companies actively use AI recruitment tools  |  42% reduction in time-to-fill reported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9436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527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current IT recruitment process and identify efficiency gaps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92808"/>
            <a:ext cx="59436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9280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025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benefits of integrating AI tools in sourcing, screening &amp; selection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642616"/>
            <a:ext cx="8595360" cy="658368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42616"/>
            <a:ext cx="59436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64261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75234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test an AI-driven recruitment management system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392424"/>
            <a:ext cx="8595360" cy="65836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92424"/>
            <a:ext cx="59436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39242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5021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AI's impact on time-to-fill, cost-per-hire &amp; quality of hire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42232"/>
            <a:ext cx="59436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14223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251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actionable recommendations for sustainable AI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HIGHLIGHTS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95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Tambe et al. (2019)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achieve 80% accuracy in predicting employee performance; critical equity concerns identified.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20624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4206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795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 &amp; Hackett (2021)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9047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with high AI adoption show 23% higher productivity; AI improves 90-day retention.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4206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1401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Upadhyay &amp; Khandelwal (2018)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2491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AI-ATS reduces time-to-shortlist by 85% in Indian IT companies; 12% false negative rate documented.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20624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77440"/>
            <a:ext cx="4206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41401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Esch et al. (2019)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72491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accept AI screening but demand transparency; negative AI outcomes damage employer brand.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4206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484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Raghavan et al. (2020)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5935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bias amplification: AI systems perpetuate historical hiring biases from training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4206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484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Hoffman et al. (2018)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95935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Algorithm-selected hires show 14.8% higher productivity than manager-selected hires.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463040" cy="9144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228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371600"/>
            <a:ext cx="1463040" cy="9144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28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371600"/>
            <a:ext cx="1463040" cy="9144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828800"/>
            <a:ext cx="228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1371600"/>
            <a:ext cx="1463040" cy="9144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828800"/>
            <a:ext cx="228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371600"/>
            <a:ext cx="1463040" cy="9144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420624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06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Research Design with Mixed Methods Approach (quantitative + qualitative)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206240" cy="4114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06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(surveys) + Secondary Data (journals, industry reports)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35808"/>
            <a:ext cx="420624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815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081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respondents — HR professionals, TAL managers, IT managers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035808"/>
            <a:ext cx="4206240" cy="4114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0815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Technique: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081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Purposive / Judgmental Sampling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11296"/>
            <a:ext cx="420624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35570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Questionnaire via Google Forms (45 questions, 5 sections)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511296"/>
            <a:ext cx="4206240" cy="4114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5570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— frequency tables, charts, Likert scale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453128"/>
            <a:ext cx="859536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4988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45920" y="449884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– April 2026 | Scope: Major Indian IT cities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 AI AWARENESS &amp; ADOPTION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05156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respondents have significant AI awareness  |  72% use LinkedIn AI features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RECRUITMENT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73736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9019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Time-to-Fill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 → 24.5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965960" cy="173736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43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423160" y="19019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Shortlisting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423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→ 1.4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1965960" cy="173736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43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19019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Productivity Gain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→ 5.1 hires/month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051560"/>
            <a:ext cx="1965960" cy="173736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143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720840" y="19019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Cost-per-Hire Reduction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423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₹85,500 → ₹62,300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926080"/>
          <a:ext cx="85953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PERCEPTION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943600" y="1097280"/>
          <a:ext cx="2926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943600" y="3931920"/>
            <a:ext cx="292608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Satisfied / Very Satisfied with AI Recruitment Tools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plan to INCREASE AI investment in next 12 months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AI ADOPTION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8595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97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Hybrid AI+Human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volume screening; preserve human judgment for final decisions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97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Bias Auditing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regular algorithmic audits; monitor hiring outcomes by demographics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97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HR AI Training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literacy in HR teams to critically evaluate AI recommendations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266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 Governance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data privacy policies compliant with India's Data Protection Bill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0266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Pilot First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3-cycle pilots with defined KPIs before full deployment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0266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Transparency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AI use to candidates; provide human review options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RECRUITMENT MANAGEMENT SYSTEM — DEMO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56692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54480"/>
            <a:ext cx="1371600" cy="5669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544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60020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Job Management, Candidate Pipeline, Analytics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8595360" cy="56692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176272"/>
            <a:ext cx="1371600" cy="5669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7627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2219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4.x + DRF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2219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APIs, JWT Auth, CRUD Operations, Business Logic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8595360" cy="56692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274320" y="2798064"/>
            <a:ext cx="1371600" cy="5669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980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28437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84378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Candidates, Applications, Audit Logs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8595360" cy="56692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419856"/>
            <a:ext cx="1371600" cy="5669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198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346557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Scoring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465576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parsing, Skill matching, Candidate ranking, Chatbot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8595360" cy="56692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4041648"/>
            <a:ext cx="1371600" cy="5669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0416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37360" y="40873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40873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tokens, Role-based access, CORS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https://github.com/lily4412/AI-Recruit-Platform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adoption in IT recruitment delivers measurable improvements: 42% faster time-to-fill, 83% faster shortlisting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metrics also improve: 22% better candidate quality scores, 13% higher 90-day retention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E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Recruiter productivity increases by 59% — AI amplifies human capability, not replaces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challenges: algorithm bias (65%), high costs (72%), and lack of transparency must be addressed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Successful AI adoption requires: human oversight, bias auditing, HR training, and data governance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63% of organizations plan to INCREASE AI investment — AI is the future of IT talent acquisition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Intelligence = The Future of IT Recruitment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6400800" cy="32004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23774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Artificial Intelligence in IT Recruitment: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Efficiency and Effectiveness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3291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(ITM) | Amity University Online | Dissertation I — 2024-26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"Questions &amp; Discussion Welcome"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933</Words>
  <Application>Microsoft Office PowerPoint</Application>
  <PresentationFormat>On-screen Show (16:9)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Utilizing Artificial Intelligence in IT Recruitment</dc:title>
  <dc:subject>PptxGenJS Presentation</dc:subject>
  <dc:creator>MBA Student – Amity University Online</dc:creator>
  <cp:lastModifiedBy>20UP1A6611 .</cp:lastModifiedBy>
  <cp:revision>4</cp:revision>
  <dcterms:created xsi:type="dcterms:W3CDTF">2026-05-27T13:59:07Z</dcterms:created>
  <dcterms:modified xsi:type="dcterms:W3CDTF">2026-05-31T16:41:34Z</dcterms:modified>
</cp:coreProperties>
</file>