
<file path=[Content_Types].xml><?xml version="1.0" encoding="utf-8"?>
<Types xmlns="http://schemas.openxmlformats.org/package/2006/content-types">
  <Default Extension="fntdata" ContentType="application/x-fontdata"/>
  <Default Extension="jpeg" ContentType="image/jpeg"/>
  <Default Extension="jpg" ContentType="image/unknown"/>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8" r:id="rId3"/>
    <p:sldId id="274" r:id="rId4"/>
    <p:sldId id="260" r:id="rId5"/>
    <p:sldId id="259" r:id="rId6"/>
    <p:sldId id="261" r:id="rId7"/>
    <p:sldId id="262" r:id="rId8"/>
    <p:sldId id="263" r:id="rId9"/>
    <p:sldId id="275" r:id="rId10"/>
    <p:sldId id="276" r:id="rId11"/>
    <p:sldId id="277" r:id="rId12"/>
    <p:sldId id="264" r:id="rId13"/>
    <p:sldId id="265" r:id="rId14"/>
    <p:sldId id="266" r:id="rId15"/>
    <p:sldId id="267" r:id="rId16"/>
    <p:sldId id="268" r:id="rId17"/>
    <p:sldId id="269" r:id="rId18"/>
    <p:sldId id="272" r:id="rId19"/>
    <p:sldId id="273" r:id="rId20"/>
  </p:sldIdLst>
  <p:sldSz cx="18288000" cy="10287000"/>
  <p:notesSz cx="6858000" cy="9144000"/>
  <p:embeddedFontLst>
    <p:embeddedFont>
      <p:font typeface="Calibri" panose="020F0502020204030204" pitchFamily="34" charset="0"/>
      <p:regular r:id="rId22"/>
      <p:bold r:id="rId23"/>
      <p:italic r:id="rId24"/>
      <p:boldItalic r:id="rId25"/>
    </p:embeddedFont>
    <p:embeddedFont>
      <p:font typeface="HK Grotesk" panose="020B0604020202020204" charset="0"/>
      <p:regular r:id="rId26"/>
    </p:embeddedFont>
    <p:embeddedFont>
      <p:font typeface="HK Grotesk Bold" panose="020B0604020202020204" charset="0"/>
      <p:regular r:id="rId27"/>
    </p:embeddedFont>
    <p:embeddedFont>
      <p:font typeface="HK Grotesk Light" panose="020B0604020202020204" charset="0"/>
      <p:regular r:id="rId28"/>
    </p:embeddedFont>
    <p:embeddedFont>
      <p:font typeface="HK Grotesk Medium" panose="020B0604020202020204" charset="0"/>
      <p:regular r:id="rId29"/>
    </p:embeddedFont>
    <p:embeddedFont>
      <p:font typeface="HK Grotesk Semi-Bold" panose="020B0604020202020204" charset="0"/>
      <p:regular r:id="rId30"/>
    </p:embeddedFont>
    <p:embeddedFont>
      <p:font typeface="Open Sauce"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298" y="38"/>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F059B4-3675-4DC5-87D0-103BD93FBF9E}" type="datetimeFigureOut">
              <a:rPr lang="en-IN" smtClean="0"/>
              <a:t>03-11-2023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C845A2-1A70-4AB7-B5C1-BE5D0C947080}" type="slidenum">
              <a:rPr lang="en-IN" smtClean="0"/>
              <a:t>‹#›</a:t>
            </a:fld>
            <a:endParaRPr lang="en-IN"/>
          </a:p>
        </p:txBody>
      </p:sp>
    </p:spTree>
    <p:extLst>
      <p:ext uri="{BB962C8B-B14F-4D97-AF65-F5344CB8AC3E}">
        <p14:creationId xmlns:p14="http://schemas.microsoft.com/office/powerpoint/2010/main" val="3593238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4.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6.png"/><Relationship Id="rId7" Type="http://schemas.openxmlformats.org/officeDocument/2006/relationships/image" Target="../media/image29.png"/><Relationship Id="rId12" Type="http://schemas.openxmlformats.org/officeDocument/2006/relationships/image" Target="../media/image32.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24.png"/><Relationship Id="rId5" Type="http://schemas.openxmlformats.org/officeDocument/2006/relationships/image" Target="../media/image27.png"/><Relationship Id="rId10" Type="http://schemas.openxmlformats.org/officeDocument/2006/relationships/image" Target="../media/image23.png"/><Relationship Id="rId4" Type="http://schemas.openxmlformats.org/officeDocument/2006/relationships/image" Target="../media/image26.png"/><Relationship Id="rId9" Type="http://schemas.openxmlformats.org/officeDocument/2006/relationships/image" Target="../media/image3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830744" y="2980149"/>
            <a:ext cx="8626512" cy="5443834"/>
            <a:chOff x="0" y="0"/>
            <a:chExt cx="11502015" cy="7258446"/>
          </a:xfrm>
        </p:grpSpPr>
        <p:sp>
          <p:nvSpPr>
            <p:cNvPr id="3" name="TextBox 3"/>
            <p:cNvSpPr txBox="1"/>
            <p:nvPr/>
          </p:nvSpPr>
          <p:spPr>
            <a:xfrm>
              <a:off x="0" y="2089349"/>
              <a:ext cx="11502015" cy="3667125"/>
            </a:xfrm>
            <a:prstGeom prst="rect">
              <a:avLst/>
            </a:prstGeom>
          </p:spPr>
          <p:txBody>
            <a:bodyPr lIns="0" tIns="0" rIns="0" bIns="0" rtlCol="0" anchor="t">
              <a:spAutoFit/>
            </a:bodyPr>
            <a:lstStyle/>
            <a:p>
              <a:pPr>
                <a:lnSpc>
                  <a:spcPts val="10800"/>
                </a:lnSpc>
              </a:pPr>
              <a:r>
                <a:rPr lang="en-US" sz="9000">
                  <a:solidFill>
                    <a:srgbClr val="000000"/>
                  </a:solidFill>
                  <a:latin typeface="HK Grotesk Semi-Bold"/>
                </a:rPr>
                <a:t>HealthCare  ChatBot</a:t>
              </a:r>
            </a:p>
          </p:txBody>
        </p:sp>
        <p:sp>
          <p:nvSpPr>
            <p:cNvPr id="4" name="TextBox 4"/>
            <p:cNvSpPr txBox="1"/>
            <p:nvPr/>
          </p:nvSpPr>
          <p:spPr>
            <a:xfrm>
              <a:off x="0" y="-104775"/>
              <a:ext cx="11502015" cy="1213910"/>
            </a:xfrm>
            <a:prstGeom prst="rect">
              <a:avLst/>
            </a:prstGeom>
          </p:spPr>
          <p:txBody>
            <a:bodyPr lIns="0" tIns="0" rIns="0" bIns="0" rtlCol="0" anchor="t">
              <a:spAutoFit/>
            </a:bodyPr>
            <a:lstStyle/>
            <a:p>
              <a:pPr>
                <a:lnSpc>
                  <a:spcPts val="7699"/>
                </a:lnSpc>
              </a:pPr>
              <a:r>
                <a:rPr lang="en-US" sz="5499">
                  <a:solidFill>
                    <a:srgbClr val="4C758D"/>
                  </a:solidFill>
                  <a:latin typeface="HK Grotesk Medium"/>
                </a:rPr>
                <a:t>Department of AI and ML</a:t>
              </a:r>
            </a:p>
          </p:txBody>
        </p:sp>
        <p:sp>
          <p:nvSpPr>
            <p:cNvPr id="5" name="TextBox 5"/>
            <p:cNvSpPr txBox="1"/>
            <p:nvPr/>
          </p:nvSpPr>
          <p:spPr>
            <a:xfrm>
              <a:off x="0" y="6710017"/>
              <a:ext cx="11502015" cy="536998"/>
            </a:xfrm>
            <a:prstGeom prst="rect">
              <a:avLst/>
            </a:prstGeom>
          </p:spPr>
          <p:txBody>
            <a:bodyPr lIns="0" tIns="0" rIns="0" bIns="0" rtlCol="0" anchor="t">
              <a:spAutoFit/>
            </a:bodyPr>
            <a:lstStyle/>
            <a:p>
              <a:pPr>
                <a:lnSpc>
                  <a:spcPts val="3394"/>
                </a:lnSpc>
              </a:pPr>
              <a:endParaRPr/>
            </a:p>
          </p:txBody>
        </p:sp>
      </p:grpSp>
      <p:sp>
        <p:nvSpPr>
          <p:cNvPr id="6" name="TextBox 6"/>
          <p:cNvSpPr txBox="1"/>
          <p:nvPr/>
        </p:nvSpPr>
        <p:spPr>
          <a:xfrm>
            <a:off x="3146419" y="359759"/>
            <a:ext cx="14112881" cy="1638300"/>
          </a:xfrm>
          <a:prstGeom prst="rect">
            <a:avLst/>
          </a:prstGeom>
        </p:spPr>
        <p:txBody>
          <a:bodyPr lIns="0" tIns="0" rIns="0" bIns="0" rtlCol="0" anchor="t">
            <a:spAutoFit/>
          </a:bodyPr>
          <a:lstStyle/>
          <a:p>
            <a:pPr>
              <a:lnSpc>
                <a:spcPts val="6300"/>
              </a:lnSpc>
              <a:spcBef>
                <a:spcPct val="0"/>
              </a:spcBef>
            </a:pPr>
            <a:r>
              <a:rPr lang="en-US" sz="6000">
                <a:solidFill>
                  <a:srgbClr val="000000"/>
                </a:solidFill>
                <a:latin typeface="Open Sauce"/>
              </a:rPr>
              <a:t>Vignan’s Institute of Management and Technology  for Women</a:t>
            </a:r>
          </a:p>
        </p:txBody>
      </p:sp>
      <p:sp>
        <p:nvSpPr>
          <p:cNvPr id="7" name="Freeform 7"/>
          <p:cNvSpPr/>
          <p:nvPr/>
        </p:nvSpPr>
        <p:spPr>
          <a:xfrm>
            <a:off x="1028700" y="283559"/>
            <a:ext cx="1752612" cy="1752612"/>
          </a:xfrm>
          <a:custGeom>
            <a:avLst/>
            <a:gdLst/>
            <a:ahLst/>
            <a:cxnLst/>
            <a:rect l="l" t="t" r="r" b="b"/>
            <a:pathLst>
              <a:path w="1752612" h="1752612">
                <a:moveTo>
                  <a:pt x="0" y="0"/>
                </a:moveTo>
                <a:lnTo>
                  <a:pt x="1752612" y="0"/>
                </a:lnTo>
                <a:lnTo>
                  <a:pt x="1752612" y="1752611"/>
                </a:lnTo>
                <a:lnTo>
                  <a:pt x="0" y="1752611"/>
                </a:lnTo>
                <a:lnTo>
                  <a:pt x="0" y="0"/>
                </a:lnTo>
                <a:close/>
              </a:path>
            </a:pathLst>
          </a:custGeom>
          <a:blipFill>
            <a:blip r:embed="rId2"/>
            <a:stretch>
              <a:fillRect/>
            </a:stretch>
          </a:blipFill>
        </p:spPr>
        <p:txBody>
          <a:bodyPr/>
          <a:lstStyle/>
          <a:p>
            <a:endParaRPr lang="en-IN"/>
          </a:p>
        </p:txBody>
      </p:sp>
      <p:sp>
        <p:nvSpPr>
          <p:cNvPr id="8" name="TextBox 8"/>
          <p:cNvSpPr txBox="1"/>
          <p:nvPr/>
        </p:nvSpPr>
        <p:spPr>
          <a:xfrm>
            <a:off x="12471956" y="8462083"/>
            <a:ext cx="5550548" cy="1422672"/>
          </a:xfrm>
          <a:prstGeom prst="rect">
            <a:avLst/>
          </a:prstGeom>
        </p:spPr>
        <p:txBody>
          <a:bodyPr lIns="0" tIns="0" rIns="0" bIns="0" rtlCol="0" anchor="t">
            <a:spAutoFit/>
          </a:bodyPr>
          <a:lstStyle/>
          <a:p>
            <a:pPr>
              <a:lnSpc>
                <a:spcPts val="2814"/>
              </a:lnSpc>
            </a:pPr>
            <a:r>
              <a:rPr lang="en-US" sz="2680">
                <a:solidFill>
                  <a:srgbClr val="000000"/>
                </a:solidFill>
                <a:latin typeface="HK Grotesk"/>
              </a:rPr>
              <a:t>D.Likhitha MahaLaxmi (20UP1A6611)</a:t>
            </a:r>
          </a:p>
          <a:p>
            <a:pPr>
              <a:lnSpc>
                <a:spcPts val="2814"/>
              </a:lnSpc>
            </a:pPr>
            <a:r>
              <a:rPr lang="en-US" sz="2680">
                <a:solidFill>
                  <a:srgbClr val="000000"/>
                </a:solidFill>
                <a:latin typeface="HK Grotesk"/>
              </a:rPr>
              <a:t>G.Shravani (20UP1A6614)</a:t>
            </a:r>
          </a:p>
          <a:p>
            <a:pPr>
              <a:lnSpc>
                <a:spcPts val="2814"/>
              </a:lnSpc>
            </a:pPr>
            <a:r>
              <a:rPr lang="en-US" sz="2680">
                <a:solidFill>
                  <a:srgbClr val="000000"/>
                </a:solidFill>
                <a:latin typeface="HK Grotesk"/>
              </a:rPr>
              <a:t>M.Shruthi (20UP1A6632)</a:t>
            </a:r>
          </a:p>
          <a:p>
            <a:pPr>
              <a:lnSpc>
                <a:spcPts val="2814"/>
              </a:lnSpc>
              <a:spcBef>
                <a:spcPct val="0"/>
              </a:spcBef>
            </a:pPr>
            <a:r>
              <a:rPr lang="en-US" sz="2680">
                <a:solidFill>
                  <a:srgbClr val="000000"/>
                </a:solidFill>
                <a:latin typeface="HK Grotesk"/>
              </a:rPr>
              <a:t>M.Sreeja (21UP5A6602)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011870" y="1028700"/>
            <a:ext cx="10247430" cy="8583111"/>
            <a:chOff x="0" y="0"/>
            <a:chExt cx="13663240" cy="11444149"/>
          </a:xfrm>
        </p:grpSpPr>
        <p:sp>
          <p:nvSpPr>
            <p:cNvPr id="3" name="TextBox 3"/>
            <p:cNvSpPr txBox="1"/>
            <p:nvPr/>
          </p:nvSpPr>
          <p:spPr>
            <a:xfrm>
              <a:off x="0" y="-9525"/>
              <a:ext cx="13663240" cy="1635125"/>
            </a:xfrm>
            <a:prstGeom prst="rect">
              <a:avLst/>
            </a:prstGeom>
          </p:spPr>
          <p:txBody>
            <a:bodyPr lIns="0" tIns="0" rIns="0" bIns="0" rtlCol="0" anchor="t">
              <a:spAutoFit/>
            </a:bodyPr>
            <a:lstStyle/>
            <a:p>
              <a:pPr>
                <a:lnSpc>
                  <a:spcPts val="9600"/>
                </a:lnSpc>
              </a:pPr>
              <a:r>
                <a:rPr lang="en-US" sz="8000" dirty="0">
                  <a:solidFill>
                    <a:srgbClr val="000000"/>
                  </a:solidFill>
                  <a:latin typeface="HK Grotesk Bold"/>
                </a:rPr>
                <a:t>ABSTRACT</a:t>
              </a:r>
            </a:p>
          </p:txBody>
        </p:sp>
        <p:sp>
          <p:nvSpPr>
            <p:cNvPr id="4" name="TextBox 4"/>
            <p:cNvSpPr txBox="1"/>
            <p:nvPr/>
          </p:nvSpPr>
          <p:spPr>
            <a:xfrm>
              <a:off x="0" y="2236225"/>
              <a:ext cx="13663240" cy="9207923"/>
            </a:xfrm>
            <a:prstGeom prst="rect">
              <a:avLst/>
            </a:prstGeom>
          </p:spPr>
          <p:txBody>
            <a:bodyPr lIns="0" tIns="0" rIns="0" bIns="0" rtlCol="0" anchor="t">
              <a:spAutoFit/>
            </a:bodyPr>
            <a:lstStyle/>
            <a:p>
              <a:pPr>
                <a:lnSpc>
                  <a:spcPts val="3919"/>
                </a:lnSpc>
              </a:pPr>
              <a:r>
                <a:rPr lang="en-US" sz="2799" dirty="0">
                  <a:solidFill>
                    <a:srgbClr val="000000"/>
                  </a:solidFill>
                  <a:latin typeface="HK Grotesk Medium"/>
                </a:rPr>
                <a:t>Health care is very important to start a good life. However, if you have a health problem, it is very difficult to talk to your doctor.</a:t>
              </a:r>
            </a:p>
            <a:p>
              <a:pPr>
                <a:lnSpc>
                  <a:spcPts val="3919"/>
                </a:lnSpc>
              </a:pPr>
              <a:r>
                <a:rPr lang="en-US" sz="2799" dirty="0">
                  <a:solidFill>
                    <a:srgbClr val="000000"/>
                  </a:solidFill>
                  <a:latin typeface="HK Grotesk Medium"/>
                </a:rPr>
                <a:t>Chatbots can be used to communicate with text or voice interfaces and receive responses via artificial intelligence.</a:t>
              </a:r>
            </a:p>
            <a:p>
              <a:pPr>
                <a:lnSpc>
                  <a:spcPts val="3919"/>
                </a:lnSpc>
              </a:pPr>
              <a:r>
                <a:rPr lang="en-US" sz="2799" dirty="0">
                  <a:solidFill>
                    <a:srgbClr val="000000"/>
                  </a:solidFill>
                  <a:latin typeface="HK Grotesk Medium"/>
                </a:rPr>
                <a:t>Chatbots are programs designed to automatically interact with incoming messages.</a:t>
              </a:r>
            </a:p>
            <a:p>
              <a:pPr>
                <a:lnSpc>
                  <a:spcPts val="3919"/>
                </a:lnSpc>
              </a:pPr>
              <a:r>
                <a:rPr lang="en-US" sz="2799" dirty="0">
                  <a:solidFill>
                    <a:srgbClr val="000000"/>
                  </a:solidFill>
                  <a:latin typeface="HK Grotesk Medium"/>
                </a:rPr>
                <a:t>Chatbots can be programmed to respond the same each time and respond differently to messages containing specific keywords.</a:t>
              </a:r>
            </a:p>
            <a:p>
              <a:pPr>
                <a:lnSpc>
                  <a:spcPts val="3919"/>
                </a:lnSpc>
              </a:pPr>
              <a:r>
                <a:rPr lang="en-US" sz="2799" dirty="0">
                  <a:solidFill>
                    <a:srgbClr val="000000"/>
                  </a:solidFill>
                  <a:latin typeface="HK Grotesk Medium"/>
                </a:rPr>
                <a:t>More and more hospitals, nursing homes, and even private centers are now using online human service chatbots on their websites. These bots connect with potential patients accessing the site, find specialists, make appointments, and ensure appropriate treatment.</a:t>
              </a:r>
            </a:p>
            <a:p>
              <a:pPr>
                <a:lnSpc>
                  <a:spcPts val="3919"/>
                </a:lnSpc>
              </a:pPr>
              <a:endParaRPr lang="en-US" sz="2799" dirty="0">
                <a:solidFill>
                  <a:srgbClr val="000000"/>
                </a:solidFill>
                <a:latin typeface="HK Grotesk Medium"/>
              </a:endParaRPr>
            </a:p>
          </p:txBody>
        </p:sp>
      </p:grpSp>
      <p:sp>
        <p:nvSpPr>
          <p:cNvPr id="5" name="Freeform 5"/>
          <p:cNvSpPr/>
          <p:nvPr/>
        </p:nvSpPr>
        <p:spPr>
          <a:xfrm>
            <a:off x="181551" y="2496577"/>
            <a:ext cx="6576198" cy="5647357"/>
          </a:xfrm>
          <a:custGeom>
            <a:avLst/>
            <a:gdLst/>
            <a:ahLst/>
            <a:cxnLst/>
            <a:rect l="l" t="t" r="r" b="b"/>
            <a:pathLst>
              <a:path w="6576198" h="5647357">
                <a:moveTo>
                  <a:pt x="0" y="0"/>
                </a:moveTo>
                <a:lnTo>
                  <a:pt x="6576198" y="0"/>
                </a:lnTo>
                <a:lnTo>
                  <a:pt x="6576198" y="5647357"/>
                </a:lnTo>
                <a:lnTo>
                  <a:pt x="0" y="5647357"/>
                </a:lnTo>
                <a:lnTo>
                  <a:pt x="0" y="0"/>
                </a:lnTo>
                <a:close/>
              </a:path>
            </a:pathLst>
          </a:custGeom>
          <a:blipFill>
            <a:blip r:embed="rId2"/>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2401B8-1A61-2586-FD56-F3BD29797950}"/>
              </a:ext>
            </a:extLst>
          </p:cNvPr>
          <p:cNvSpPr txBox="1"/>
          <p:nvPr/>
        </p:nvSpPr>
        <p:spPr>
          <a:xfrm>
            <a:off x="5334000" y="404420"/>
            <a:ext cx="7723589" cy="1323439"/>
          </a:xfrm>
          <a:prstGeom prst="rect">
            <a:avLst/>
          </a:prstGeom>
          <a:noFill/>
        </p:spPr>
        <p:txBody>
          <a:bodyPr wrap="none" rtlCol="0">
            <a:spAutoFit/>
          </a:bodyPr>
          <a:lstStyle/>
          <a:p>
            <a:pPr algn="ctr"/>
            <a:r>
              <a:rPr lang="en-IN" sz="8000" dirty="0">
                <a:latin typeface="HK Grotesk Bold" panose="020B0604020202020204" charset="0"/>
              </a:rPr>
              <a:t>INTRODUCTION</a:t>
            </a:r>
          </a:p>
        </p:txBody>
      </p:sp>
      <p:sp>
        <p:nvSpPr>
          <p:cNvPr id="3" name="TextBox 2">
            <a:extLst>
              <a:ext uri="{FF2B5EF4-FFF2-40B4-BE49-F238E27FC236}">
                <a16:creationId xmlns:a16="http://schemas.microsoft.com/office/drawing/2014/main" id="{D1013D7C-18B1-33F8-ADF0-0A57DFABB0C8}"/>
              </a:ext>
            </a:extLst>
          </p:cNvPr>
          <p:cNvSpPr txBox="1"/>
          <p:nvPr/>
        </p:nvSpPr>
        <p:spPr>
          <a:xfrm>
            <a:off x="457200" y="2446228"/>
            <a:ext cx="13716000" cy="3108543"/>
          </a:xfrm>
          <a:prstGeom prst="rect">
            <a:avLst/>
          </a:prstGeom>
          <a:noFill/>
        </p:spPr>
        <p:txBody>
          <a:bodyPr wrap="square" rtlCol="0">
            <a:spAutoFit/>
          </a:bodyPr>
          <a:lstStyle/>
          <a:p>
            <a:r>
              <a:rPr lang="en-US" sz="2800" b="1" i="0" dirty="0">
                <a:effectLst/>
                <a:latin typeface="HK Grotesk Bold" panose="020B0604020202020204" charset="0"/>
              </a:rPr>
              <a:t>What is a Healthcare Chatbot?</a:t>
            </a:r>
          </a:p>
          <a:p>
            <a:endParaRPr lang="en-US" sz="2800" b="1" i="0" dirty="0">
              <a:effectLst/>
              <a:latin typeface="HK Grotesk Bold" panose="020B0604020202020204" charset="0"/>
            </a:endParaRPr>
          </a:p>
          <a:p>
            <a:pPr algn="just"/>
            <a:r>
              <a:rPr lang="en-US" sz="2800" b="1" dirty="0">
                <a:solidFill>
                  <a:srgbClr val="D1D5DB"/>
                </a:solidFill>
                <a:latin typeface="HK Grotesk Bold" panose="020B0604020202020204" charset="0"/>
              </a:rPr>
              <a:t>       </a:t>
            </a:r>
            <a:r>
              <a:rPr lang="en-US" sz="2800" b="0" i="0" dirty="0">
                <a:solidFill>
                  <a:srgbClr val="D1D5DB"/>
                </a:solidFill>
                <a:effectLst/>
                <a:latin typeface="HK Grotesk Bold" panose="020B0604020202020204" charset="0"/>
              </a:rPr>
              <a:t> </a:t>
            </a:r>
            <a:r>
              <a:rPr lang="en-US" sz="2800" b="0" i="0" dirty="0">
                <a:effectLst/>
                <a:latin typeface="HK Grotesk Medium" panose="020B0604020202020204" charset="0"/>
                <a:cs typeface="Times New Roman" panose="02020603050405020304" pitchFamily="18" charset="0"/>
              </a:rPr>
              <a:t>A healthcare chatbot is a software application that uses AI and NLP to simulate a conversation with users, addressing their health-related queries and providing assistance in various aspects of healthcare. These chatbots can be integrated into websites, mobile apps, or messaging platforms, making them easily accessible to users.</a:t>
            </a:r>
            <a:endParaRPr lang="en-IN" sz="2800" dirty="0">
              <a:highlight>
                <a:srgbClr val="000000"/>
              </a:highlight>
              <a:latin typeface="HK Grotesk Medium" panose="020B0604020202020204" charset="0"/>
              <a:cs typeface="Times New Roman" panose="02020603050405020304" pitchFamily="18" charset="0"/>
            </a:endParaRPr>
          </a:p>
        </p:txBody>
      </p:sp>
      <p:sp>
        <p:nvSpPr>
          <p:cNvPr id="4" name="TextBox 3">
            <a:extLst>
              <a:ext uri="{FF2B5EF4-FFF2-40B4-BE49-F238E27FC236}">
                <a16:creationId xmlns:a16="http://schemas.microsoft.com/office/drawing/2014/main" id="{95A55C9A-5B7F-729F-0024-76BB4E1915FB}"/>
              </a:ext>
            </a:extLst>
          </p:cNvPr>
          <p:cNvSpPr txBox="1"/>
          <p:nvPr/>
        </p:nvSpPr>
        <p:spPr>
          <a:xfrm>
            <a:off x="444500" y="5718870"/>
            <a:ext cx="15544800" cy="3539430"/>
          </a:xfrm>
          <a:prstGeom prst="rect">
            <a:avLst/>
          </a:prstGeom>
          <a:noFill/>
        </p:spPr>
        <p:txBody>
          <a:bodyPr wrap="square" rtlCol="0">
            <a:spAutoFit/>
          </a:bodyPr>
          <a:lstStyle/>
          <a:p>
            <a:pPr algn="l"/>
            <a:r>
              <a:rPr lang="en-US" sz="2800" b="0" i="0" dirty="0">
                <a:effectLst/>
                <a:latin typeface="HK Grotesk Bold" panose="020B0604020202020204" charset="0"/>
              </a:rPr>
              <a:t>Healthcare chatbots serve multiple purposes, including:</a:t>
            </a:r>
          </a:p>
          <a:p>
            <a:pPr algn="l"/>
            <a:endParaRPr lang="en-US" sz="2800" b="0" i="0" dirty="0">
              <a:effectLst/>
              <a:latin typeface="HK Grotesk Bold" panose="020B0604020202020204" charset="0"/>
            </a:endParaRPr>
          </a:p>
          <a:p>
            <a:pPr algn="l">
              <a:buFont typeface="Arial" panose="020B0604020202020204" pitchFamily="34" charset="0"/>
              <a:buChar char="•"/>
            </a:pPr>
            <a:r>
              <a:rPr lang="en-US" sz="2800" b="0" i="0" dirty="0">
                <a:effectLst/>
                <a:latin typeface="HK Grotesk Medium" panose="020B0604020202020204" charset="0"/>
              </a:rPr>
              <a:t>Answering general health questions.</a:t>
            </a:r>
          </a:p>
          <a:p>
            <a:pPr algn="l">
              <a:buFont typeface="Arial" panose="020B0604020202020204" pitchFamily="34" charset="0"/>
              <a:buChar char="•"/>
            </a:pPr>
            <a:r>
              <a:rPr lang="en-US" sz="2800" b="0" i="0" dirty="0">
                <a:effectLst/>
                <a:latin typeface="HK Grotesk Medium" panose="020B0604020202020204" charset="0"/>
              </a:rPr>
              <a:t>Providing information about specific medical conditions, symptoms, and treatments.</a:t>
            </a:r>
          </a:p>
          <a:p>
            <a:pPr algn="l">
              <a:buFont typeface="Arial" panose="020B0604020202020204" pitchFamily="34" charset="0"/>
              <a:buChar char="•"/>
            </a:pPr>
            <a:r>
              <a:rPr lang="en-US" sz="2800" b="0" i="0" dirty="0">
                <a:effectLst/>
                <a:latin typeface="HK Grotesk Medium" panose="020B0604020202020204" charset="0"/>
              </a:rPr>
              <a:t>Assisting users in finding nearby healthcare facilities, doctors, or pharmacies.</a:t>
            </a:r>
          </a:p>
          <a:p>
            <a:pPr algn="l">
              <a:buFont typeface="Arial" panose="020B0604020202020204" pitchFamily="34" charset="0"/>
              <a:buChar char="•"/>
            </a:pPr>
            <a:r>
              <a:rPr lang="en-US" sz="2800" b="0" i="0" dirty="0">
                <a:effectLst/>
                <a:latin typeface="HK Grotesk Medium" panose="020B0604020202020204" charset="0"/>
              </a:rPr>
              <a:t>Offering medication reminders and helping users manage their prescriptions.</a:t>
            </a:r>
          </a:p>
          <a:p>
            <a:pPr algn="l">
              <a:buFont typeface="Arial" panose="020B0604020202020204" pitchFamily="34" charset="0"/>
              <a:buChar char="•"/>
            </a:pPr>
            <a:r>
              <a:rPr lang="en-US" sz="2800" b="0" i="0" dirty="0">
                <a:effectLst/>
                <a:latin typeface="HK Grotesk Medium" panose="020B0604020202020204" charset="0"/>
              </a:rPr>
              <a:t>Collecting and recording health data such as symptoms, vital signs, or medical history.</a:t>
            </a:r>
          </a:p>
          <a:p>
            <a:pPr algn="l">
              <a:buFont typeface="Arial" panose="020B0604020202020204" pitchFamily="34" charset="0"/>
              <a:buChar char="•"/>
            </a:pPr>
            <a:r>
              <a:rPr lang="en-US" sz="2800" b="0" i="0" dirty="0">
                <a:effectLst/>
                <a:latin typeface="HK Grotesk Medium" panose="020B0604020202020204" charset="0"/>
              </a:rPr>
              <a:t>Guiding users through first aid or emergency procedures.</a:t>
            </a:r>
          </a:p>
        </p:txBody>
      </p:sp>
      <p:pic>
        <p:nvPicPr>
          <p:cNvPr id="12" name="Picture 11">
            <a:extLst>
              <a:ext uri="{FF2B5EF4-FFF2-40B4-BE49-F238E27FC236}">
                <a16:creationId xmlns:a16="http://schemas.microsoft.com/office/drawing/2014/main" id="{769C89DB-5A58-5E88-19B4-133D499FE2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25600" y="3619500"/>
            <a:ext cx="3733800" cy="3539430"/>
          </a:xfrm>
          <a:prstGeom prst="rect">
            <a:avLst/>
          </a:prstGeom>
        </p:spPr>
      </p:pic>
    </p:spTree>
    <p:extLst>
      <p:ext uri="{BB962C8B-B14F-4D97-AF65-F5344CB8AC3E}">
        <p14:creationId xmlns:p14="http://schemas.microsoft.com/office/powerpoint/2010/main" val="298369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36239" y="860416"/>
            <a:ext cx="16015522" cy="8756850"/>
            <a:chOff x="0" y="0"/>
            <a:chExt cx="21354029" cy="11675800"/>
          </a:xfrm>
        </p:grpSpPr>
        <p:sp>
          <p:nvSpPr>
            <p:cNvPr id="3" name="TextBox 3"/>
            <p:cNvSpPr txBox="1"/>
            <p:nvPr/>
          </p:nvSpPr>
          <p:spPr>
            <a:xfrm>
              <a:off x="0" y="0"/>
              <a:ext cx="21354029" cy="1246923"/>
            </a:xfrm>
            <a:prstGeom prst="rect">
              <a:avLst/>
            </a:prstGeom>
          </p:spPr>
          <p:txBody>
            <a:bodyPr lIns="0" tIns="0" rIns="0" bIns="0" rtlCol="0" anchor="t">
              <a:spAutoFit/>
            </a:bodyPr>
            <a:lstStyle/>
            <a:p>
              <a:pPr>
                <a:lnSpc>
                  <a:spcPts val="7276"/>
                </a:lnSpc>
              </a:pPr>
              <a:r>
                <a:rPr lang="en-US" sz="6063" dirty="0">
                  <a:solidFill>
                    <a:srgbClr val="4C758D"/>
                  </a:solidFill>
                  <a:latin typeface="HK Grotesk Bold"/>
                </a:rPr>
                <a:t>LIMITATIONS AND GAPS</a:t>
              </a:r>
            </a:p>
          </p:txBody>
        </p:sp>
        <p:sp>
          <p:nvSpPr>
            <p:cNvPr id="4" name="TextBox 4"/>
            <p:cNvSpPr txBox="1"/>
            <p:nvPr/>
          </p:nvSpPr>
          <p:spPr>
            <a:xfrm>
              <a:off x="0" y="1807477"/>
              <a:ext cx="21354029" cy="9868323"/>
            </a:xfrm>
            <a:prstGeom prst="rect">
              <a:avLst/>
            </a:prstGeom>
          </p:spPr>
          <p:txBody>
            <a:bodyPr lIns="0" tIns="0" rIns="0" bIns="0" rtlCol="0" anchor="t">
              <a:spAutoFit/>
            </a:bodyPr>
            <a:lstStyle/>
            <a:p>
              <a:pPr marL="604519" lvl="1" indent="-302260">
                <a:lnSpc>
                  <a:spcPts val="3919"/>
                </a:lnSpc>
                <a:buFont typeface="Arial"/>
                <a:buChar char="•"/>
              </a:pPr>
              <a:r>
                <a:rPr lang="en-US" sz="2799" dirty="0">
                  <a:solidFill>
                    <a:srgbClr val="000000"/>
                  </a:solidFill>
                  <a:latin typeface="HK Grotesk Bold"/>
                </a:rPr>
                <a:t>Lack of personalization:</a:t>
              </a:r>
              <a:r>
                <a:rPr lang="en-US" sz="2799" dirty="0">
                  <a:solidFill>
                    <a:srgbClr val="000000"/>
                  </a:solidFill>
                  <a:latin typeface="HK Grotesk"/>
                </a:rPr>
                <a:t> Many existing healthcare bots provide generic information and responses, which may not be tailored to the specific needs and conditions of individual patients. This can lead to inaccurate or incomplete advice.</a:t>
              </a:r>
            </a:p>
            <a:p>
              <a:pPr marL="604519" lvl="1" indent="-302260">
                <a:lnSpc>
                  <a:spcPts val="3919"/>
                </a:lnSpc>
                <a:buFont typeface="Arial"/>
                <a:buChar char="•"/>
              </a:pPr>
              <a:r>
                <a:rPr lang="en-US" sz="2799" dirty="0">
                  <a:solidFill>
                    <a:srgbClr val="000000"/>
                  </a:solidFill>
                  <a:latin typeface="HK Grotesk Bold"/>
                </a:rPr>
                <a:t>Limited understanding of context:</a:t>
              </a:r>
              <a:r>
                <a:rPr lang="en-US" sz="2799" dirty="0">
                  <a:solidFill>
                    <a:srgbClr val="000000"/>
                  </a:solidFill>
                  <a:latin typeface="HK Grotesk"/>
                </a:rPr>
                <a:t> Healthcare bots often struggle to understand and interpret complex medical queries or symptoms due to their limited understanding of context. This can result in incorrect diagnoses or recommendations.</a:t>
              </a:r>
            </a:p>
            <a:p>
              <a:pPr marL="604519" lvl="1" indent="-302260">
                <a:lnSpc>
                  <a:spcPts val="3919"/>
                </a:lnSpc>
                <a:buFont typeface="Arial"/>
                <a:buChar char="•"/>
              </a:pPr>
              <a:r>
                <a:rPr lang="en-US" sz="2799" dirty="0">
                  <a:solidFill>
                    <a:srgbClr val="000000"/>
                  </a:solidFill>
                  <a:latin typeface="HK Grotesk Bold"/>
                </a:rPr>
                <a:t>Inability to handle emergencies:</a:t>
              </a:r>
              <a:r>
                <a:rPr lang="en-US" sz="2799" dirty="0">
                  <a:solidFill>
                    <a:srgbClr val="000000"/>
                  </a:solidFill>
                  <a:latin typeface="HK Grotesk"/>
                </a:rPr>
                <a:t> Existing healthcare bots are typically not equipped to handle emergency situations or provide immediate assistance in critical conditions. They may lack the ability to recognize urgent symptoms and direct patients to seek immediate medical attention.</a:t>
              </a:r>
            </a:p>
            <a:p>
              <a:pPr marL="604519" lvl="1" indent="-302260">
                <a:lnSpc>
                  <a:spcPts val="3919"/>
                </a:lnSpc>
                <a:buFont typeface="Arial"/>
                <a:buChar char="•"/>
              </a:pPr>
              <a:r>
                <a:rPr lang="en-US" sz="2799" dirty="0">
                  <a:solidFill>
                    <a:srgbClr val="000000"/>
                  </a:solidFill>
                  <a:latin typeface="HK Grotesk Bold"/>
                </a:rPr>
                <a:t>Ethical concerns:</a:t>
              </a:r>
              <a:r>
                <a:rPr lang="en-US" sz="2799" dirty="0">
                  <a:solidFill>
                    <a:srgbClr val="000000"/>
                  </a:solidFill>
                  <a:latin typeface="HK Grotesk"/>
                </a:rPr>
                <a:t> Healthcare bots might face ethical challenges when it comes to handling sensitive patient information, maintaining privacy, and ensuring data security. Patients may have concerns about sharing personal health data with a bot.</a:t>
              </a:r>
            </a:p>
            <a:p>
              <a:pPr marL="604519" lvl="1" indent="-302260">
                <a:lnSpc>
                  <a:spcPts val="3919"/>
                </a:lnSpc>
                <a:buFont typeface="Arial"/>
                <a:buChar char="•"/>
              </a:pPr>
              <a:r>
                <a:rPr lang="en-US" sz="2799" dirty="0">
                  <a:solidFill>
                    <a:srgbClr val="000000"/>
                  </a:solidFill>
                  <a:latin typeface="HK Grotesk Bold"/>
                </a:rPr>
                <a:t>Lack of human touch:</a:t>
              </a:r>
              <a:r>
                <a:rPr lang="en-US" sz="2799" dirty="0">
                  <a:solidFill>
                    <a:srgbClr val="000000"/>
                  </a:solidFill>
                  <a:latin typeface="HK Grotesk"/>
                </a:rPr>
                <a:t> Some patients prefer human interaction and empathy when discussing their health concerns. Existing healthcare bots often lack the ability to provide emotional support or empathetic responses, which can be important in certain healthcare scenarios.</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7882111" cy="10287000"/>
          </a:xfrm>
          <a:prstGeom prst="rect">
            <a:avLst/>
          </a:prstGeom>
          <a:solidFill>
            <a:srgbClr val="84A1B2"/>
          </a:solidFill>
        </p:spPr>
        <p:txBody>
          <a:bodyPr/>
          <a:lstStyle/>
          <a:p>
            <a:endParaRPr lang="en-IN"/>
          </a:p>
        </p:txBody>
      </p:sp>
      <p:sp>
        <p:nvSpPr>
          <p:cNvPr id="3" name="AutoShape 3"/>
          <p:cNvSpPr/>
          <p:nvPr/>
        </p:nvSpPr>
        <p:spPr>
          <a:xfrm>
            <a:off x="8919147" y="3021833"/>
            <a:ext cx="7508066" cy="0"/>
          </a:xfrm>
          <a:prstGeom prst="line">
            <a:avLst/>
          </a:prstGeom>
          <a:ln w="9525" cap="rnd">
            <a:solidFill>
              <a:srgbClr val="000000">
                <a:alpha val="40000"/>
              </a:srgbClr>
            </a:solidFill>
            <a:prstDash val="solid"/>
            <a:headEnd type="none" w="sm" len="sm"/>
            <a:tailEnd type="none" w="sm" len="sm"/>
          </a:ln>
        </p:spPr>
        <p:txBody>
          <a:bodyPr/>
          <a:lstStyle/>
          <a:p>
            <a:endParaRPr lang="en-IN"/>
          </a:p>
        </p:txBody>
      </p:sp>
      <p:sp>
        <p:nvSpPr>
          <p:cNvPr id="4" name="AutoShape 4"/>
          <p:cNvSpPr/>
          <p:nvPr/>
        </p:nvSpPr>
        <p:spPr>
          <a:xfrm>
            <a:off x="8919147" y="6932127"/>
            <a:ext cx="7508066" cy="0"/>
          </a:xfrm>
          <a:prstGeom prst="line">
            <a:avLst/>
          </a:prstGeom>
          <a:ln w="9525" cap="rnd">
            <a:solidFill>
              <a:srgbClr val="000000">
                <a:alpha val="40000"/>
              </a:srgbClr>
            </a:solidFill>
            <a:prstDash val="solid"/>
            <a:headEnd type="none" w="sm" len="sm"/>
            <a:tailEnd type="none" w="sm" len="sm"/>
          </a:ln>
        </p:spPr>
        <p:txBody>
          <a:bodyPr/>
          <a:lstStyle/>
          <a:p>
            <a:endParaRPr lang="en-IN"/>
          </a:p>
        </p:txBody>
      </p:sp>
      <p:sp>
        <p:nvSpPr>
          <p:cNvPr id="5" name="Freeform 5"/>
          <p:cNvSpPr/>
          <p:nvPr/>
        </p:nvSpPr>
        <p:spPr>
          <a:xfrm>
            <a:off x="745485" y="5322455"/>
            <a:ext cx="5903768" cy="3935845"/>
          </a:xfrm>
          <a:custGeom>
            <a:avLst/>
            <a:gdLst/>
            <a:ahLst/>
            <a:cxnLst/>
            <a:rect l="l" t="t" r="r" b="b"/>
            <a:pathLst>
              <a:path w="5903768" h="3935845">
                <a:moveTo>
                  <a:pt x="0" y="0"/>
                </a:moveTo>
                <a:lnTo>
                  <a:pt x="5903767" y="0"/>
                </a:lnTo>
                <a:lnTo>
                  <a:pt x="5903767" y="3935845"/>
                </a:lnTo>
                <a:lnTo>
                  <a:pt x="0" y="3935845"/>
                </a:lnTo>
                <a:lnTo>
                  <a:pt x="0" y="0"/>
                </a:lnTo>
                <a:close/>
              </a:path>
            </a:pathLst>
          </a:custGeom>
          <a:blipFill>
            <a:blip r:embed="rId2"/>
            <a:stretch>
              <a:fillRect/>
            </a:stretch>
          </a:blipFill>
        </p:spPr>
        <p:txBody>
          <a:bodyPr/>
          <a:lstStyle/>
          <a:p>
            <a:endParaRPr lang="en-IN"/>
          </a:p>
        </p:txBody>
      </p:sp>
      <p:sp>
        <p:nvSpPr>
          <p:cNvPr id="6" name="TextBox 6"/>
          <p:cNvSpPr txBox="1"/>
          <p:nvPr/>
        </p:nvSpPr>
        <p:spPr>
          <a:xfrm>
            <a:off x="8919147" y="1321860"/>
            <a:ext cx="763884" cy="695325"/>
          </a:xfrm>
          <a:prstGeom prst="rect">
            <a:avLst/>
          </a:prstGeom>
        </p:spPr>
        <p:txBody>
          <a:bodyPr lIns="0" tIns="0" rIns="0" bIns="0" rtlCol="0" anchor="t">
            <a:spAutoFit/>
          </a:bodyPr>
          <a:lstStyle/>
          <a:p>
            <a:pPr>
              <a:lnSpc>
                <a:spcPts val="5400"/>
              </a:lnSpc>
            </a:pPr>
            <a:r>
              <a:rPr lang="en-US" sz="4500">
                <a:solidFill>
                  <a:srgbClr val="4C758D"/>
                </a:solidFill>
                <a:latin typeface="HK Grotesk Semi-Bold"/>
              </a:rPr>
              <a:t>01</a:t>
            </a:r>
          </a:p>
        </p:txBody>
      </p:sp>
      <p:sp>
        <p:nvSpPr>
          <p:cNvPr id="7" name="TextBox 7"/>
          <p:cNvSpPr txBox="1"/>
          <p:nvPr/>
        </p:nvSpPr>
        <p:spPr>
          <a:xfrm>
            <a:off x="374771" y="860691"/>
            <a:ext cx="7769329" cy="4124325"/>
          </a:xfrm>
          <a:prstGeom prst="rect">
            <a:avLst/>
          </a:prstGeom>
        </p:spPr>
        <p:txBody>
          <a:bodyPr lIns="0" tIns="0" rIns="0" bIns="0" rtlCol="0" anchor="t">
            <a:spAutoFit/>
          </a:bodyPr>
          <a:lstStyle/>
          <a:p>
            <a:pPr>
              <a:lnSpc>
                <a:spcPts val="10800"/>
              </a:lnSpc>
            </a:pPr>
            <a:r>
              <a:rPr lang="en-US" sz="9000">
                <a:solidFill>
                  <a:srgbClr val="000000"/>
                </a:solidFill>
                <a:latin typeface="HK Grotesk Semi-Bold"/>
              </a:rPr>
              <a:t>EXISTING HEALTHCARE SYSTEM</a:t>
            </a:r>
          </a:p>
        </p:txBody>
      </p:sp>
      <p:grpSp>
        <p:nvGrpSpPr>
          <p:cNvPr id="8" name="Group 8"/>
          <p:cNvGrpSpPr/>
          <p:nvPr/>
        </p:nvGrpSpPr>
        <p:grpSpPr>
          <a:xfrm>
            <a:off x="10237172" y="870216"/>
            <a:ext cx="7014662" cy="1608137"/>
            <a:chOff x="0" y="0"/>
            <a:chExt cx="9352882" cy="2144183"/>
          </a:xfrm>
        </p:grpSpPr>
        <p:sp>
          <p:nvSpPr>
            <p:cNvPr id="9" name="TextBox 9"/>
            <p:cNvSpPr txBox="1"/>
            <p:nvPr/>
          </p:nvSpPr>
          <p:spPr>
            <a:xfrm>
              <a:off x="0" y="-9525"/>
              <a:ext cx="9352882" cy="619125"/>
            </a:xfrm>
            <a:prstGeom prst="rect">
              <a:avLst/>
            </a:prstGeom>
          </p:spPr>
          <p:txBody>
            <a:bodyPr lIns="0" tIns="0" rIns="0" bIns="0" rtlCol="0" anchor="t">
              <a:spAutoFit/>
            </a:bodyPr>
            <a:lstStyle/>
            <a:p>
              <a:pPr>
                <a:lnSpc>
                  <a:spcPts val="3600"/>
                </a:lnSpc>
              </a:pPr>
              <a:r>
                <a:rPr lang="en-US" sz="3000">
                  <a:solidFill>
                    <a:srgbClr val="000000"/>
                  </a:solidFill>
                  <a:latin typeface="HK Grotesk Semi-Bold"/>
                </a:rPr>
                <a:t>TRADITIONAL HEALTHCARE</a:t>
              </a:r>
            </a:p>
          </p:txBody>
        </p:sp>
        <p:sp>
          <p:nvSpPr>
            <p:cNvPr id="10" name="TextBox 10"/>
            <p:cNvSpPr txBox="1"/>
            <p:nvPr/>
          </p:nvSpPr>
          <p:spPr>
            <a:xfrm>
              <a:off x="0" y="779992"/>
              <a:ext cx="9352882" cy="1389592"/>
            </a:xfrm>
            <a:prstGeom prst="rect">
              <a:avLst/>
            </a:prstGeom>
          </p:spPr>
          <p:txBody>
            <a:bodyPr lIns="0" tIns="0" rIns="0" bIns="0" rtlCol="0" anchor="t">
              <a:spAutoFit/>
            </a:bodyPr>
            <a:lstStyle/>
            <a:p>
              <a:pPr>
                <a:lnSpc>
                  <a:spcPts val="2800"/>
                </a:lnSpc>
              </a:pPr>
              <a:r>
                <a:rPr lang="en-US" sz="2000">
                  <a:solidFill>
                    <a:srgbClr val="000000"/>
                  </a:solidFill>
                  <a:latin typeface="HK Grotesk"/>
                </a:rPr>
                <a:t>•Patients need to book an appointment to see a doctor</a:t>
              </a:r>
            </a:p>
            <a:p>
              <a:pPr>
                <a:lnSpc>
                  <a:spcPts val="2800"/>
                </a:lnSpc>
              </a:pPr>
              <a:r>
                <a:rPr lang="en-US" sz="2000">
                  <a:solidFill>
                    <a:srgbClr val="000000"/>
                  </a:solidFill>
                  <a:latin typeface="HK Grotesk"/>
                </a:rPr>
                <a:t>•Long waiting times before seeing healthcare providers</a:t>
              </a:r>
            </a:p>
            <a:p>
              <a:pPr>
                <a:lnSpc>
                  <a:spcPts val="2800"/>
                </a:lnSpc>
              </a:pPr>
              <a:r>
                <a:rPr lang="en-US" sz="2000">
                  <a:solidFill>
                    <a:srgbClr val="000000"/>
                  </a:solidFill>
                  <a:latin typeface="HK Grotesk"/>
                </a:rPr>
                <a:t>•Hospital staff sometimes overlook patient needs</a:t>
              </a:r>
            </a:p>
          </p:txBody>
        </p:sp>
      </p:grpSp>
      <p:grpSp>
        <p:nvGrpSpPr>
          <p:cNvPr id="11" name="Group 11"/>
          <p:cNvGrpSpPr/>
          <p:nvPr/>
        </p:nvGrpSpPr>
        <p:grpSpPr>
          <a:xfrm>
            <a:off x="10244638" y="3631883"/>
            <a:ext cx="7014662" cy="2666832"/>
            <a:chOff x="0" y="0"/>
            <a:chExt cx="9352882" cy="3555776"/>
          </a:xfrm>
        </p:grpSpPr>
        <p:sp>
          <p:nvSpPr>
            <p:cNvPr id="12" name="TextBox 12"/>
            <p:cNvSpPr txBox="1"/>
            <p:nvPr/>
          </p:nvSpPr>
          <p:spPr>
            <a:xfrm>
              <a:off x="0" y="-9525"/>
              <a:ext cx="9352882" cy="619450"/>
            </a:xfrm>
            <a:prstGeom prst="rect">
              <a:avLst/>
            </a:prstGeom>
          </p:spPr>
          <p:txBody>
            <a:bodyPr lIns="0" tIns="0" rIns="0" bIns="0" rtlCol="0" anchor="t">
              <a:spAutoFit/>
            </a:bodyPr>
            <a:lstStyle/>
            <a:p>
              <a:pPr>
                <a:lnSpc>
                  <a:spcPts val="3601"/>
                </a:lnSpc>
              </a:pPr>
              <a:r>
                <a:rPr lang="en-US" sz="3001">
                  <a:solidFill>
                    <a:srgbClr val="000000"/>
                  </a:solidFill>
                  <a:latin typeface="HK Grotesk Semi-Bold"/>
                </a:rPr>
                <a:t>AI CHATBOT HEALTHCARE</a:t>
              </a:r>
            </a:p>
          </p:txBody>
        </p:sp>
        <p:sp>
          <p:nvSpPr>
            <p:cNvPr id="13" name="TextBox 13"/>
            <p:cNvSpPr txBox="1"/>
            <p:nvPr/>
          </p:nvSpPr>
          <p:spPr>
            <a:xfrm>
              <a:off x="0" y="780432"/>
              <a:ext cx="9352882" cy="2800757"/>
            </a:xfrm>
            <a:prstGeom prst="rect">
              <a:avLst/>
            </a:prstGeom>
          </p:spPr>
          <p:txBody>
            <a:bodyPr lIns="0" tIns="0" rIns="0" bIns="0" rtlCol="0" anchor="t">
              <a:spAutoFit/>
            </a:bodyPr>
            <a:lstStyle/>
            <a:p>
              <a:pPr>
                <a:lnSpc>
                  <a:spcPts val="2801"/>
                </a:lnSpc>
              </a:pPr>
              <a:r>
                <a:rPr lang="en-US" sz="2001">
                  <a:solidFill>
                    <a:srgbClr val="000000"/>
                  </a:solidFill>
                  <a:latin typeface="HK Grotesk Light"/>
                </a:rPr>
                <a:t>•Chatbots are available 24/7, improving availability and convenience.</a:t>
              </a:r>
            </a:p>
            <a:p>
              <a:pPr>
                <a:lnSpc>
                  <a:spcPts val="2801"/>
                </a:lnSpc>
              </a:pPr>
              <a:r>
                <a:rPr lang="en-US" sz="2001">
                  <a:solidFill>
                    <a:srgbClr val="000000"/>
                  </a:solidFill>
                  <a:latin typeface="HK Grotesk Light"/>
                </a:rPr>
                <a:t>•Use machine learning to learn from past experiences, identifying patterns and offering the best solution.</a:t>
              </a:r>
            </a:p>
            <a:p>
              <a:pPr>
                <a:lnSpc>
                  <a:spcPts val="2801"/>
                </a:lnSpc>
              </a:pPr>
              <a:r>
                <a:rPr lang="en-US" sz="2001">
                  <a:solidFill>
                    <a:srgbClr val="000000"/>
                  </a:solidFill>
                  <a:latin typeface="HK Grotesk Light"/>
                </a:rPr>
                <a:t>•Personalised care leads to patients feeling heard and their needs being addressed.</a:t>
              </a:r>
            </a:p>
          </p:txBody>
        </p:sp>
      </p:grpSp>
      <p:grpSp>
        <p:nvGrpSpPr>
          <p:cNvPr id="14" name="Group 14"/>
          <p:cNvGrpSpPr/>
          <p:nvPr/>
        </p:nvGrpSpPr>
        <p:grpSpPr>
          <a:xfrm>
            <a:off x="10240905" y="7566552"/>
            <a:ext cx="7010929" cy="1960562"/>
            <a:chOff x="0" y="0"/>
            <a:chExt cx="9347905" cy="2614083"/>
          </a:xfrm>
        </p:grpSpPr>
        <p:sp>
          <p:nvSpPr>
            <p:cNvPr id="15" name="TextBox 15"/>
            <p:cNvSpPr txBox="1"/>
            <p:nvPr/>
          </p:nvSpPr>
          <p:spPr>
            <a:xfrm>
              <a:off x="0" y="-9525"/>
              <a:ext cx="9347905" cy="619125"/>
            </a:xfrm>
            <a:prstGeom prst="rect">
              <a:avLst/>
            </a:prstGeom>
          </p:spPr>
          <p:txBody>
            <a:bodyPr lIns="0" tIns="0" rIns="0" bIns="0" rtlCol="0" anchor="t">
              <a:spAutoFit/>
            </a:bodyPr>
            <a:lstStyle/>
            <a:p>
              <a:pPr>
                <a:lnSpc>
                  <a:spcPts val="3600"/>
                </a:lnSpc>
              </a:pPr>
              <a:r>
                <a:rPr lang="en-US" sz="3000">
                  <a:solidFill>
                    <a:srgbClr val="000000"/>
                  </a:solidFill>
                  <a:latin typeface="HK Grotesk Semi-Bold"/>
                </a:rPr>
                <a:t>AFFORDABLE HEALTHCARE</a:t>
              </a:r>
            </a:p>
          </p:txBody>
        </p:sp>
        <p:sp>
          <p:nvSpPr>
            <p:cNvPr id="16" name="TextBox 16"/>
            <p:cNvSpPr txBox="1"/>
            <p:nvPr/>
          </p:nvSpPr>
          <p:spPr>
            <a:xfrm>
              <a:off x="0" y="779992"/>
              <a:ext cx="9347905" cy="1859492"/>
            </a:xfrm>
            <a:prstGeom prst="rect">
              <a:avLst/>
            </a:prstGeom>
          </p:spPr>
          <p:txBody>
            <a:bodyPr lIns="0" tIns="0" rIns="0" bIns="0" rtlCol="0" anchor="t">
              <a:spAutoFit/>
            </a:bodyPr>
            <a:lstStyle/>
            <a:p>
              <a:pPr>
                <a:lnSpc>
                  <a:spcPts val="2800"/>
                </a:lnSpc>
              </a:pPr>
              <a:r>
                <a:rPr lang="en-US" sz="2000">
                  <a:solidFill>
                    <a:srgbClr val="000000"/>
                  </a:solidFill>
                  <a:latin typeface="HK Grotesk Light"/>
                </a:rPr>
                <a:t>•Chatbots are a much cheaper alternative to human medical professionals.</a:t>
              </a:r>
            </a:p>
            <a:p>
              <a:pPr>
                <a:lnSpc>
                  <a:spcPts val="2800"/>
                </a:lnSpc>
              </a:pPr>
              <a:r>
                <a:rPr lang="en-US" sz="2000">
                  <a:solidFill>
                    <a:srgbClr val="000000"/>
                  </a:solidFill>
                  <a:latin typeface="HK Grotesk Light"/>
                </a:rPr>
                <a:t>•As chatbots don't have to be physically present, medical consultations can be handled remotely, further reducing costs.</a:t>
              </a:r>
            </a:p>
          </p:txBody>
        </p:sp>
      </p:grpSp>
      <p:sp>
        <p:nvSpPr>
          <p:cNvPr id="17" name="TextBox 17"/>
          <p:cNvSpPr txBox="1"/>
          <p:nvPr/>
        </p:nvSpPr>
        <p:spPr>
          <a:xfrm>
            <a:off x="8919147" y="4791075"/>
            <a:ext cx="763884" cy="695325"/>
          </a:xfrm>
          <a:prstGeom prst="rect">
            <a:avLst/>
          </a:prstGeom>
        </p:spPr>
        <p:txBody>
          <a:bodyPr lIns="0" tIns="0" rIns="0" bIns="0" rtlCol="0" anchor="t">
            <a:spAutoFit/>
          </a:bodyPr>
          <a:lstStyle/>
          <a:p>
            <a:pPr>
              <a:lnSpc>
                <a:spcPts val="5400"/>
              </a:lnSpc>
            </a:pPr>
            <a:r>
              <a:rPr lang="en-US" sz="4500">
                <a:solidFill>
                  <a:srgbClr val="4C758D"/>
                </a:solidFill>
                <a:latin typeface="HK Grotesk Semi-Bold"/>
              </a:rPr>
              <a:t>02</a:t>
            </a:r>
          </a:p>
        </p:txBody>
      </p:sp>
      <p:sp>
        <p:nvSpPr>
          <p:cNvPr id="18" name="TextBox 18"/>
          <p:cNvSpPr txBox="1"/>
          <p:nvPr/>
        </p:nvSpPr>
        <p:spPr>
          <a:xfrm>
            <a:off x="8919147" y="8194409"/>
            <a:ext cx="763884" cy="695325"/>
          </a:xfrm>
          <a:prstGeom prst="rect">
            <a:avLst/>
          </a:prstGeom>
        </p:spPr>
        <p:txBody>
          <a:bodyPr lIns="0" tIns="0" rIns="0" bIns="0" rtlCol="0" anchor="t">
            <a:spAutoFit/>
          </a:bodyPr>
          <a:lstStyle/>
          <a:p>
            <a:pPr>
              <a:lnSpc>
                <a:spcPts val="5400"/>
              </a:lnSpc>
            </a:pPr>
            <a:r>
              <a:rPr lang="en-US" sz="4500">
                <a:solidFill>
                  <a:srgbClr val="4C758D"/>
                </a:solidFill>
                <a:latin typeface="HK Grotesk Semi-Bold"/>
              </a:rPr>
              <a:t>03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49108" y="2287031"/>
            <a:ext cx="5477178" cy="3205975"/>
          </a:xfrm>
          <a:custGeom>
            <a:avLst/>
            <a:gdLst/>
            <a:ahLst/>
            <a:cxnLst/>
            <a:rect l="l" t="t" r="r" b="b"/>
            <a:pathLst>
              <a:path w="5477178" h="3205975">
                <a:moveTo>
                  <a:pt x="0" y="0"/>
                </a:moveTo>
                <a:lnTo>
                  <a:pt x="5477178" y="0"/>
                </a:lnTo>
                <a:lnTo>
                  <a:pt x="5477178" y="3205975"/>
                </a:lnTo>
                <a:lnTo>
                  <a:pt x="0" y="3205975"/>
                </a:lnTo>
                <a:lnTo>
                  <a:pt x="0" y="0"/>
                </a:lnTo>
                <a:close/>
              </a:path>
            </a:pathLst>
          </a:custGeom>
          <a:blipFill>
            <a:blip r:embed="rId2"/>
            <a:stretch>
              <a:fillRect/>
            </a:stretch>
          </a:blipFill>
        </p:spPr>
        <p:txBody>
          <a:bodyPr/>
          <a:lstStyle/>
          <a:p>
            <a:endParaRPr lang="en-IN"/>
          </a:p>
        </p:txBody>
      </p:sp>
      <p:sp>
        <p:nvSpPr>
          <p:cNvPr id="3" name="Freeform 3"/>
          <p:cNvSpPr/>
          <p:nvPr/>
        </p:nvSpPr>
        <p:spPr>
          <a:xfrm>
            <a:off x="11241577" y="2287031"/>
            <a:ext cx="4806559" cy="3205975"/>
          </a:xfrm>
          <a:custGeom>
            <a:avLst/>
            <a:gdLst/>
            <a:ahLst/>
            <a:cxnLst/>
            <a:rect l="l" t="t" r="r" b="b"/>
            <a:pathLst>
              <a:path w="4806559" h="3205975">
                <a:moveTo>
                  <a:pt x="0" y="0"/>
                </a:moveTo>
                <a:lnTo>
                  <a:pt x="4806559" y="0"/>
                </a:lnTo>
                <a:lnTo>
                  <a:pt x="4806559" y="3205975"/>
                </a:lnTo>
                <a:lnTo>
                  <a:pt x="0" y="3205975"/>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4687697" y="724931"/>
            <a:ext cx="9316787" cy="1228725"/>
          </a:xfrm>
          <a:prstGeom prst="rect">
            <a:avLst/>
          </a:prstGeom>
        </p:spPr>
        <p:txBody>
          <a:bodyPr lIns="0" tIns="0" rIns="0" bIns="0" rtlCol="0" anchor="t">
            <a:spAutoFit/>
          </a:bodyPr>
          <a:lstStyle/>
          <a:p>
            <a:pPr>
              <a:lnSpc>
                <a:spcPts val="9600"/>
              </a:lnSpc>
            </a:pPr>
            <a:r>
              <a:rPr lang="en-US" sz="8000" dirty="0">
                <a:solidFill>
                  <a:srgbClr val="000000"/>
                </a:solidFill>
                <a:latin typeface="HK Grotesk Semi-Bold"/>
              </a:rPr>
              <a:t>PROPOSED SYSTEM</a:t>
            </a:r>
          </a:p>
        </p:txBody>
      </p:sp>
      <p:sp>
        <p:nvSpPr>
          <p:cNvPr id="5" name="TextBox 5"/>
          <p:cNvSpPr txBox="1"/>
          <p:nvPr/>
        </p:nvSpPr>
        <p:spPr>
          <a:xfrm>
            <a:off x="2319001" y="6050507"/>
            <a:ext cx="4175284" cy="695325"/>
          </a:xfrm>
          <a:prstGeom prst="rect">
            <a:avLst/>
          </a:prstGeom>
        </p:spPr>
        <p:txBody>
          <a:bodyPr lIns="0" tIns="0" rIns="0" bIns="0" rtlCol="0" anchor="t">
            <a:spAutoFit/>
          </a:bodyPr>
          <a:lstStyle/>
          <a:p>
            <a:pPr algn="ctr">
              <a:lnSpc>
                <a:spcPts val="5400"/>
              </a:lnSpc>
              <a:spcBef>
                <a:spcPct val="0"/>
              </a:spcBef>
            </a:pPr>
            <a:r>
              <a:rPr lang="en-US" sz="4500">
                <a:solidFill>
                  <a:srgbClr val="000000"/>
                </a:solidFill>
                <a:latin typeface="HK Grotesk Semi-Bold"/>
              </a:rPr>
              <a:t>24/7 Availability</a:t>
            </a:r>
          </a:p>
        </p:txBody>
      </p:sp>
      <p:sp>
        <p:nvSpPr>
          <p:cNvPr id="6" name="TextBox 6"/>
          <p:cNvSpPr txBox="1"/>
          <p:nvPr/>
        </p:nvSpPr>
        <p:spPr>
          <a:xfrm>
            <a:off x="1670054" y="7069682"/>
            <a:ext cx="5473178" cy="1466850"/>
          </a:xfrm>
          <a:prstGeom prst="rect">
            <a:avLst/>
          </a:prstGeom>
        </p:spPr>
        <p:txBody>
          <a:bodyPr lIns="0" tIns="0" rIns="0" bIns="0" rtlCol="0" anchor="t">
            <a:spAutoFit/>
          </a:bodyPr>
          <a:lstStyle/>
          <a:p>
            <a:pPr algn="ctr">
              <a:lnSpc>
                <a:spcPts val="3840"/>
              </a:lnSpc>
              <a:spcBef>
                <a:spcPct val="0"/>
              </a:spcBef>
            </a:pPr>
            <a:r>
              <a:rPr lang="en-US" sz="3200">
                <a:solidFill>
                  <a:srgbClr val="000000"/>
                </a:solidFill>
                <a:latin typeface="HK Grotesk"/>
              </a:rPr>
              <a:t>Patients can get medical advice and assistance any time of the day through AI chatbots.</a:t>
            </a:r>
          </a:p>
        </p:txBody>
      </p:sp>
      <p:sp>
        <p:nvSpPr>
          <p:cNvPr id="7" name="TextBox 7"/>
          <p:cNvSpPr txBox="1"/>
          <p:nvPr/>
        </p:nvSpPr>
        <p:spPr>
          <a:xfrm>
            <a:off x="10409333" y="6050507"/>
            <a:ext cx="6964267" cy="695325"/>
          </a:xfrm>
          <a:prstGeom prst="rect">
            <a:avLst/>
          </a:prstGeom>
        </p:spPr>
        <p:txBody>
          <a:bodyPr wrap="square" lIns="0" tIns="0" rIns="0" bIns="0" rtlCol="0" anchor="t">
            <a:spAutoFit/>
          </a:bodyPr>
          <a:lstStyle/>
          <a:p>
            <a:pPr algn="ctr">
              <a:lnSpc>
                <a:spcPts val="5400"/>
              </a:lnSpc>
              <a:spcBef>
                <a:spcPct val="0"/>
              </a:spcBef>
            </a:pPr>
            <a:r>
              <a:rPr lang="en-US" sz="4500" dirty="0" err="1">
                <a:solidFill>
                  <a:srgbClr val="000000"/>
                </a:solidFill>
                <a:latin typeface="HK Grotesk Semi-Bold"/>
              </a:rPr>
              <a:t>Personalised</a:t>
            </a:r>
            <a:r>
              <a:rPr lang="en-US" sz="4500" dirty="0">
                <a:solidFill>
                  <a:srgbClr val="000000"/>
                </a:solidFill>
                <a:latin typeface="HK Grotesk Semi-Bold"/>
              </a:rPr>
              <a:t> Patient Care</a:t>
            </a:r>
          </a:p>
        </p:txBody>
      </p:sp>
      <p:sp>
        <p:nvSpPr>
          <p:cNvPr id="8" name="TextBox 8"/>
          <p:cNvSpPr txBox="1"/>
          <p:nvPr/>
        </p:nvSpPr>
        <p:spPr>
          <a:xfrm>
            <a:off x="10788253" y="7069682"/>
            <a:ext cx="5713208" cy="1952625"/>
          </a:xfrm>
          <a:prstGeom prst="rect">
            <a:avLst/>
          </a:prstGeom>
        </p:spPr>
        <p:txBody>
          <a:bodyPr lIns="0" tIns="0" rIns="0" bIns="0" rtlCol="0" anchor="t">
            <a:spAutoFit/>
          </a:bodyPr>
          <a:lstStyle/>
          <a:p>
            <a:pPr algn="ctr">
              <a:lnSpc>
                <a:spcPts val="3839"/>
              </a:lnSpc>
              <a:spcBef>
                <a:spcPct val="0"/>
              </a:spcBef>
            </a:pPr>
            <a:r>
              <a:rPr lang="en-US" sz="3199" dirty="0">
                <a:solidFill>
                  <a:srgbClr val="000000"/>
                </a:solidFill>
                <a:latin typeface="HK Grotesk"/>
              </a:rPr>
              <a:t>Patients can receive </a:t>
            </a:r>
            <a:r>
              <a:rPr lang="en-US" sz="3199" dirty="0" err="1">
                <a:solidFill>
                  <a:srgbClr val="000000"/>
                </a:solidFill>
                <a:latin typeface="HK Grotesk"/>
              </a:rPr>
              <a:t>individualised</a:t>
            </a:r>
            <a:r>
              <a:rPr lang="en-US" sz="3199" dirty="0">
                <a:solidFill>
                  <a:srgbClr val="000000"/>
                </a:solidFill>
                <a:latin typeface="HK Grotesk"/>
              </a:rPr>
              <a:t> recommendations based on their medical history and preferences.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1094871" y="2263647"/>
            <a:ext cx="5564908" cy="3120260"/>
          </a:xfrm>
          <a:custGeom>
            <a:avLst/>
            <a:gdLst/>
            <a:ahLst/>
            <a:cxnLst/>
            <a:rect l="l" t="t" r="r" b="b"/>
            <a:pathLst>
              <a:path w="5564908" h="3120260">
                <a:moveTo>
                  <a:pt x="0" y="0"/>
                </a:moveTo>
                <a:lnTo>
                  <a:pt x="5564909" y="0"/>
                </a:lnTo>
                <a:lnTo>
                  <a:pt x="5564909" y="3120260"/>
                </a:lnTo>
                <a:lnTo>
                  <a:pt x="0" y="3120260"/>
                </a:lnTo>
                <a:lnTo>
                  <a:pt x="0" y="0"/>
                </a:lnTo>
                <a:close/>
              </a:path>
            </a:pathLst>
          </a:custGeom>
          <a:blipFill>
            <a:blip r:embed="rId2"/>
            <a:stretch>
              <a:fillRect/>
            </a:stretch>
          </a:blipFill>
        </p:spPr>
        <p:txBody>
          <a:bodyPr/>
          <a:lstStyle/>
          <a:p>
            <a:endParaRPr lang="en-IN"/>
          </a:p>
        </p:txBody>
      </p:sp>
      <p:sp>
        <p:nvSpPr>
          <p:cNvPr id="3" name="Freeform 3"/>
          <p:cNvSpPr/>
          <p:nvPr/>
        </p:nvSpPr>
        <p:spPr>
          <a:xfrm>
            <a:off x="1635804" y="2263647"/>
            <a:ext cx="5938934" cy="3120260"/>
          </a:xfrm>
          <a:custGeom>
            <a:avLst/>
            <a:gdLst/>
            <a:ahLst/>
            <a:cxnLst/>
            <a:rect l="l" t="t" r="r" b="b"/>
            <a:pathLst>
              <a:path w="5938934" h="3120260">
                <a:moveTo>
                  <a:pt x="0" y="0"/>
                </a:moveTo>
                <a:lnTo>
                  <a:pt x="5938934" y="0"/>
                </a:lnTo>
                <a:lnTo>
                  <a:pt x="5938934" y="3120260"/>
                </a:lnTo>
                <a:lnTo>
                  <a:pt x="0" y="3120260"/>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4689225" y="730122"/>
            <a:ext cx="9289106" cy="1228725"/>
          </a:xfrm>
          <a:prstGeom prst="rect">
            <a:avLst/>
          </a:prstGeom>
        </p:spPr>
        <p:txBody>
          <a:bodyPr lIns="0" tIns="0" rIns="0" bIns="0" rtlCol="0" anchor="t">
            <a:spAutoFit/>
          </a:bodyPr>
          <a:lstStyle/>
          <a:p>
            <a:pPr>
              <a:lnSpc>
                <a:spcPts val="9600"/>
              </a:lnSpc>
            </a:pPr>
            <a:r>
              <a:rPr lang="en-US" sz="8000">
                <a:solidFill>
                  <a:srgbClr val="000000"/>
                </a:solidFill>
                <a:latin typeface="HK Grotesk Semi-Bold"/>
              </a:rPr>
              <a:t>PROPOSED SYSTEM</a:t>
            </a:r>
          </a:p>
        </p:txBody>
      </p:sp>
      <p:sp>
        <p:nvSpPr>
          <p:cNvPr id="5" name="TextBox 5"/>
          <p:cNvSpPr txBox="1"/>
          <p:nvPr/>
        </p:nvSpPr>
        <p:spPr>
          <a:xfrm>
            <a:off x="1116379" y="5679182"/>
            <a:ext cx="7145691" cy="1381125"/>
          </a:xfrm>
          <a:prstGeom prst="rect">
            <a:avLst/>
          </a:prstGeom>
        </p:spPr>
        <p:txBody>
          <a:bodyPr lIns="0" tIns="0" rIns="0" bIns="0" rtlCol="0" anchor="t">
            <a:spAutoFit/>
          </a:bodyPr>
          <a:lstStyle/>
          <a:p>
            <a:pPr algn="ctr">
              <a:lnSpc>
                <a:spcPts val="5400"/>
              </a:lnSpc>
              <a:spcBef>
                <a:spcPct val="0"/>
              </a:spcBef>
            </a:pPr>
            <a:r>
              <a:rPr lang="en-US" sz="4500">
                <a:solidFill>
                  <a:srgbClr val="000000"/>
                </a:solidFill>
                <a:latin typeface="HK Grotesk Semi-Bold"/>
              </a:rPr>
              <a:t>Machine Learning-Powered Automation</a:t>
            </a:r>
          </a:p>
        </p:txBody>
      </p:sp>
      <p:sp>
        <p:nvSpPr>
          <p:cNvPr id="6" name="TextBox 6"/>
          <p:cNvSpPr txBox="1"/>
          <p:nvPr/>
        </p:nvSpPr>
        <p:spPr>
          <a:xfrm>
            <a:off x="10698464" y="5679182"/>
            <a:ext cx="6357723" cy="1381125"/>
          </a:xfrm>
          <a:prstGeom prst="rect">
            <a:avLst/>
          </a:prstGeom>
        </p:spPr>
        <p:txBody>
          <a:bodyPr lIns="0" tIns="0" rIns="0" bIns="0" rtlCol="0" anchor="t">
            <a:spAutoFit/>
          </a:bodyPr>
          <a:lstStyle/>
          <a:p>
            <a:pPr algn="ctr">
              <a:lnSpc>
                <a:spcPts val="5400"/>
              </a:lnSpc>
              <a:spcBef>
                <a:spcPct val="0"/>
              </a:spcBef>
            </a:pPr>
            <a:r>
              <a:rPr lang="en-US" sz="4500">
                <a:solidFill>
                  <a:srgbClr val="000000"/>
                </a:solidFill>
                <a:latin typeface="HK Grotesk Semi-Bold"/>
              </a:rPr>
              <a:t>Virtual Healthcare Providers</a:t>
            </a:r>
          </a:p>
        </p:txBody>
      </p:sp>
      <p:sp>
        <p:nvSpPr>
          <p:cNvPr id="7" name="TextBox 7"/>
          <p:cNvSpPr txBox="1"/>
          <p:nvPr/>
        </p:nvSpPr>
        <p:spPr>
          <a:xfrm>
            <a:off x="11094871" y="7355582"/>
            <a:ext cx="5564908" cy="1952625"/>
          </a:xfrm>
          <a:prstGeom prst="rect">
            <a:avLst/>
          </a:prstGeom>
        </p:spPr>
        <p:txBody>
          <a:bodyPr lIns="0" tIns="0" rIns="0" bIns="0" rtlCol="0" anchor="t">
            <a:spAutoFit/>
          </a:bodyPr>
          <a:lstStyle/>
          <a:p>
            <a:pPr algn="ctr">
              <a:lnSpc>
                <a:spcPts val="3839"/>
              </a:lnSpc>
              <a:spcBef>
                <a:spcPct val="0"/>
              </a:spcBef>
            </a:pPr>
            <a:r>
              <a:rPr lang="en-US" sz="3199">
                <a:solidFill>
                  <a:srgbClr val="000000"/>
                </a:solidFill>
                <a:latin typeface="HK Grotesk"/>
              </a:rPr>
              <a:t>Chatbots can replace the work of healthcare providers with cheaper, more convenient, and 24/7 availability.</a:t>
            </a:r>
          </a:p>
        </p:txBody>
      </p:sp>
      <p:sp>
        <p:nvSpPr>
          <p:cNvPr id="8" name="TextBox 8"/>
          <p:cNvSpPr txBox="1"/>
          <p:nvPr/>
        </p:nvSpPr>
        <p:spPr>
          <a:xfrm>
            <a:off x="1635804" y="7355582"/>
            <a:ext cx="6106842" cy="2438400"/>
          </a:xfrm>
          <a:prstGeom prst="rect">
            <a:avLst/>
          </a:prstGeom>
        </p:spPr>
        <p:txBody>
          <a:bodyPr lIns="0" tIns="0" rIns="0" bIns="0" rtlCol="0" anchor="t">
            <a:spAutoFit/>
          </a:bodyPr>
          <a:lstStyle/>
          <a:p>
            <a:pPr algn="ctr">
              <a:lnSpc>
                <a:spcPts val="3839"/>
              </a:lnSpc>
              <a:spcBef>
                <a:spcPct val="0"/>
              </a:spcBef>
            </a:pPr>
            <a:r>
              <a:rPr lang="en-US" sz="3199">
                <a:solidFill>
                  <a:srgbClr val="000000"/>
                </a:solidFill>
                <a:latin typeface="HK Grotesk"/>
              </a:rPr>
              <a:t>Chatbots with machine learning technology learn from their previous interactions, improving functionality and the patient experience over 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882111" y="0"/>
            <a:ext cx="10405889" cy="10287000"/>
          </a:xfrm>
          <a:prstGeom prst="rect">
            <a:avLst/>
          </a:prstGeom>
          <a:solidFill>
            <a:srgbClr val="84A1B2"/>
          </a:solidFill>
        </p:spPr>
        <p:txBody>
          <a:bodyPr/>
          <a:lstStyle/>
          <a:p>
            <a:endParaRPr lang="en-IN"/>
          </a:p>
        </p:txBody>
      </p:sp>
      <p:sp>
        <p:nvSpPr>
          <p:cNvPr id="3" name="TextBox 3"/>
          <p:cNvSpPr txBox="1"/>
          <p:nvPr/>
        </p:nvSpPr>
        <p:spPr>
          <a:xfrm>
            <a:off x="607331" y="2326668"/>
            <a:ext cx="7180876" cy="5254597"/>
          </a:xfrm>
          <a:prstGeom prst="rect">
            <a:avLst/>
          </a:prstGeom>
        </p:spPr>
        <p:txBody>
          <a:bodyPr lIns="0" tIns="0" rIns="0" bIns="0" rtlCol="0" anchor="t">
            <a:spAutoFit/>
          </a:bodyPr>
          <a:lstStyle/>
          <a:p>
            <a:pPr>
              <a:lnSpc>
                <a:spcPts val="10324"/>
              </a:lnSpc>
            </a:pPr>
            <a:r>
              <a:rPr lang="en-US" sz="8604" dirty="0">
                <a:solidFill>
                  <a:srgbClr val="000000"/>
                </a:solidFill>
                <a:latin typeface="HK Grotesk Semi-Bold"/>
              </a:rPr>
              <a:t>ADVANTAGES OF </a:t>
            </a:r>
            <a:r>
              <a:rPr lang="en-US" sz="8604" dirty="0">
                <a:solidFill>
                  <a:srgbClr val="4C758D"/>
                </a:solidFill>
                <a:latin typeface="HK Grotesk Semi-Bold"/>
              </a:rPr>
              <a:t>PROPOSED SYSTEM</a:t>
            </a:r>
          </a:p>
        </p:txBody>
      </p:sp>
      <p:grpSp>
        <p:nvGrpSpPr>
          <p:cNvPr id="4" name="Group 4"/>
          <p:cNvGrpSpPr/>
          <p:nvPr/>
        </p:nvGrpSpPr>
        <p:grpSpPr>
          <a:xfrm>
            <a:off x="10357520" y="1331385"/>
            <a:ext cx="6672546" cy="1376997"/>
            <a:chOff x="0" y="0"/>
            <a:chExt cx="8896727" cy="1835997"/>
          </a:xfrm>
        </p:grpSpPr>
        <p:sp>
          <p:nvSpPr>
            <p:cNvPr id="5" name="TextBox 5"/>
            <p:cNvSpPr txBox="1"/>
            <p:nvPr/>
          </p:nvSpPr>
          <p:spPr>
            <a:xfrm>
              <a:off x="0" y="-9525"/>
              <a:ext cx="8896727" cy="619125"/>
            </a:xfrm>
            <a:prstGeom prst="rect">
              <a:avLst/>
            </a:prstGeom>
          </p:spPr>
          <p:txBody>
            <a:bodyPr lIns="0" tIns="0" rIns="0" bIns="0" rtlCol="0" anchor="t">
              <a:spAutoFit/>
            </a:bodyPr>
            <a:lstStyle/>
            <a:p>
              <a:pPr>
                <a:lnSpc>
                  <a:spcPts val="3600"/>
                </a:lnSpc>
              </a:pPr>
              <a:r>
                <a:rPr lang="en-US" sz="3000">
                  <a:solidFill>
                    <a:srgbClr val="000000"/>
                  </a:solidFill>
                  <a:latin typeface="HK Grotesk Semi-Bold"/>
                </a:rPr>
                <a:t>24/7 AVAILABILITY</a:t>
              </a:r>
            </a:p>
          </p:txBody>
        </p:sp>
        <p:sp>
          <p:nvSpPr>
            <p:cNvPr id="6" name="TextBox 6"/>
            <p:cNvSpPr txBox="1"/>
            <p:nvPr/>
          </p:nvSpPr>
          <p:spPr>
            <a:xfrm>
              <a:off x="0" y="754592"/>
              <a:ext cx="8896727" cy="1083945"/>
            </a:xfrm>
            <a:prstGeom prst="rect">
              <a:avLst/>
            </a:prstGeom>
          </p:spPr>
          <p:txBody>
            <a:bodyPr lIns="0" tIns="0" rIns="0" bIns="0" rtlCol="0" anchor="t">
              <a:spAutoFit/>
            </a:bodyPr>
            <a:lstStyle/>
            <a:p>
              <a:pPr>
                <a:lnSpc>
                  <a:spcPts val="3359"/>
                </a:lnSpc>
              </a:pPr>
              <a:r>
                <a:rPr lang="en-US" sz="2400">
                  <a:solidFill>
                    <a:srgbClr val="000000"/>
                  </a:solidFill>
                  <a:latin typeface="HK Grotesk Light"/>
                </a:rPr>
                <a:t>The chatbot is always ready to provide assistance, regardless of the time of day.</a:t>
              </a:r>
            </a:p>
          </p:txBody>
        </p:sp>
      </p:grpSp>
      <p:grpSp>
        <p:nvGrpSpPr>
          <p:cNvPr id="7" name="Group 7"/>
          <p:cNvGrpSpPr/>
          <p:nvPr/>
        </p:nvGrpSpPr>
        <p:grpSpPr>
          <a:xfrm>
            <a:off x="10357520" y="4277519"/>
            <a:ext cx="6672546" cy="1343977"/>
            <a:chOff x="0" y="0"/>
            <a:chExt cx="8896727" cy="1791970"/>
          </a:xfrm>
        </p:grpSpPr>
        <p:sp>
          <p:nvSpPr>
            <p:cNvPr id="8" name="TextBox 8"/>
            <p:cNvSpPr txBox="1"/>
            <p:nvPr/>
          </p:nvSpPr>
          <p:spPr>
            <a:xfrm>
              <a:off x="0" y="-9525"/>
              <a:ext cx="8896727" cy="619125"/>
            </a:xfrm>
            <a:prstGeom prst="rect">
              <a:avLst/>
            </a:prstGeom>
          </p:spPr>
          <p:txBody>
            <a:bodyPr lIns="0" tIns="0" rIns="0" bIns="0" rtlCol="0" anchor="t">
              <a:spAutoFit/>
            </a:bodyPr>
            <a:lstStyle/>
            <a:p>
              <a:pPr>
                <a:lnSpc>
                  <a:spcPts val="3600"/>
                </a:lnSpc>
              </a:pPr>
              <a:r>
                <a:rPr lang="en-US" sz="3000">
                  <a:solidFill>
                    <a:srgbClr val="000000"/>
                  </a:solidFill>
                  <a:latin typeface="HK Grotesk Semi-Bold"/>
                </a:rPr>
                <a:t>NO WAITING</a:t>
              </a:r>
            </a:p>
          </p:txBody>
        </p:sp>
        <p:sp>
          <p:nvSpPr>
            <p:cNvPr id="9" name="TextBox 9"/>
            <p:cNvSpPr txBox="1"/>
            <p:nvPr/>
          </p:nvSpPr>
          <p:spPr>
            <a:xfrm>
              <a:off x="0" y="779992"/>
              <a:ext cx="8896727" cy="1014518"/>
            </a:xfrm>
            <a:prstGeom prst="rect">
              <a:avLst/>
            </a:prstGeom>
          </p:spPr>
          <p:txBody>
            <a:bodyPr lIns="0" tIns="0" rIns="0" bIns="0" rtlCol="0" anchor="t">
              <a:spAutoFit/>
            </a:bodyPr>
            <a:lstStyle/>
            <a:p>
              <a:pPr>
                <a:lnSpc>
                  <a:spcPts val="3079"/>
                </a:lnSpc>
              </a:pPr>
              <a:r>
                <a:rPr lang="en-US" sz="2199">
                  <a:solidFill>
                    <a:srgbClr val="000000"/>
                  </a:solidFill>
                  <a:latin typeface="HK Grotesk Light"/>
                </a:rPr>
                <a:t>With the chatbot, users can avoid long waiting times at the hospital or clinic.</a:t>
              </a:r>
            </a:p>
          </p:txBody>
        </p:sp>
      </p:grpSp>
      <p:grpSp>
        <p:nvGrpSpPr>
          <p:cNvPr id="10" name="Group 10"/>
          <p:cNvGrpSpPr/>
          <p:nvPr/>
        </p:nvGrpSpPr>
        <p:grpSpPr>
          <a:xfrm>
            <a:off x="10357520" y="7223652"/>
            <a:ext cx="6672546" cy="1363027"/>
            <a:chOff x="0" y="0"/>
            <a:chExt cx="8896727" cy="1817370"/>
          </a:xfrm>
        </p:grpSpPr>
        <p:sp>
          <p:nvSpPr>
            <p:cNvPr id="11" name="TextBox 11"/>
            <p:cNvSpPr txBox="1"/>
            <p:nvPr/>
          </p:nvSpPr>
          <p:spPr>
            <a:xfrm>
              <a:off x="0" y="-9525"/>
              <a:ext cx="8896727" cy="619125"/>
            </a:xfrm>
            <a:prstGeom prst="rect">
              <a:avLst/>
            </a:prstGeom>
          </p:spPr>
          <p:txBody>
            <a:bodyPr lIns="0" tIns="0" rIns="0" bIns="0" rtlCol="0" anchor="t">
              <a:spAutoFit/>
            </a:bodyPr>
            <a:lstStyle/>
            <a:p>
              <a:pPr>
                <a:lnSpc>
                  <a:spcPts val="3600"/>
                </a:lnSpc>
              </a:pPr>
              <a:r>
                <a:rPr lang="en-US" sz="3000">
                  <a:solidFill>
                    <a:srgbClr val="000000"/>
                  </a:solidFill>
                  <a:latin typeface="HK Grotesk Semi-Bold"/>
                </a:rPr>
                <a:t>INCREASED EFFICIENCY</a:t>
              </a:r>
            </a:p>
          </p:txBody>
        </p:sp>
        <p:sp>
          <p:nvSpPr>
            <p:cNvPr id="12" name="TextBox 12"/>
            <p:cNvSpPr txBox="1"/>
            <p:nvPr/>
          </p:nvSpPr>
          <p:spPr>
            <a:xfrm>
              <a:off x="0" y="805392"/>
              <a:ext cx="8896727" cy="1014518"/>
            </a:xfrm>
            <a:prstGeom prst="rect">
              <a:avLst/>
            </a:prstGeom>
          </p:spPr>
          <p:txBody>
            <a:bodyPr lIns="0" tIns="0" rIns="0" bIns="0" rtlCol="0" anchor="t">
              <a:spAutoFit/>
            </a:bodyPr>
            <a:lstStyle/>
            <a:p>
              <a:pPr>
                <a:lnSpc>
                  <a:spcPts val="3079"/>
                </a:lnSpc>
              </a:pPr>
              <a:r>
                <a:rPr lang="en-US" sz="2199">
                  <a:solidFill>
                    <a:srgbClr val="000000"/>
                  </a:solidFill>
                  <a:latin typeface="HK Grotesk Light"/>
                </a:rPr>
                <a:t>In just a few clicks, the chatbot can gather information, diagnose health issues, and provide prescriptions.</a:t>
              </a:r>
            </a:p>
          </p:txBody>
        </p:sp>
      </p:grpSp>
      <p:sp>
        <p:nvSpPr>
          <p:cNvPr id="13" name="AutoShape 13"/>
          <p:cNvSpPr/>
          <p:nvPr/>
        </p:nvSpPr>
        <p:spPr>
          <a:xfrm>
            <a:off x="9140046" y="3628841"/>
            <a:ext cx="7890019" cy="0"/>
          </a:xfrm>
          <a:prstGeom prst="line">
            <a:avLst/>
          </a:prstGeom>
          <a:ln w="9525" cap="rnd">
            <a:solidFill>
              <a:srgbClr val="000000">
                <a:alpha val="40000"/>
              </a:srgbClr>
            </a:solidFill>
            <a:prstDash val="solid"/>
            <a:headEnd type="none" w="sm" len="sm"/>
            <a:tailEnd type="none" w="sm" len="sm"/>
          </a:ln>
        </p:spPr>
        <p:txBody>
          <a:bodyPr/>
          <a:lstStyle/>
          <a:p>
            <a:endParaRPr lang="en-IN"/>
          </a:p>
        </p:txBody>
      </p:sp>
      <p:sp>
        <p:nvSpPr>
          <p:cNvPr id="14" name="AutoShape 14"/>
          <p:cNvSpPr/>
          <p:nvPr/>
        </p:nvSpPr>
        <p:spPr>
          <a:xfrm>
            <a:off x="9140046" y="6574974"/>
            <a:ext cx="7890019" cy="0"/>
          </a:xfrm>
          <a:prstGeom prst="line">
            <a:avLst/>
          </a:prstGeom>
          <a:ln w="9525" cap="rnd">
            <a:solidFill>
              <a:srgbClr val="000000">
                <a:alpha val="40000"/>
              </a:srgbClr>
            </a:solidFill>
            <a:prstDash val="solid"/>
            <a:headEnd type="none" w="sm" len="sm"/>
            <a:tailEnd type="none" w="sm" len="sm"/>
          </a:ln>
        </p:spPr>
        <p:txBody>
          <a:bodyPr/>
          <a:lstStyle/>
          <a:p>
            <a:endParaRPr lang="en-IN"/>
          </a:p>
        </p:txBody>
      </p:sp>
      <p:sp>
        <p:nvSpPr>
          <p:cNvPr id="15" name="Freeform 15"/>
          <p:cNvSpPr/>
          <p:nvPr/>
        </p:nvSpPr>
        <p:spPr>
          <a:xfrm>
            <a:off x="9203989" y="7223652"/>
            <a:ext cx="551296" cy="537263"/>
          </a:xfrm>
          <a:custGeom>
            <a:avLst/>
            <a:gdLst/>
            <a:ahLst/>
            <a:cxnLst/>
            <a:rect l="l" t="t" r="r" b="b"/>
            <a:pathLst>
              <a:path w="551296" h="537263">
                <a:moveTo>
                  <a:pt x="0" y="0"/>
                </a:moveTo>
                <a:lnTo>
                  <a:pt x="551296" y="0"/>
                </a:lnTo>
                <a:lnTo>
                  <a:pt x="551296" y="537263"/>
                </a:lnTo>
                <a:lnTo>
                  <a:pt x="0" y="5372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a:off x="9140046" y="4277519"/>
            <a:ext cx="679182" cy="611264"/>
          </a:xfrm>
          <a:custGeom>
            <a:avLst/>
            <a:gdLst/>
            <a:ahLst/>
            <a:cxnLst/>
            <a:rect l="l" t="t" r="r" b="b"/>
            <a:pathLst>
              <a:path w="679182" h="611264">
                <a:moveTo>
                  <a:pt x="0" y="0"/>
                </a:moveTo>
                <a:lnTo>
                  <a:pt x="679182" y="0"/>
                </a:lnTo>
                <a:lnTo>
                  <a:pt x="679182" y="611263"/>
                </a:lnTo>
                <a:lnTo>
                  <a:pt x="0" y="6112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7" name="Freeform 17"/>
          <p:cNvSpPr/>
          <p:nvPr/>
        </p:nvSpPr>
        <p:spPr>
          <a:xfrm>
            <a:off x="9211828" y="1331385"/>
            <a:ext cx="535617" cy="550635"/>
          </a:xfrm>
          <a:custGeom>
            <a:avLst/>
            <a:gdLst/>
            <a:ahLst/>
            <a:cxnLst/>
            <a:rect l="l" t="t" r="r" b="b"/>
            <a:pathLst>
              <a:path w="535617" h="550635">
                <a:moveTo>
                  <a:pt x="0" y="0"/>
                </a:moveTo>
                <a:lnTo>
                  <a:pt x="535617" y="0"/>
                </a:lnTo>
                <a:lnTo>
                  <a:pt x="535617" y="550635"/>
                </a:lnTo>
                <a:lnTo>
                  <a:pt x="0" y="55063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1736F6-0CB0-9ABD-4EE7-FC51ACCB200E}"/>
              </a:ext>
            </a:extLst>
          </p:cNvPr>
          <p:cNvSpPr txBox="1"/>
          <p:nvPr/>
        </p:nvSpPr>
        <p:spPr>
          <a:xfrm>
            <a:off x="2819400" y="653950"/>
            <a:ext cx="12725400" cy="1107996"/>
          </a:xfrm>
          <a:prstGeom prst="rect">
            <a:avLst/>
          </a:prstGeom>
          <a:noFill/>
        </p:spPr>
        <p:txBody>
          <a:bodyPr wrap="square" rtlCol="0">
            <a:spAutoFit/>
          </a:bodyPr>
          <a:lstStyle/>
          <a:p>
            <a:pPr algn="ctr"/>
            <a:r>
              <a:rPr lang="en-IN" sz="6600" b="1" dirty="0">
                <a:latin typeface="HK Grotesk Semi-Bold" panose="020B0604020202020204" charset="0"/>
              </a:rPr>
              <a:t>PROPOSED METHODOLOGY </a:t>
            </a:r>
          </a:p>
        </p:txBody>
      </p:sp>
      <p:sp>
        <p:nvSpPr>
          <p:cNvPr id="3" name="TextBox 2">
            <a:extLst>
              <a:ext uri="{FF2B5EF4-FFF2-40B4-BE49-F238E27FC236}">
                <a16:creationId xmlns:a16="http://schemas.microsoft.com/office/drawing/2014/main" id="{C1001F83-4C1B-30AE-EF50-52419F4BEE6D}"/>
              </a:ext>
            </a:extLst>
          </p:cNvPr>
          <p:cNvSpPr txBox="1"/>
          <p:nvPr/>
        </p:nvSpPr>
        <p:spPr>
          <a:xfrm>
            <a:off x="762000" y="2400300"/>
            <a:ext cx="15316200" cy="6555641"/>
          </a:xfrm>
          <a:prstGeom prst="rect">
            <a:avLst/>
          </a:prstGeom>
          <a:noFill/>
        </p:spPr>
        <p:txBody>
          <a:bodyPr wrap="square" rtlCol="0">
            <a:spAutoFit/>
          </a:bodyPr>
          <a:lstStyle/>
          <a:p>
            <a:r>
              <a:rPr lang="en-US" sz="2800" dirty="0">
                <a:latin typeface="HK Grotesk" panose="020B0604020202020204" charset="0"/>
              </a:rPr>
              <a:t>The proposed Chatbot system functions based on a Decision Tree algorithm.</a:t>
            </a:r>
          </a:p>
          <a:p>
            <a:endParaRPr lang="en-US" sz="2800" dirty="0">
              <a:latin typeface="HK Grotesk" panose="020B0604020202020204" charset="0"/>
            </a:endParaRPr>
          </a:p>
          <a:p>
            <a:r>
              <a:rPr lang="en-US" sz="2800" b="1" dirty="0">
                <a:latin typeface="HK Grotesk" panose="020B0604020202020204" charset="0"/>
              </a:rPr>
              <a:t>For Example</a:t>
            </a:r>
          </a:p>
          <a:p>
            <a:r>
              <a:rPr lang="en-US" sz="2800" dirty="0">
                <a:latin typeface="HK Grotesk" panose="020B0604020202020204" charset="0"/>
              </a:rPr>
              <a:t> </a:t>
            </a:r>
          </a:p>
          <a:p>
            <a:pPr algn="just"/>
            <a:r>
              <a:rPr lang="en-US" sz="2800" dirty="0">
                <a:latin typeface="HK Grotesk" panose="020B0604020202020204" charset="0"/>
              </a:rPr>
              <a:t>       If user is having that particular symptom for more than 13 days then, chatbot will respond as "You should take the consultation from </a:t>
            </a:r>
            <a:r>
              <a:rPr lang="en-US" sz="2800" dirty="0" err="1">
                <a:latin typeface="HK Grotesk" panose="020B0604020202020204" charset="0"/>
              </a:rPr>
              <a:t>doctor".If</a:t>
            </a:r>
            <a:r>
              <a:rPr lang="en-US" sz="2800" dirty="0">
                <a:latin typeface="HK Grotesk" panose="020B0604020202020204" charset="0"/>
              </a:rPr>
              <a:t> it is less than 13 days then chat bot will respond as, "It might not be that bad but you should take precautions". After predicting the disease, the bot will give necessary precautions that one must take. After predicting the </a:t>
            </a:r>
            <a:r>
              <a:rPr lang="en-US" sz="2800" dirty="0" err="1">
                <a:latin typeface="HK Grotesk" panose="020B0604020202020204" charset="0"/>
              </a:rPr>
              <a:t>disease,the</a:t>
            </a:r>
            <a:r>
              <a:rPr lang="en-US" sz="2800" dirty="0">
                <a:latin typeface="HK Grotesk" panose="020B0604020202020204" charset="0"/>
              </a:rPr>
              <a:t> bot will give a basic description about the disease, as the user will get an idea of what disease that user might be facing. </a:t>
            </a:r>
          </a:p>
          <a:p>
            <a:pPr marL="457200" indent="-457200">
              <a:buFont typeface="Arial" panose="020B0604020202020204" pitchFamily="34" charset="0"/>
              <a:buChar char="•"/>
            </a:pPr>
            <a:endParaRPr lang="en-US" sz="2800" dirty="0">
              <a:latin typeface="HK Grotesk" panose="020B0604020202020204" charset="0"/>
            </a:endParaRPr>
          </a:p>
          <a:p>
            <a:r>
              <a:rPr lang="en-US" sz="2800" dirty="0">
                <a:latin typeface="HK Grotesk" panose="020B0604020202020204" charset="0"/>
              </a:rPr>
              <a:t>              Bot will respond to everything in </a:t>
            </a:r>
            <a:r>
              <a:rPr lang="en-US" sz="2800" dirty="0" err="1">
                <a:latin typeface="HK Grotesk" panose="020B0604020202020204" charset="0"/>
              </a:rPr>
              <a:t>voice,for</a:t>
            </a:r>
            <a:r>
              <a:rPr lang="en-US" sz="2800" dirty="0">
                <a:latin typeface="HK Grotesk" panose="020B0604020202020204" charset="0"/>
              </a:rPr>
              <a:t> that we have used pyttsx3. </a:t>
            </a:r>
            <a:r>
              <a:rPr lang="en-US" sz="2800" b="1" dirty="0">
                <a:latin typeface="HK Grotesk" panose="020B0604020202020204" charset="0"/>
              </a:rPr>
              <a:t>pyttsx3 is a text-to- speech conversion library in Python. </a:t>
            </a:r>
            <a:r>
              <a:rPr lang="en-US" sz="2800" dirty="0">
                <a:latin typeface="HK Grotesk" panose="020B0604020202020204" charset="0"/>
              </a:rPr>
              <a:t>Unlike alternative libraries, it works offline and is compatible with both Python 2 and 3. It generates responses for the user queries based on the following method</a:t>
            </a:r>
            <a:endParaRPr lang="en-IN" sz="2800" dirty="0">
              <a:latin typeface="HK Grotesk" panose="020B0604020202020204" charset="0"/>
            </a:endParaRPr>
          </a:p>
        </p:txBody>
      </p:sp>
      <p:sp>
        <p:nvSpPr>
          <p:cNvPr id="5" name="Arrow: Right 4">
            <a:extLst>
              <a:ext uri="{FF2B5EF4-FFF2-40B4-BE49-F238E27FC236}">
                <a16:creationId xmlns:a16="http://schemas.microsoft.com/office/drawing/2014/main" id="{EF511E85-3455-4901-0F01-EB83314BF81B}"/>
              </a:ext>
            </a:extLst>
          </p:cNvPr>
          <p:cNvSpPr/>
          <p:nvPr/>
        </p:nvSpPr>
        <p:spPr>
          <a:xfrm>
            <a:off x="762000" y="712470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41366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6DE16B-65AD-54FE-DDF9-4FCE69375CE3}"/>
              </a:ext>
            </a:extLst>
          </p:cNvPr>
          <p:cNvSpPr txBox="1"/>
          <p:nvPr/>
        </p:nvSpPr>
        <p:spPr>
          <a:xfrm>
            <a:off x="4953000" y="1181100"/>
            <a:ext cx="8686800" cy="1200329"/>
          </a:xfrm>
          <a:prstGeom prst="rect">
            <a:avLst/>
          </a:prstGeom>
          <a:noFill/>
        </p:spPr>
        <p:txBody>
          <a:bodyPr wrap="square" rtlCol="0">
            <a:spAutoFit/>
          </a:bodyPr>
          <a:lstStyle/>
          <a:p>
            <a:pPr algn="ctr"/>
            <a:r>
              <a:rPr lang="en-IN" sz="7200" dirty="0">
                <a:latin typeface="HK Grotesk Bold" panose="020B0604020202020204" charset="0"/>
              </a:rPr>
              <a:t>IMPLEMENTATIONS</a:t>
            </a:r>
          </a:p>
        </p:txBody>
      </p:sp>
      <p:sp>
        <p:nvSpPr>
          <p:cNvPr id="3" name="TextBox 2">
            <a:extLst>
              <a:ext uri="{FF2B5EF4-FFF2-40B4-BE49-F238E27FC236}">
                <a16:creationId xmlns:a16="http://schemas.microsoft.com/office/drawing/2014/main" id="{FF76F904-0CB6-64C3-E0D9-D141F101E3FD}"/>
              </a:ext>
            </a:extLst>
          </p:cNvPr>
          <p:cNvSpPr txBox="1"/>
          <p:nvPr/>
        </p:nvSpPr>
        <p:spPr>
          <a:xfrm>
            <a:off x="990600" y="3238500"/>
            <a:ext cx="13030200" cy="5409814"/>
          </a:xfrm>
          <a:prstGeom prst="rect">
            <a:avLst/>
          </a:prstGeom>
          <a:noFill/>
        </p:spPr>
        <p:txBody>
          <a:bodyPr wrap="square" rtlCol="0">
            <a:spAutoFit/>
          </a:bodyPr>
          <a:lstStyle/>
          <a:p>
            <a:pPr marL="233680" indent="-6350" algn="l">
              <a:lnSpc>
                <a:spcPct val="111000"/>
              </a:lnSpc>
              <a:spcAft>
                <a:spcPts val="1975"/>
              </a:spcAft>
            </a:pPr>
            <a:r>
              <a:rPr lang="en-IN" sz="2800" b="1" kern="100" dirty="0">
                <a:solidFill>
                  <a:srgbClr val="000000"/>
                </a:solidFill>
                <a:effectLst/>
                <a:latin typeface="HK Grotesk Bold" panose="020B0604020202020204" charset="0"/>
                <a:ea typeface="Times New Roman" panose="02020603050405020304" pitchFamily="18" charset="0"/>
              </a:rPr>
              <a:t>Hardware Requirements </a:t>
            </a:r>
            <a:endParaRPr lang="en-IN" sz="2800" kern="100" dirty="0">
              <a:solidFill>
                <a:srgbClr val="000000"/>
              </a:solidFill>
              <a:effectLst/>
              <a:latin typeface="HK Grotesk Bold" panose="020B0604020202020204" charset="0"/>
              <a:ea typeface="Times New Roman" panose="02020603050405020304" pitchFamily="18" charset="0"/>
            </a:endParaRPr>
          </a:p>
          <a:p>
            <a:pPr marL="342900" lvl="0" indent="-342900" algn="just" fontAlgn="base">
              <a:lnSpc>
                <a:spcPct val="107000"/>
              </a:lnSpc>
              <a:spcAft>
                <a:spcPts val="595"/>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Semi-Bold" panose="020B0604020202020204" charset="0"/>
                <a:ea typeface="Arial" panose="020B0604020202020204" pitchFamily="34" charset="0"/>
                <a:cs typeface="Arial" panose="020B0604020202020204" pitchFamily="34" charset="0"/>
              </a:rPr>
              <a:t>          </a:t>
            </a: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Processor : AMD </a:t>
            </a:r>
            <a:r>
              <a:rPr lang="en-IN" sz="2800" u="none" strike="noStrike" kern="100" dirty="0" err="1">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Ryzon</a:t>
            </a: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3, Intel Chip i3 or Above. </a:t>
            </a:r>
          </a:p>
          <a:p>
            <a:pPr marL="342900" lvl="0" indent="-342900" algn="just" fontAlgn="base">
              <a:lnSpc>
                <a:spcPct val="107000"/>
              </a:lnSpc>
              <a:spcAft>
                <a:spcPts val="600"/>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RAM : 4GB. </a:t>
            </a:r>
          </a:p>
          <a:p>
            <a:pPr marL="342900" lvl="0" indent="-342900" algn="just" fontAlgn="base">
              <a:lnSpc>
                <a:spcPct val="107000"/>
              </a:lnSpc>
              <a:spcAft>
                <a:spcPts val="580"/>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Hard Disk : 256GB. </a:t>
            </a:r>
          </a:p>
          <a:p>
            <a:pPr marL="342900" lvl="0" indent="-342900" algn="just" fontAlgn="base">
              <a:lnSpc>
                <a:spcPct val="107000"/>
              </a:lnSpc>
              <a:spcAft>
                <a:spcPts val="1885"/>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Input Devices : Mouse, keyboard. </a:t>
            </a:r>
          </a:p>
          <a:p>
            <a:pPr marL="233680" indent="-6350" algn="l">
              <a:lnSpc>
                <a:spcPct val="111000"/>
              </a:lnSpc>
              <a:spcAft>
                <a:spcPts val="1975"/>
              </a:spcAft>
            </a:pPr>
            <a:r>
              <a:rPr lang="en-IN" sz="2800" b="1" kern="100" dirty="0">
                <a:solidFill>
                  <a:srgbClr val="000000"/>
                </a:solidFill>
                <a:effectLst/>
                <a:latin typeface="HK Grotesk Bold" panose="020B0604020202020204" charset="0"/>
                <a:ea typeface="Times New Roman" panose="02020603050405020304" pitchFamily="18" charset="0"/>
              </a:rPr>
              <a:t>Software Requirements </a:t>
            </a:r>
            <a:endParaRPr lang="en-IN" sz="2800" kern="100" dirty="0">
              <a:solidFill>
                <a:srgbClr val="000000"/>
              </a:solidFill>
              <a:effectLst/>
              <a:latin typeface="HK Grotesk Bold" panose="020B0604020202020204" charset="0"/>
              <a:ea typeface="Times New Roman" panose="02020603050405020304" pitchFamily="18" charset="0"/>
            </a:endParaRPr>
          </a:p>
          <a:p>
            <a:pPr marL="342900" lvl="0" indent="-342900" algn="just" fontAlgn="base">
              <a:lnSpc>
                <a:spcPct val="107000"/>
              </a:lnSpc>
              <a:spcAft>
                <a:spcPts val="600"/>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Semi-Bold" panose="020B0604020202020204" charset="0"/>
                <a:ea typeface="Arial" panose="020B0604020202020204" pitchFamily="34" charset="0"/>
                <a:cs typeface="Arial" panose="020B0604020202020204" pitchFamily="34" charset="0"/>
              </a:rPr>
              <a:t>          </a:t>
            </a: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Operating System : Windows 10. </a:t>
            </a:r>
          </a:p>
          <a:p>
            <a:pPr marL="342900" lvl="0" indent="-342900" algn="just" fontAlgn="base">
              <a:lnSpc>
                <a:spcPct val="107000"/>
              </a:lnSpc>
              <a:spcAft>
                <a:spcPts val="580"/>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Language : Python. </a:t>
            </a:r>
          </a:p>
          <a:p>
            <a:pPr marL="342900" lvl="0" indent="-342900" algn="just" fontAlgn="base">
              <a:lnSpc>
                <a:spcPct val="107000"/>
              </a:lnSpc>
              <a:spcAft>
                <a:spcPts val="1970"/>
              </a:spcAft>
              <a:buClr>
                <a:srgbClr val="000000"/>
              </a:buClr>
              <a:buSzPts val="1000"/>
              <a:buFont typeface="Arial" panose="020B0604020202020204" pitchFamily="34" charset="0"/>
              <a:buChar char="•"/>
            </a:pP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Libraries : </a:t>
            </a:r>
            <a:r>
              <a:rPr lang="en-IN" sz="2800" u="none" strike="noStrike" kern="100" dirty="0" err="1">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Numpy</a:t>
            </a:r>
            <a:r>
              <a:rPr lang="en-IN" sz="2800" u="none" strike="noStrike" kern="100" dirty="0">
                <a:solidFill>
                  <a:srgbClr val="000000"/>
                </a:solidFill>
                <a:effectLst/>
                <a:uFill>
                  <a:solidFill>
                    <a:srgbClr val="000000"/>
                  </a:solidFill>
                </a:uFill>
                <a:latin typeface="HK Grotesk" panose="020B0604020202020204" charset="0"/>
                <a:ea typeface="Arial" panose="020B0604020202020204" pitchFamily="34" charset="0"/>
                <a:cs typeface="Arial" panose="020B0604020202020204" pitchFamily="34" charset="0"/>
              </a:rPr>
              <a:t>, pandas. </a:t>
            </a:r>
          </a:p>
        </p:txBody>
      </p:sp>
    </p:spTree>
    <p:extLst>
      <p:ext uri="{BB962C8B-B14F-4D97-AF65-F5344CB8AC3E}">
        <p14:creationId xmlns:p14="http://schemas.microsoft.com/office/powerpoint/2010/main" val="357165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1F61CD-F6C0-092B-DD81-9B7116FCF3D5}"/>
              </a:ext>
            </a:extLst>
          </p:cNvPr>
          <p:cNvSpPr txBox="1"/>
          <p:nvPr/>
        </p:nvSpPr>
        <p:spPr>
          <a:xfrm>
            <a:off x="3429000" y="952500"/>
            <a:ext cx="11963400" cy="1107996"/>
          </a:xfrm>
          <a:prstGeom prst="rect">
            <a:avLst/>
          </a:prstGeom>
          <a:noFill/>
        </p:spPr>
        <p:txBody>
          <a:bodyPr wrap="square" rtlCol="0">
            <a:spAutoFit/>
          </a:bodyPr>
          <a:lstStyle/>
          <a:p>
            <a:r>
              <a:rPr lang="en-IN" sz="6600" dirty="0">
                <a:latin typeface="HK Grotesk Bold" panose="020B0604020202020204" charset="0"/>
              </a:rPr>
              <a:t>PERFORMANCE EVALUATION</a:t>
            </a:r>
          </a:p>
        </p:txBody>
      </p:sp>
      <p:sp>
        <p:nvSpPr>
          <p:cNvPr id="4" name="TextBox 3">
            <a:extLst>
              <a:ext uri="{FF2B5EF4-FFF2-40B4-BE49-F238E27FC236}">
                <a16:creationId xmlns:a16="http://schemas.microsoft.com/office/drawing/2014/main" id="{46C31F92-4D2C-0A85-7582-BF605232E25F}"/>
              </a:ext>
            </a:extLst>
          </p:cNvPr>
          <p:cNvSpPr txBox="1"/>
          <p:nvPr/>
        </p:nvSpPr>
        <p:spPr>
          <a:xfrm>
            <a:off x="685800" y="2628900"/>
            <a:ext cx="15011400" cy="7263527"/>
          </a:xfrm>
          <a:prstGeom prst="rect">
            <a:avLst/>
          </a:prstGeom>
          <a:noFill/>
        </p:spPr>
        <p:txBody>
          <a:bodyPr wrap="square" rtlCol="0">
            <a:spAutoFit/>
          </a:bodyPr>
          <a:lstStyle/>
          <a:p>
            <a:pPr algn="just"/>
            <a:r>
              <a:rPr lang="en-IN" sz="2800" b="1" i="0" dirty="0">
                <a:effectLst/>
                <a:latin typeface="HK Grotesk Semi-Bold" panose="020B0604020202020204" charset="0"/>
              </a:rPr>
              <a:t>Accuracy of Responses : </a:t>
            </a:r>
            <a:r>
              <a:rPr lang="en-US" sz="2800" b="0" i="0" dirty="0">
                <a:effectLst/>
                <a:latin typeface="Söhne"/>
              </a:rPr>
              <a:t>Measure how accurately the chatbot responds to user queries. This can be done by comparing the chatbot's answers to a trusted source or by collecting feedback from healthcare professionals.</a:t>
            </a:r>
          </a:p>
          <a:p>
            <a:pPr algn="just"/>
            <a:endParaRPr lang="en-IN" sz="2800" b="1" i="0" dirty="0">
              <a:effectLst/>
              <a:latin typeface="HK Grotesk Semi-Bold" panose="020B0604020202020204" charset="0"/>
            </a:endParaRPr>
          </a:p>
          <a:p>
            <a:pPr algn="just"/>
            <a:r>
              <a:rPr lang="en-IN" sz="2800" b="1" i="0" dirty="0">
                <a:effectLst/>
                <a:latin typeface="HK Grotesk Semi-Bold" panose="020B0604020202020204" charset="0"/>
              </a:rPr>
              <a:t>Relevance of Information :</a:t>
            </a:r>
            <a:r>
              <a:rPr lang="en-US" sz="2800" b="0" i="0" dirty="0">
                <a:effectLst/>
                <a:latin typeface="Söhne"/>
              </a:rPr>
              <a:t>Evaluate the chatbot's ability to provide relevant and up-to-date healthcare information. Ensure that it offers information that is appropriate for the user's context and needs.</a:t>
            </a:r>
            <a:r>
              <a:rPr lang="en-IN" sz="2800" b="1" i="0" dirty="0">
                <a:effectLst/>
                <a:latin typeface="HK Grotesk Semi-Bold" panose="020B0604020202020204" charset="0"/>
              </a:rPr>
              <a:t> </a:t>
            </a:r>
          </a:p>
          <a:p>
            <a:pPr algn="just"/>
            <a:r>
              <a:rPr lang="en-IN" sz="2800" b="1" i="0" dirty="0">
                <a:effectLst/>
                <a:latin typeface="HK Grotesk Semi-Bold" panose="020B0604020202020204" charset="0"/>
              </a:rPr>
              <a:t> </a:t>
            </a:r>
          </a:p>
          <a:p>
            <a:pPr algn="just"/>
            <a:r>
              <a:rPr lang="en-IN" sz="2800" b="1" i="0" dirty="0">
                <a:effectLst/>
                <a:latin typeface="HK Grotesk Semi-Bold" panose="020B0604020202020204" charset="0"/>
              </a:rPr>
              <a:t>User Satisfaction:</a:t>
            </a:r>
            <a:r>
              <a:rPr lang="en-US" sz="2800" b="0" i="0" dirty="0">
                <a:effectLst/>
                <a:latin typeface="Söhne"/>
              </a:rPr>
              <a:t>Gather user feedback through surveys, ratings, and direct input to assess user satisfaction. Pay attention to user comments and suggestions for improvement.</a:t>
            </a:r>
          </a:p>
          <a:p>
            <a:pPr algn="just"/>
            <a:endParaRPr lang="en-IN" sz="2800" b="1" i="0" dirty="0">
              <a:effectLst/>
              <a:latin typeface="HK Grotesk Semi-Bold" panose="020B0604020202020204" charset="0"/>
            </a:endParaRPr>
          </a:p>
          <a:p>
            <a:pPr algn="just"/>
            <a:r>
              <a:rPr lang="en-IN" sz="2800" b="1" i="0" dirty="0">
                <a:effectLst/>
                <a:latin typeface="HK Grotesk Semi-Bold" panose="020B0604020202020204" charset="0"/>
              </a:rPr>
              <a:t>Response Time:</a:t>
            </a:r>
            <a:r>
              <a:rPr lang="en-US" sz="2800" b="0" i="0" dirty="0">
                <a:effectLst/>
                <a:latin typeface="Söhne"/>
              </a:rPr>
              <a:t>Analyze the chatbot's response time to ensure that it provides prompt answers. Users typically expect quick responses, especially in healthcare scenarios.</a:t>
            </a:r>
          </a:p>
          <a:p>
            <a:pPr algn="just"/>
            <a:endParaRPr lang="en-IN" sz="2800" b="1" i="0" dirty="0">
              <a:effectLst/>
              <a:latin typeface="HK Grotesk Semi-Bold" panose="020B0604020202020204" charset="0"/>
            </a:endParaRPr>
          </a:p>
          <a:p>
            <a:pPr algn="just"/>
            <a:r>
              <a:rPr lang="en-IN" sz="2800" b="1" i="0" dirty="0">
                <a:effectLst/>
                <a:latin typeface="HK Grotesk Semi-Bold" panose="020B0604020202020204" charset="0"/>
              </a:rPr>
              <a:t>Conversational Quality:</a:t>
            </a:r>
            <a:r>
              <a:rPr lang="en-US" sz="2800" b="0" i="0" dirty="0">
                <a:effectLst/>
                <a:latin typeface="Söhne"/>
              </a:rPr>
              <a:t>Assess the chatbot's ability to engage in natural and coherent conversations with users. Evaluate the chatbot's use of language, tone, and empathy in interactions.</a:t>
            </a:r>
            <a:endParaRPr lang="en-IN" sz="2800" b="1" i="0" dirty="0">
              <a:effectLst/>
              <a:latin typeface="HK Grotesk Semi-Bold" panose="020B0604020202020204" charset="0"/>
            </a:endParaRPr>
          </a:p>
          <a:p>
            <a:endParaRPr lang="en-IN" dirty="0"/>
          </a:p>
        </p:txBody>
      </p:sp>
    </p:spTree>
    <p:extLst>
      <p:ext uri="{BB962C8B-B14F-4D97-AF65-F5344CB8AC3E}">
        <p14:creationId xmlns:p14="http://schemas.microsoft.com/office/powerpoint/2010/main" val="36474313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370083" y="2438400"/>
            <a:ext cx="3621901" cy="1129603"/>
          </a:xfrm>
          <a:custGeom>
            <a:avLst/>
            <a:gdLst/>
            <a:ahLst/>
            <a:cxnLst/>
            <a:rect l="l" t="t" r="r" b="b"/>
            <a:pathLst>
              <a:path w="3621901" h="1129603">
                <a:moveTo>
                  <a:pt x="0" y="0"/>
                </a:moveTo>
                <a:lnTo>
                  <a:pt x="3621901" y="0"/>
                </a:lnTo>
                <a:lnTo>
                  <a:pt x="3621901" y="1129603"/>
                </a:lnTo>
                <a:lnTo>
                  <a:pt x="0" y="1129603"/>
                </a:lnTo>
                <a:lnTo>
                  <a:pt x="0" y="0"/>
                </a:lnTo>
                <a:close/>
              </a:path>
            </a:pathLst>
          </a:custGeom>
          <a:blipFill>
            <a:blip r:embed="rId2"/>
            <a:stretch>
              <a:fillRect/>
            </a:stretch>
          </a:blipFill>
        </p:spPr>
        <p:txBody>
          <a:bodyPr/>
          <a:lstStyle/>
          <a:p>
            <a:endParaRPr lang="en-IN"/>
          </a:p>
        </p:txBody>
      </p:sp>
      <p:sp>
        <p:nvSpPr>
          <p:cNvPr id="3" name="Freeform 3"/>
          <p:cNvSpPr/>
          <p:nvPr/>
        </p:nvSpPr>
        <p:spPr>
          <a:xfrm>
            <a:off x="914951" y="2584652"/>
            <a:ext cx="837098" cy="837098"/>
          </a:xfrm>
          <a:custGeom>
            <a:avLst/>
            <a:gdLst/>
            <a:ahLst/>
            <a:cxnLst/>
            <a:rect l="l" t="t" r="r" b="b"/>
            <a:pathLst>
              <a:path w="837098" h="837098">
                <a:moveTo>
                  <a:pt x="0" y="0"/>
                </a:moveTo>
                <a:lnTo>
                  <a:pt x="837098" y="0"/>
                </a:lnTo>
                <a:lnTo>
                  <a:pt x="837098" y="837098"/>
                </a:lnTo>
                <a:lnTo>
                  <a:pt x="0" y="837098"/>
                </a:lnTo>
                <a:lnTo>
                  <a:pt x="0" y="0"/>
                </a:lnTo>
                <a:close/>
              </a:path>
            </a:pathLst>
          </a:custGeom>
          <a:blipFill>
            <a:blip r:embed="rId3"/>
            <a:stretch>
              <a:fillRect/>
            </a:stretch>
          </a:blipFill>
        </p:spPr>
        <p:txBody>
          <a:bodyPr/>
          <a:lstStyle/>
          <a:p>
            <a:endParaRPr lang="en-IN"/>
          </a:p>
        </p:txBody>
      </p:sp>
      <p:sp>
        <p:nvSpPr>
          <p:cNvPr id="4" name="Freeform 4"/>
          <p:cNvSpPr/>
          <p:nvPr/>
        </p:nvSpPr>
        <p:spPr>
          <a:xfrm>
            <a:off x="914951" y="4395943"/>
            <a:ext cx="837098" cy="837098"/>
          </a:xfrm>
          <a:custGeom>
            <a:avLst/>
            <a:gdLst/>
            <a:ahLst/>
            <a:cxnLst/>
            <a:rect l="l" t="t" r="r" b="b"/>
            <a:pathLst>
              <a:path w="837098" h="837098">
                <a:moveTo>
                  <a:pt x="0" y="0"/>
                </a:moveTo>
                <a:lnTo>
                  <a:pt x="837098" y="0"/>
                </a:lnTo>
                <a:lnTo>
                  <a:pt x="837098" y="837098"/>
                </a:lnTo>
                <a:lnTo>
                  <a:pt x="0" y="837098"/>
                </a:lnTo>
                <a:lnTo>
                  <a:pt x="0" y="0"/>
                </a:lnTo>
                <a:close/>
              </a:path>
            </a:pathLst>
          </a:custGeom>
          <a:blipFill>
            <a:blip r:embed="rId3"/>
            <a:stretch>
              <a:fillRect/>
            </a:stretch>
          </a:blipFill>
        </p:spPr>
        <p:txBody>
          <a:bodyPr/>
          <a:lstStyle/>
          <a:p>
            <a:endParaRPr lang="en-IN"/>
          </a:p>
        </p:txBody>
      </p:sp>
      <p:sp>
        <p:nvSpPr>
          <p:cNvPr id="5" name="Freeform 5"/>
          <p:cNvSpPr/>
          <p:nvPr/>
        </p:nvSpPr>
        <p:spPr>
          <a:xfrm>
            <a:off x="914951" y="6206023"/>
            <a:ext cx="837098" cy="837098"/>
          </a:xfrm>
          <a:custGeom>
            <a:avLst/>
            <a:gdLst/>
            <a:ahLst/>
            <a:cxnLst/>
            <a:rect l="l" t="t" r="r" b="b"/>
            <a:pathLst>
              <a:path w="837098" h="837098">
                <a:moveTo>
                  <a:pt x="0" y="0"/>
                </a:moveTo>
                <a:lnTo>
                  <a:pt x="837098" y="0"/>
                </a:lnTo>
                <a:lnTo>
                  <a:pt x="837098" y="837098"/>
                </a:lnTo>
                <a:lnTo>
                  <a:pt x="0" y="837098"/>
                </a:lnTo>
                <a:lnTo>
                  <a:pt x="0" y="0"/>
                </a:lnTo>
                <a:close/>
              </a:path>
            </a:pathLst>
          </a:custGeom>
          <a:blipFill>
            <a:blip r:embed="rId3"/>
            <a:stretch>
              <a:fillRect/>
            </a:stretch>
          </a:blipFill>
        </p:spPr>
        <p:txBody>
          <a:bodyPr/>
          <a:lstStyle/>
          <a:p>
            <a:endParaRPr lang="en-IN"/>
          </a:p>
        </p:txBody>
      </p:sp>
      <p:sp>
        <p:nvSpPr>
          <p:cNvPr id="6" name="Freeform 6"/>
          <p:cNvSpPr/>
          <p:nvPr/>
        </p:nvSpPr>
        <p:spPr>
          <a:xfrm>
            <a:off x="914951" y="8130387"/>
            <a:ext cx="837098" cy="837098"/>
          </a:xfrm>
          <a:custGeom>
            <a:avLst/>
            <a:gdLst/>
            <a:ahLst/>
            <a:cxnLst/>
            <a:rect l="l" t="t" r="r" b="b"/>
            <a:pathLst>
              <a:path w="837098" h="837098">
                <a:moveTo>
                  <a:pt x="0" y="0"/>
                </a:moveTo>
                <a:lnTo>
                  <a:pt x="837098" y="0"/>
                </a:lnTo>
                <a:lnTo>
                  <a:pt x="837098" y="837098"/>
                </a:lnTo>
                <a:lnTo>
                  <a:pt x="0" y="837098"/>
                </a:lnTo>
                <a:lnTo>
                  <a:pt x="0" y="0"/>
                </a:lnTo>
                <a:close/>
              </a:path>
            </a:pathLst>
          </a:custGeom>
          <a:blipFill>
            <a:blip r:embed="rId3"/>
            <a:stretch>
              <a:fillRect/>
            </a:stretch>
          </a:blipFill>
        </p:spPr>
        <p:txBody>
          <a:bodyPr/>
          <a:lstStyle/>
          <a:p>
            <a:endParaRPr lang="en-IN"/>
          </a:p>
        </p:txBody>
      </p:sp>
      <p:sp>
        <p:nvSpPr>
          <p:cNvPr id="7" name="Freeform 7"/>
          <p:cNvSpPr/>
          <p:nvPr/>
        </p:nvSpPr>
        <p:spPr>
          <a:xfrm>
            <a:off x="2370083" y="4216861"/>
            <a:ext cx="3579380" cy="1016180"/>
          </a:xfrm>
          <a:custGeom>
            <a:avLst/>
            <a:gdLst/>
            <a:ahLst/>
            <a:cxnLst/>
            <a:rect l="l" t="t" r="r" b="b"/>
            <a:pathLst>
              <a:path w="3579380" h="1016180">
                <a:moveTo>
                  <a:pt x="0" y="0"/>
                </a:moveTo>
                <a:lnTo>
                  <a:pt x="3579379" y="0"/>
                </a:lnTo>
                <a:lnTo>
                  <a:pt x="3579379" y="1016180"/>
                </a:lnTo>
                <a:lnTo>
                  <a:pt x="0" y="1016180"/>
                </a:lnTo>
                <a:lnTo>
                  <a:pt x="0" y="0"/>
                </a:lnTo>
                <a:close/>
              </a:path>
            </a:pathLst>
          </a:custGeom>
          <a:blipFill>
            <a:blip r:embed="rId4"/>
            <a:stretch>
              <a:fillRect/>
            </a:stretch>
          </a:blipFill>
        </p:spPr>
        <p:txBody>
          <a:bodyPr/>
          <a:lstStyle/>
          <a:p>
            <a:endParaRPr lang="en-IN"/>
          </a:p>
        </p:txBody>
      </p:sp>
      <p:sp>
        <p:nvSpPr>
          <p:cNvPr id="8" name="Freeform 8"/>
          <p:cNvSpPr/>
          <p:nvPr/>
        </p:nvSpPr>
        <p:spPr>
          <a:xfrm>
            <a:off x="2370083" y="6147555"/>
            <a:ext cx="3698721" cy="954035"/>
          </a:xfrm>
          <a:custGeom>
            <a:avLst/>
            <a:gdLst/>
            <a:ahLst/>
            <a:cxnLst/>
            <a:rect l="l" t="t" r="r" b="b"/>
            <a:pathLst>
              <a:path w="3698721" h="954035">
                <a:moveTo>
                  <a:pt x="0" y="0"/>
                </a:moveTo>
                <a:lnTo>
                  <a:pt x="3698721" y="0"/>
                </a:lnTo>
                <a:lnTo>
                  <a:pt x="3698721" y="954035"/>
                </a:lnTo>
                <a:lnTo>
                  <a:pt x="0" y="954035"/>
                </a:lnTo>
                <a:lnTo>
                  <a:pt x="0" y="0"/>
                </a:lnTo>
                <a:close/>
              </a:path>
            </a:pathLst>
          </a:custGeom>
          <a:blipFill>
            <a:blip r:embed="rId5"/>
            <a:stretch>
              <a:fillRect/>
            </a:stretch>
          </a:blipFill>
        </p:spPr>
        <p:txBody>
          <a:bodyPr/>
          <a:lstStyle/>
          <a:p>
            <a:endParaRPr lang="en-IN"/>
          </a:p>
        </p:txBody>
      </p:sp>
      <p:sp>
        <p:nvSpPr>
          <p:cNvPr id="9" name="Freeform 9"/>
          <p:cNvSpPr/>
          <p:nvPr/>
        </p:nvSpPr>
        <p:spPr>
          <a:xfrm>
            <a:off x="2370083" y="8130387"/>
            <a:ext cx="2010855" cy="837098"/>
          </a:xfrm>
          <a:custGeom>
            <a:avLst/>
            <a:gdLst/>
            <a:ahLst/>
            <a:cxnLst/>
            <a:rect l="l" t="t" r="r" b="b"/>
            <a:pathLst>
              <a:path w="2010855" h="837098">
                <a:moveTo>
                  <a:pt x="0" y="0"/>
                </a:moveTo>
                <a:lnTo>
                  <a:pt x="2010854" y="0"/>
                </a:lnTo>
                <a:lnTo>
                  <a:pt x="2010854" y="837098"/>
                </a:lnTo>
                <a:lnTo>
                  <a:pt x="0" y="837098"/>
                </a:lnTo>
                <a:lnTo>
                  <a:pt x="0" y="0"/>
                </a:lnTo>
                <a:close/>
              </a:path>
            </a:pathLst>
          </a:custGeom>
          <a:blipFill>
            <a:blip r:embed="rId6"/>
            <a:stretch>
              <a:fillRect/>
            </a:stretch>
          </a:blipFill>
        </p:spPr>
        <p:txBody>
          <a:bodyPr/>
          <a:lstStyle/>
          <a:p>
            <a:endParaRPr lang="en-IN"/>
          </a:p>
        </p:txBody>
      </p:sp>
      <p:sp>
        <p:nvSpPr>
          <p:cNvPr id="10" name="Freeform 10"/>
          <p:cNvSpPr/>
          <p:nvPr/>
        </p:nvSpPr>
        <p:spPr>
          <a:xfrm>
            <a:off x="16342496" y="2438400"/>
            <a:ext cx="916804" cy="909141"/>
          </a:xfrm>
          <a:custGeom>
            <a:avLst/>
            <a:gdLst/>
            <a:ahLst/>
            <a:cxnLst/>
            <a:rect l="l" t="t" r="r" b="b"/>
            <a:pathLst>
              <a:path w="916804" h="909141">
                <a:moveTo>
                  <a:pt x="0" y="0"/>
                </a:moveTo>
                <a:lnTo>
                  <a:pt x="916804" y="0"/>
                </a:lnTo>
                <a:lnTo>
                  <a:pt x="916804" y="909141"/>
                </a:lnTo>
                <a:lnTo>
                  <a:pt x="0" y="909141"/>
                </a:lnTo>
                <a:lnTo>
                  <a:pt x="0" y="0"/>
                </a:lnTo>
                <a:close/>
              </a:path>
            </a:pathLst>
          </a:custGeom>
          <a:blipFill>
            <a:blip r:embed="rId7"/>
            <a:stretch>
              <a:fillRect l="-9585" r="-9585"/>
            </a:stretch>
          </a:blipFill>
        </p:spPr>
        <p:txBody>
          <a:bodyPr/>
          <a:lstStyle/>
          <a:p>
            <a:endParaRPr lang="en-IN"/>
          </a:p>
        </p:txBody>
      </p:sp>
      <p:sp>
        <p:nvSpPr>
          <p:cNvPr id="11" name="Freeform 11"/>
          <p:cNvSpPr/>
          <p:nvPr/>
        </p:nvSpPr>
        <p:spPr>
          <a:xfrm>
            <a:off x="16342496" y="4306402"/>
            <a:ext cx="916804" cy="909141"/>
          </a:xfrm>
          <a:custGeom>
            <a:avLst/>
            <a:gdLst/>
            <a:ahLst/>
            <a:cxnLst/>
            <a:rect l="l" t="t" r="r" b="b"/>
            <a:pathLst>
              <a:path w="916804" h="909141">
                <a:moveTo>
                  <a:pt x="0" y="0"/>
                </a:moveTo>
                <a:lnTo>
                  <a:pt x="916804" y="0"/>
                </a:lnTo>
                <a:lnTo>
                  <a:pt x="916804" y="909141"/>
                </a:lnTo>
                <a:lnTo>
                  <a:pt x="0" y="909141"/>
                </a:lnTo>
                <a:lnTo>
                  <a:pt x="0" y="0"/>
                </a:lnTo>
                <a:close/>
              </a:path>
            </a:pathLst>
          </a:custGeom>
          <a:blipFill>
            <a:blip r:embed="rId7"/>
            <a:stretch>
              <a:fillRect l="-9585" r="-9585"/>
            </a:stretch>
          </a:blipFill>
        </p:spPr>
        <p:txBody>
          <a:bodyPr/>
          <a:lstStyle/>
          <a:p>
            <a:endParaRPr lang="en-IN"/>
          </a:p>
        </p:txBody>
      </p:sp>
      <p:sp>
        <p:nvSpPr>
          <p:cNvPr id="12" name="Freeform 12"/>
          <p:cNvSpPr/>
          <p:nvPr/>
        </p:nvSpPr>
        <p:spPr>
          <a:xfrm>
            <a:off x="16365040" y="6133980"/>
            <a:ext cx="916804" cy="909141"/>
          </a:xfrm>
          <a:custGeom>
            <a:avLst/>
            <a:gdLst/>
            <a:ahLst/>
            <a:cxnLst/>
            <a:rect l="l" t="t" r="r" b="b"/>
            <a:pathLst>
              <a:path w="916804" h="909141">
                <a:moveTo>
                  <a:pt x="0" y="0"/>
                </a:moveTo>
                <a:lnTo>
                  <a:pt x="916804" y="0"/>
                </a:lnTo>
                <a:lnTo>
                  <a:pt x="916804" y="909141"/>
                </a:lnTo>
                <a:lnTo>
                  <a:pt x="0" y="909141"/>
                </a:lnTo>
                <a:lnTo>
                  <a:pt x="0" y="0"/>
                </a:lnTo>
                <a:close/>
              </a:path>
            </a:pathLst>
          </a:custGeom>
          <a:blipFill>
            <a:blip r:embed="rId7"/>
            <a:stretch>
              <a:fillRect l="-9585" r="-9585"/>
            </a:stretch>
          </a:blipFill>
        </p:spPr>
        <p:txBody>
          <a:bodyPr/>
          <a:lstStyle/>
          <a:p>
            <a:endParaRPr lang="en-IN"/>
          </a:p>
        </p:txBody>
      </p:sp>
      <p:sp>
        <p:nvSpPr>
          <p:cNvPr id="13" name="Freeform 13"/>
          <p:cNvSpPr/>
          <p:nvPr/>
        </p:nvSpPr>
        <p:spPr>
          <a:xfrm>
            <a:off x="16365040" y="8130387"/>
            <a:ext cx="916804" cy="909141"/>
          </a:xfrm>
          <a:custGeom>
            <a:avLst/>
            <a:gdLst/>
            <a:ahLst/>
            <a:cxnLst/>
            <a:rect l="l" t="t" r="r" b="b"/>
            <a:pathLst>
              <a:path w="916804" h="909141">
                <a:moveTo>
                  <a:pt x="0" y="0"/>
                </a:moveTo>
                <a:lnTo>
                  <a:pt x="916804" y="0"/>
                </a:lnTo>
                <a:lnTo>
                  <a:pt x="916804" y="909141"/>
                </a:lnTo>
                <a:lnTo>
                  <a:pt x="0" y="909141"/>
                </a:lnTo>
                <a:lnTo>
                  <a:pt x="0" y="0"/>
                </a:lnTo>
                <a:close/>
              </a:path>
            </a:pathLst>
          </a:custGeom>
          <a:blipFill>
            <a:blip r:embed="rId7"/>
            <a:stretch>
              <a:fillRect l="-9585" r="-9585"/>
            </a:stretch>
          </a:blipFill>
        </p:spPr>
        <p:txBody>
          <a:bodyPr/>
          <a:lstStyle/>
          <a:p>
            <a:endParaRPr lang="en-IN"/>
          </a:p>
        </p:txBody>
      </p:sp>
      <p:sp>
        <p:nvSpPr>
          <p:cNvPr id="14" name="Freeform 14"/>
          <p:cNvSpPr/>
          <p:nvPr/>
        </p:nvSpPr>
        <p:spPr>
          <a:xfrm>
            <a:off x="13265926" y="6133980"/>
            <a:ext cx="2479988" cy="979898"/>
          </a:xfrm>
          <a:custGeom>
            <a:avLst/>
            <a:gdLst/>
            <a:ahLst/>
            <a:cxnLst/>
            <a:rect l="l" t="t" r="r" b="b"/>
            <a:pathLst>
              <a:path w="2479988" h="979898">
                <a:moveTo>
                  <a:pt x="0" y="0"/>
                </a:moveTo>
                <a:lnTo>
                  <a:pt x="2479989" y="0"/>
                </a:lnTo>
                <a:lnTo>
                  <a:pt x="2479989" y="979898"/>
                </a:lnTo>
                <a:lnTo>
                  <a:pt x="0" y="979898"/>
                </a:lnTo>
                <a:lnTo>
                  <a:pt x="0" y="0"/>
                </a:lnTo>
                <a:close/>
              </a:path>
            </a:pathLst>
          </a:custGeom>
          <a:blipFill>
            <a:blip r:embed="rId8"/>
            <a:stretch>
              <a:fillRect/>
            </a:stretch>
          </a:blipFill>
        </p:spPr>
        <p:txBody>
          <a:bodyPr/>
          <a:lstStyle/>
          <a:p>
            <a:endParaRPr lang="en-IN"/>
          </a:p>
        </p:txBody>
      </p:sp>
      <p:sp>
        <p:nvSpPr>
          <p:cNvPr id="15" name="Freeform 15"/>
          <p:cNvSpPr/>
          <p:nvPr/>
        </p:nvSpPr>
        <p:spPr>
          <a:xfrm>
            <a:off x="12737064" y="4261632"/>
            <a:ext cx="3008851" cy="926639"/>
          </a:xfrm>
          <a:custGeom>
            <a:avLst/>
            <a:gdLst/>
            <a:ahLst/>
            <a:cxnLst/>
            <a:rect l="l" t="t" r="r" b="b"/>
            <a:pathLst>
              <a:path w="3008851" h="926639">
                <a:moveTo>
                  <a:pt x="0" y="0"/>
                </a:moveTo>
                <a:lnTo>
                  <a:pt x="3008851" y="0"/>
                </a:lnTo>
                <a:lnTo>
                  <a:pt x="3008851" y="926638"/>
                </a:lnTo>
                <a:lnTo>
                  <a:pt x="0" y="926638"/>
                </a:lnTo>
                <a:lnTo>
                  <a:pt x="0" y="0"/>
                </a:lnTo>
                <a:close/>
              </a:path>
            </a:pathLst>
          </a:custGeom>
          <a:blipFill>
            <a:blip r:embed="rId9"/>
            <a:stretch>
              <a:fillRect/>
            </a:stretch>
          </a:blipFill>
        </p:spPr>
        <p:txBody>
          <a:bodyPr/>
          <a:lstStyle/>
          <a:p>
            <a:endParaRPr lang="en-IN"/>
          </a:p>
        </p:txBody>
      </p:sp>
      <p:sp>
        <p:nvSpPr>
          <p:cNvPr id="16" name="Freeform 16"/>
          <p:cNvSpPr/>
          <p:nvPr/>
        </p:nvSpPr>
        <p:spPr>
          <a:xfrm>
            <a:off x="12560448" y="8166409"/>
            <a:ext cx="1410956" cy="840967"/>
          </a:xfrm>
          <a:custGeom>
            <a:avLst/>
            <a:gdLst/>
            <a:ahLst/>
            <a:cxnLst/>
            <a:rect l="l" t="t" r="r" b="b"/>
            <a:pathLst>
              <a:path w="1410956" h="840967">
                <a:moveTo>
                  <a:pt x="0" y="0"/>
                </a:moveTo>
                <a:lnTo>
                  <a:pt x="1410957" y="0"/>
                </a:lnTo>
                <a:lnTo>
                  <a:pt x="1410957" y="840967"/>
                </a:lnTo>
                <a:lnTo>
                  <a:pt x="0" y="840967"/>
                </a:lnTo>
                <a:lnTo>
                  <a:pt x="0" y="0"/>
                </a:lnTo>
                <a:close/>
              </a:path>
            </a:pathLst>
          </a:custGeom>
          <a:blipFill>
            <a:blip r:embed="rId10"/>
            <a:stretch>
              <a:fillRect/>
            </a:stretch>
          </a:blipFill>
        </p:spPr>
        <p:txBody>
          <a:bodyPr/>
          <a:lstStyle/>
          <a:p>
            <a:endParaRPr lang="en-IN"/>
          </a:p>
        </p:txBody>
      </p:sp>
      <p:sp>
        <p:nvSpPr>
          <p:cNvPr id="17" name="Freeform 17"/>
          <p:cNvSpPr/>
          <p:nvPr/>
        </p:nvSpPr>
        <p:spPr>
          <a:xfrm>
            <a:off x="14440585" y="8162539"/>
            <a:ext cx="1228853" cy="844837"/>
          </a:xfrm>
          <a:custGeom>
            <a:avLst/>
            <a:gdLst/>
            <a:ahLst/>
            <a:cxnLst/>
            <a:rect l="l" t="t" r="r" b="b"/>
            <a:pathLst>
              <a:path w="1228853" h="844837">
                <a:moveTo>
                  <a:pt x="0" y="0"/>
                </a:moveTo>
                <a:lnTo>
                  <a:pt x="1228853" y="0"/>
                </a:lnTo>
                <a:lnTo>
                  <a:pt x="1228853" y="844837"/>
                </a:lnTo>
                <a:lnTo>
                  <a:pt x="0" y="844837"/>
                </a:lnTo>
                <a:lnTo>
                  <a:pt x="0" y="0"/>
                </a:lnTo>
                <a:close/>
              </a:path>
            </a:pathLst>
          </a:custGeom>
          <a:blipFill>
            <a:blip r:embed="rId11"/>
            <a:stretch>
              <a:fillRect/>
            </a:stretch>
          </a:blipFill>
        </p:spPr>
        <p:txBody>
          <a:bodyPr/>
          <a:lstStyle/>
          <a:p>
            <a:endParaRPr lang="en-IN"/>
          </a:p>
        </p:txBody>
      </p:sp>
      <p:sp>
        <p:nvSpPr>
          <p:cNvPr id="18" name="Freeform 18"/>
          <p:cNvSpPr/>
          <p:nvPr/>
        </p:nvSpPr>
        <p:spPr>
          <a:xfrm>
            <a:off x="13919427" y="2584652"/>
            <a:ext cx="1750011" cy="875006"/>
          </a:xfrm>
          <a:custGeom>
            <a:avLst/>
            <a:gdLst/>
            <a:ahLst/>
            <a:cxnLst/>
            <a:rect l="l" t="t" r="r" b="b"/>
            <a:pathLst>
              <a:path w="1750011" h="875006">
                <a:moveTo>
                  <a:pt x="0" y="0"/>
                </a:moveTo>
                <a:lnTo>
                  <a:pt x="1750011" y="0"/>
                </a:lnTo>
                <a:lnTo>
                  <a:pt x="1750011" y="875006"/>
                </a:lnTo>
                <a:lnTo>
                  <a:pt x="0" y="875006"/>
                </a:lnTo>
                <a:lnTo>
                  <a:pt x="0" y="0"/>
                </a:lnTo>
                <a:close/>
              </a:path>
            </a:pathLst>
          </a:custGeom>
          <a:blipFill>
            <a:blip r:embed="rId12"/>
            <a:stretch>
              <a:fillRect/>
            </a:stretch>
          </a:blipFill>
        </p:spPr>
        <p:txBody>
          <a:bodyPr/>
          <a:lstStyle/>
          <a:p>
            <a:endParaRPr lang="en-IN"/>
          </a:p>
        </p:txBody>
      </p:sp>
      <p:sp>
        <p:nvSpPr>
          <p:cNvPr id="19" name="TextBox 19"/>
          <p:cNvSpPr txBox="1"/>
          <p:nvPr/>
        </p:nvSpPr>
        <p:spPr>
          <a:xfrm>
            <a:off x="98516" y="-9525"/>
            <a:ext cx="18189484" cy="2447925"/>
          </a:xfrm>
          <a:prstGeom prst="rect">
            <a:avLst/>
          </a:prstGeom>
        </p:spPr>
        <p:txBody>
          <a:bodyPr lIns="0" tIns="0" rIns="0" bIns="0" rtlCol="0" anchor="t">
            <a:spAutoFit/>
          </a:bodyPr>
          <a:lstStyle/>
          <a:p>
            <a:pPr algn="ctr">
              <a:lnSpc>
                <a:spcPts val="9600"/>
              </a:lnSpc>
              <a:spcBef>
                <a:spcPct val="0"/>
              </a:spcBef>
            </a:pPr>
            <a:r>
              <a:rPr lang="en-US" sz="8000">
                <a:solidFill>
                  <a:srgbClr val="000000"/>
                </a:solidFill>
                <a:latin typeface="HK Grotesk Semi-Bold"/>
              </a:rPr>
              <a:t> WORKING OF HEALTHCARE CHATBOT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342496" y="2438400"/>
            <a:ext cx="916804" cy="909141"/>
          </a:xfrm>
          <a:custGeom>
            <a:avLst/>
            <a:gdLst/>
            <a:ahLst/>
            <a:cxnLst/>
            <a:rect l="l" t="t" r="r" b="b"/>
            <a:pathLst>
              <a:path w="916804" h="909141">
                <a:moveTo>
                  <a:pt x="0" y="0"/>
                </a:moveTo>
                <a:lnTo>
                  <a:pt x="916804" y="0"/>
                </a:lnTo>
                <a:lnTo>
                  <a:pt x="916804" y="909141"/>
                </a:lnTo>
                <a:lnTo>
                  <a:pt x="0" y="909141"/>
                </a:lnTo>
                <a:lnTo>
                  <a:pt x="0" y="0"/>
                </a:lnTo>
                <a:close/>
              </a:path>
            </a:pathLst>
          </a:custGeom>
          <a:blipFill>
            <a:blip r:embed="rId2"/>
            <a:stretch>
              <a:fillRect l="-9585" r="-9585"/>
            </a:stretch>
          </a:blipFill>
        </p:spPr>
        <p:txBody>
          <a:bodyPr/>
          <a:lstStyle/>
          <a:p>
            <a:endParaRPr lang="en-IN"/>
          </a:p>
        </p:txBody>
      </p:sp>
      <p:sp>
        <p:nvSpPr>
          <p:cNvPr id="3" name="Freeform 3"/>
          <p:cNvSpPr/>
          <p:nvPr/>
        </p:nvSpPr>
        <p:spPr>
          <a:xfrm>
            <a:off x="914951" y="2584652"/>
            <a:ext cx="837098" cy="837098"/>
          </a:xfrm>
          <a:custGeom>
            <a:avLst/>
            <a:gdLst/>
            <a:ahLst/>
            <a:cxnLst/>
            <a:rect l="l" t="t" r="r" b="b"/>
            <a:pathLst>
              <a:path w="837098" h="837098">
                <a:moveTo>
                  <a:pt x="0" y="0"/>
                </a:moveTo>
                <a:lnTo>
                  <a:pt x="837098" y="0"/>
                </a:lnTo>
                <a:lnTo>
                  <a:pt x="837098" y="837098"/>
                </a:lnTo>
                <a:lnTo>
                  <a:pt x="0" y="837098"/>
                </a:lnTo>
                <a:lnTo>
                  <a:pt x="0" y="0"/>
                </a:lnTo>
                <a:close/>
              </a:path>
            </a:pathLst>
          </a:custGeom>
          <a:blipFill>
            <a:blip r:embed="rId3"/>
            <a:stretch>
              <a:fillRect/>
            </a:stretch>
          </a:blipFill>
        </p:spPr>
        <p:txBody>
          <a:bodyPr/>
          <a:lstStyle/>
          <a:p>
            <a:endParaRPr lang="en-IN"/>
          </a:p>
        </p:txBody>
      </p:sp>
      <p:sp>
        <p:nvSpPr>
          <p:cNvPr id="4" name="Freeform 4"/>
          <p:cNvSpPr/>
          <p:nvPr/>
        </p:nvSpPr>
        <p:spPr>
          <a:xfrm>
            <a:off x="2477656" y="2520924"/>
            <a:ext cx="2830759" cy="964555"/>
          </a:xfrm>
          <a:custGeom>
            <a:avLst/>
            <a:gdLst/>
            <a:ahLst/>
            <a:cxnLst/>
            <a:rect l="l" t="t" r="r" b="b"/>
            <a:pathLst>
              <a:path w="2830759" h="964555">
                <a:moveTo>
                  <a:pt x="0" y="0"/>
                </a:moveTo>
                <a:lnTo>
                  <a:pt x="2830759" y="0"/>
                </a:lnTo>
                <a:lnTo>
                  <a:pt x="2830759" y="964555"/>
                </a:lnTo>
                <a:lnTo>
                  <a:pt x="0" y="964555"/>
                </a:lnTo>
                <a:lnTo>
                  <a:pt x="0" y="0"/>
                </a:lnTo>
                <a:close/>
              </a:path>
            </a:pathLst>
          </a:custGeom>
          <a:blipFill>
            <a:blip r:embed="rId4"/>
            <a:stretch>
              <a:fillRect/>
            </a:stretch>
          </a:blipFill>
        </p:spPr>
        <p:txBody>
          <a:bodyPr/>
          <a:lstStyle/>
          <a:p>
            <a:endParaRPr lang="en-IN"/>
          </a:p>
        </p:txBody>
      </p:sp>
      <p:sp>
        <p:nvSpPr>
          <p:cNvPr id="5" name="Freeform 5"/>
          <p:cNvSpPr/>
          <p:nvPr/>
        </p:nvSpPr>
        <p:spPr>
          <a:xfrm>
            <a:off x="11930526" y="2558684"/>
            <a:ext cx="1410956" cy="840967"/>
          </a:xfrm>
          <a:custGeom>
            <a:avLst/>
            <a:gdLst/>
            <a:ahLst/>
            <a:cxnLst/>
            <a:rect l="l" t="t" r="r" b="b"/>
            <a:pathLst>
              <a:path w="1410956" h="840967">
                <a:moveTo>
                  <a:pt x="0" y="0"/>
                </a:moveTo>
                <a:lnTo>
                  <a:pt x="1410957" y="0"/>
                </a:lnTo>
                <a:lnTo>
                  <a:pt x="1410957" y="840967"/>
                </a:lnTo>
                <a:lnTo>
                  <a:pt x="0" y="840967"/>
                </a:lnTo>
                <a:lnTo>
                  <a:pt x="0" y="0"/>
                </a:lnTo>
                <a:close/>
              </a:path>
            </a:pathLst>
          </a:custGeom>
          <a:blipFill>
            <a:blip r:embed="rId5"/>
            <a:stretch>
              <a:fillRect/>
            </a:stretch>
          </a:blipFill>
        </p:spPr>
        <p:txBody>
          <a:bodyPr/>
          <a:lstStyle/>
          <a:p>
            <a:endParaRPr lang="en-IN"/>
          </a:p>
        </p:txBody>
      </p:sp>
      <p:sp>
        <p:nvSpPr>
          <p:cNvPr id="6" name="Freeform 6"/>
          <p:cNvSpPr/>
          <p:nvPr/>
        </p:nvSpPr>
        <p:spPr>
          <a:xfrm>
            <a:off x="14232005" y="2558684"/>
            <a:ext cx="1209481" cy="840967"/>
          </a:xfrm>
          <a:custGeom>
            <a:avLst/>
            <a:gdLst/>
            <a:ahLst/>
            <a:cxnLst/>
            <a:rect l="l" t="t" r="r" b="b"/>
            <a:pathLst>
              <a:path w="1209481" h="840967">
                <a:moveTo>
                  <a:pt x="0" y="0"/>
                </a:moveTo>
                <a:lnTo>
                  <a:pt x="1209481" y="0"/>
                </a:lnTo>
                <a:lnTo>
                  <a:pt x="1209481" y="840967"/>
                </a:lnTo>
                <a:lnTo>
                  <a:pt x="0" y="840967"/>
                </a:lnTo>
                <a:lnTo>
                  <a:pt x="0" y="0"/>
                </a:lnTo>
                <a:close/>
              </a:path>
            </a:pathLst>
          </a:custGeom>
          <a:blipFill>
            <a:blip r:embed="rId6"/>
            <a:stretch>
              <a:fillRect/>
            </a:stretch>
          </a:blipFill>
        </p:spPr>
        <p:txBody>
          <a:bodyPr/>
          <a:lstStyle/>
          <a:p>
            <a:endParaRPr lang="en-IN"/>
          </a:p>
        </p:txBody>
      </p:sp>
      <p:sp>
        <p:nvSpPr>
          <p:cNvPr id="7" name="Freeform 7"/>
          <p:cNvSpPr/>
          <p:nvPr/>
        </p:nvSpPr>
        <p:spPr>
          <a:xfrm>
            <a:off x="914951" y="7522990"/>
            <a:ext cx="837098" cy="837098"/>
          </a:xfrm>
          <a:custGeom>
            <a:avLst/>
            <a:gdLst/>
            <a:ahLst/>
            <a:cxnLst/>
            <a:rect l="l" t="t" r="r" b="b"/>
            <a:pathLst>
              <a:path w="837098" h="837098">
                <a:moveTo>
                  <a:pt x="0" y="0"/>
                </a:moveTo>
                <a:lnTo>
                  <a:pt x="837098" y="0"/>
                </a:lnTo>
                <a:lnTo>
                  <a:pt x="837098" y="837097"/>
                </a:lnTo>
                <a:lnTo>
                  <a:pt x="0" y="837097"/>
                </a:lnTo>
                <a:lnTo>
                  <a:pt x="0" y="0"/>
                </a:lnTo>
                <a:close/>
              </a:path>
            </a:pathLst>
          </a:custGeom>
          <a:blipFill>
            <a:blip r:embed="rId3"/>
            <a:stretch>
              <a:fillRect/>
            </a:stretch>
          </a:blipFill>
        </p:spPr>
        <p:txBody>
          <a:bodyPr/>
          <a:lstStyle/>
          <a:p>
            <a:endParaRPr lang="en-IN"/>
          </a:p>
        </p:txBody>
      </p:sp>
      <p:sp>
        <p:nvSpPr>
          <p:cNvPr id="8" name="Freeform 8"/>
          <p:cNvSpPr/>
          <p:nvPr/>
        </p:nvSpPr>
        <p:spPr>
          <a:xfrm>
            <a:off x="914951" y="5847692"/>
            <a:ext cx="837098" cy="837098"/>
          </a:xfrm>
          <a:custGeom>
            <a:avLst/>
            <a:gdLst/>
            <a:ahLst/>
            <a:cxnLst/>
            <a:rect l="l" t="t" r="r" b="b"/>
            <a:pathLst>
              <a:path w="837098" h="837098">
                <a:moveTo>
                  <a:pt x="0" y="0"/>
                </a:moveTo>
                <a:lnTo>
                  <a:pt x="837098" y="0"/>
                </a:lnTo>
                <a:lnTo>
                  <a:pt x="837098" y="837098"/>
                </a:lnTo>
                <a:lnTo>
                  <a:pt x="0" y="837098"/>
                </a:lnTo>
                <a:lnTo>
                  <a:pt x="0" y="0"/>
                </a:lnTo>
                <a:close/>
              </a:path>
            </a:pathLst>
          </a:custGeom>
          <a:blipFill>
            <a:blip r:embed="rId3"/>
            <a:stretch>
              <a:fillRect/>
            </a:stretch>
          </a:blipFill>
        </p:spPr>
        <p:txBody>
          <a:bodyPr/>
          <a:lstStyle/>
          <a:p>
            <a:endParaRPr lang="en-IN"/>
          </a:p>
        </p:txBody>
      </p:sp>
      <p:sp>
        <p:nvSpPr>
          <p:cNvPr id="9" name="Freeform 9"/>
          <p:cNvSpPr/>
          <p:nvPr/>
        </p:nvSpPr>
        <p:spPr>
          <a:xfrm>
            <a:off x="2477656" y="4168473"/>
            <a:ext cx="2861493" cy="975027"/>
          </a:xfrm>
          <a:custGeom>
            <a:avLst/>
            <a:gdLst/>
            <a:ahLst/>
            <a:cxnLst/>
            <a:rect l="l" t="t" r="r" b="b"/>
            <a:pathLst>
              <a:path w="2861493" h="975027">
                <a:moveTo>
                  <a:pt x="0" y="0"/>
                </a:moveTo>
                <a:lnTo>
                  <a:pt x="2861494" y="0"/>
                </a:lnTo>
                <a:lnTo>
                  <a:pt x="2861494" y="975027"/>
                </a:lnTo>
                <a:lnTo>
                  <a:pt x="0" y="975027"/>
                </a:lnTo>
                <a:lnTo>
                  <a:pt x="0" y="0"/>
                </a:lnTo>
                <a:close/>
              </a:path>
            </a:pathLst>
          </a:custGeom>
          <a:blipFill>
            <a:blip r:embed="rId7"/>
            <a:stretch>
              <a:fillRect/>
            </a:stretch>
          </a:blipFill>
        </p:spPr>
        <p:txBody>
          <a:bodyPr/>
          <a:lstStyle/>
          <a:p>
            <a:endParaRPr lang="en-IN"/>
          </a:p>
        </p:txBody>
      </p:sp>
      <p:sp>
        <p:nvSpPr>
          <p:cNvPr id="10" name="Freeform 10"/>
          <p:cNvSpPr/>
          <p:nvPr/>
        </p:nvSpPr>
        <p:spPr>
          <a:xfrm>
            <a:off x="914951" y="4168473"/>
            <a:ext cx="837098" cy="837098"/>
          </a:xfrm>
          <a:custGeom>
            <a:avLst/>
            <a:gdLst/>
            <a:ahLst/>
            <a:cxnLst/>
            <a:rect l="l" t="t" r="r" b="b"/>
            <a:pathLst>
              <a:path w="837098" h="837098">
                <a:moveTo>
                  <a:pt x="0" y="0"/>
                </a:moveTo>
                <a:lnTo>
                  <a:pt x="837098" y="0"/>
                </a:lnTo>
                <a:lnTo>
                  <a:pt x="837098" y="837097"/>
                </a:lnTo>
                <a:lnTo>
                  <a:pt x="0" y="837097"/>
                </a:lnTo>
                <a:lnTo>
                  <a:pt x="0" y="0"/>
                </a:lnTo>
                <a:close/>
              </a:path>
            </a:pathLst>
          </a:custGeom>
          <a:blipFill>
            <a:blip r:embed="rId3"/>
            <a:stretch>
              <a:fillRect/>
            </a:stretch>
          </a:blipFill>
        </p:spPr>
        <p:txBody>
          <a:bodyPr/>
          <a:lstStyle/>
          <a:p>
            <a:endParaRPr lang="en-IN"/>
          </a:p>
        </p:txBody>
      </p:sp>
      <p:sp>
        <p:nvSpPr>
          <p:cNvPr id="11" name="Freeform 11"/>
          <p:cNvSpPr/>
          <p:nvPr/>
        </p:nvSpPr>
        <p:spPr>
          <a:xfrm>
            <a:off x="2477656" y="5847692"/>
            <a:ext cx="3618683" cy="1018731"/>
          </a:xfrm>
          <a:custGeom>
            <a:avLst/>
            <a:gdLst/>
            <a:ahLst/>
            <a:cxnLst/>
            <a:rect l="l" t="t" r="r" b="b"/>
            <a:pathLst>
              <a:path w="3618683" h="1018731">
                <a:moveTo>
                  <a:pt x="0" y="0"/>
                </a:moveTo>
                <a:lnTo>
                  <a:pt x="3618684" y="0"/>
                </a:lnTo>
                <a:lnTo>
                  <a:pt x="3618684" y="1018731"/>
                </a:lnTo>
                <a:lnTo>
                  <a:pt x="0" y="1018731"/>
                </a:lnTo>
                <a:lnTo>
                  <a:pt x="0" y="0"/>
                </a:lnTo>
                <a:close/>
              </a:path>
            </a:pathLst>
          </a:custGeom>
          <a:blipFill>
            <a:blip r:embed="rId8"/>
            <a:stretch>
              <a:fillRect/>
            </a:stretch>
          </a:blipFill>
        </p:spPr>
        <p:txBody>
          <a:bodyPr/>
          <a:lstStyle/>
          <a:p>
            <a:endParaRPr lang="en-IN"/>
          </a:p>
        </p:txBody>
      </p:sp>
      <p:sp>
        <p:nvSpPr>
          <p:cNvPr id="12" name="Freeform 12"/>
          <p:cNvSpPr/>
          <p:nvPr/>
        </p:nvSpPr>
        <p:spPr>
          <a:xfrm>
            <a:off x="2477656" y="7253078"/>
            <a:ext cx="4396017" cy="2672535"/>
          </a:xfrm>
          <a:custGeom>
            <a:avLst/>
            <a:gdLst/>
            <a:ahLst/>
            <a:cxnLst/>
            <a:rect l="l" t="t" r="r" b="b"/>
            <a:pathLst>
              <a:path w="4396017" h="2672535">
                <a:moveTo>
                  <a:pt x="0" y="0"/>
                </a:moveTo>
                <a:lnTo>
                  <a:pt x="4396018" y="0"/>
                </a:lnTo>
                <a:lnTo>
                  <a:pt x="4396018" y="2672535"/>
                </a:lnTo>
                <a:lnTo>
                  <a:pt x="0" y="2672535"/>
                </a:lnTo>
                <a:lnTo>
                  <a:pt x="0" y="0"/>
                </a:lnTo>
                <a:close/>
              </a:path>
            </a:pathLst>
          </a:custGeom>
          <a:blipFill>
            <a:blip r:embed="rId9"/>
            <a:stretch>
              <a:fillRect/>
            </a:stretch>
          </a:blipFill>
        </p:spPr>
        <p:txBody>
          <a:bodyPr/>
          <a:lstStyle/>
          <a:p>
            <a:endParaRPr lang="en-IN"/>
          </a:p>
        </p:txBody>
      </p:sp>
      <p:sp>
        <p:nvSpPr>
          <p:cNvPr id="13" name="Freeform 13"/>
          <p:cNvSpPr/>
          <p:nvPr/>
        </p:nvSpPr>
        <p:spPr>
          <a:xfrm>
            <a:off x="16342496" y="4096430"/>
            <a:ext cx="916804" cy="909141"/>
          </a:xfrm>
          <a:custGeom>
            <a:avLst/>
            <a:gdLst/>
            <a:ahLst/>
            <a:cxnLst/>
            <a:rect l="l" t="t" r="r" b="b"/>
            <a:pathLst>
              <a:path w="916804" h="909141">
                <a:moveTo>
                  <a:pt x="0" y="0"/>
                </a:moveTo>
                <a:lnTo>
                  <a:pt x="916804" y="0"/>
                </a:lnTo>
                <a:lnTo>
                  <a:pt x="916804" y="909140"/>
                </a:lnTo>
                <a:lnTo>
                  <a:pt x="0" y="909140"/>
                </a:lnTo>
                <a:lnTo>
                  <a:pt x="0" y="0"/>
                </a:lnTo>
                <a:close/>
              </a:path>
            </a:pathLst>
          </a:custGeom>
          <a:blipFill>
            <a:blip r:embed="rId2"/>
            <a:stretch>
              <a:fillRect l="-9585" r="-9585"/>
            </a:stretch>
          </a:blipFill>
        </p:spPr>
        <p:txBody>
          <a:bodyPr/>
          <a:lstStyle/>
          <a:p>
            <a:endParaRPr lang="en-IN"/>
          </a:p>
        </p:txBody>
      </p:sp>
      <p:sp>
        <p:nvSpPr>
          <p:cNvPr id="14" name="Freeform 14"/>
          <p:cNvSpPr/>
          <p:nvPr/>
        </p:nvSpPr>
        <p:spPr>
          <a:xfrm>
            <a:off x="16342496" y="5847692"/>
            <a:ext cx="916804" cy="909141"/>
          </a:xfrm>
          <a:custGeom>
            <a:avLst/>
            <a:gdLst/>
            <a:ahLst/>
            <a:cxnLst/>
            <a:rect l="l" t="t" r="r" b="b"/>
            <a:pathLst>
              <a:path w="916804" h="909141">
                <a:moveTo>
                  <a:pt x="0" y="0"/>
                </a:moveTo>
                <a:lnTo>
                  <a:pt x="916804" y="0"/>
                </a:lnTo>
                <a:lnTo>
                  <a:pt x="916804" y="909140"/>
                </a:lnTo>
                <a:lnTo>
                  <a:pt x="0" y="909140"/>
                </a:lnTo>
                <a:lnTo>
                  <a:pt x="0" y="0"/>
                </a:lnTo>
                <a:close/>
              </a:path>
            </a:pathLst>
          </a:custGeom>
          <a:blipFill>
            <a:blip r:embed="rId2"/>
            <a:stretch>
              <a:fillRect l="-9585" r="-9585"/>
            </a:stretch>
          </a:blipFill>
        </p:spPr>
        <p:txBody>
          <a:bodyPr/>
          <a:lstStyle/>
          <a:p>
            <a:endParaRPr lang="en-IN"/>
          </a:p>
        </p:txBody>
      </p:sp>
      <p:sp>
        <p:nvSpPr>
          <p:cNvPr id="15" name="Freeform 15"/>
          <p:cNvSpPr/>
          <p:nvPr/>
        </p:nvSpPr>
        <p:spPr>
          <a:xfrm>
            <a:off x="11930526" y="4168473"/>
            <a:ext cx="1410956" cy="840967"/>
          </a:xfrm>
          <a:custGeom>
            <a:avLst/>
            <a:gdLst/>
            <a:ahLst/>
            <a:cxnLst/>
            <a:rect l="l" t="t" r="r" b="b"/>
            <a:pathLst>
              <a:path w="1410956" h="840967">
                <a:moveTo>
                  <a:pt x="0" y="0"/>
                </a:moveTo>
                <a:lnTo>
                  <a:pt x="1410957" y="0"/>
                </a:lnTo>
                <a:lnTo>
                  <a:pt x="1410957" y="840967"/>
                </a:lnTo>
                <a:lnTo>
                  <a:pt x="0" y="840967"/>
                </a:lnTo>
                <a:lnTo>
                  <a:pt x="0" y="0"/>
                </a:lnTo>
                <a:close/>
              </a:path>
            </a:pathLst>
          </a:custGeom>
          <a:blipFill>
            <a:blip r:embed="rId10"/>
            <a:stretch>
              <a:fillRect/>
            </a:stretch>
          </a:blipFill>
        </p:spPr>
        <p:txBody>
          <a:bodyPr/>
          <a:lstStyle/>
          <a:p>
            <a:endParaRPr lang="en-IN"/>
          </a:p>
        </p:txBody>
      </p:sp>
      <p:sp>
        <p:nvSpPr>
          <p:cNvPr id="16" name="Freeform 16"/>
          <p:cNvSpPr/>
          <p:nvPr/>
        </p:nvSpPr>
        <p:spPr>
          <a:xfrm>
            <a:off x="14302128" y="4160734"/>
            <a:ext cx="1228853" cy="844837"/>
          </a:xfrm>
          <a:custGeom>
            <a:avLst/>
            <a:gdLst/>
            <a:ahLst/>
            <a:cxnLst/>
            <a:rect l="l" t="t" r="r" b="b"/>
            <a:pathLst>
              <a:path w="1228853" h="844837">
                <a:moveTo>
                  <a:pt x="0" y="0"/>
                </a:moveTo>
                <a:lnTo>
                  <a:pt x="1228853" y="0"/>
                </a:lnTo>
                <a:lnTo>
                  <a:pt x="1228853" y="844836"/>
                </a:lnTo>
                <a:lnTo>
                  <a:pt x="0" y="844836"/>
                </a:lnTo>
                <a:lnTo>
                  <a:pt x="0" y="0"/>
                </a:lnTo>
                <a:close/>
              </a:path>
            </a:pathLst>
          </a:custGeom>
          <a:blipFill>
            <a:blip r:embed="rId11"/>
            <a:stretch>
              <a:fillRect/>
            </a:stretch>
          </a:blipFill>
        </p:spPr>
        <p:txBody>
          <a:bodyPr/>
          <a:lstStyle/>
          <a:p>
            <a:endParaRPr lang="en-IN"/>
          </a:p>
        </p:txBody>
      </p:sp>
      <p:sp>
        <p:nvSpPr>
          <p:cNvPr id="17" name="Freeform 17"/>
          <p:cNvSpPr/>
          <p:nvPr/>
        </p:nvSpPr>
        <p:spPr>
          <a:xfrm>
            <a:off x="10623651" y="5847692"/>
            <a:ext cx="4907330" cy="1137283"/>
          </a:xfrm>
          <a:custGeom>
            <a:avLst/>
            <a:gdLst/>
            <a:ahLst/>
            <a:cxnLst/>
            <a:rect l="l" t="t" r="r" b="b"/>
            <a:pathLst>
              <a:path w="4907330" h="1137283">
                <a:moveTo>
                  <a:pt x="0" y="0"/>
                </a:moveTo>
                <a:lnTo>
                  <a:pt x="4907330" y="0"/>
                </a:lnTo>
                <a:lnTo>
                  <a:pt x="4907330" y="1137282"/>
                </a:lnTo>
                <a:lnTo>
                  <a:pt x="0" y="1137282"/>
                </a:lnTo>
                <a:lnTo>
                  <a:pt x="0" y="0"/>
                </a:lnTo>
                <a:close/>
              </a:path>
            </a:pathLst>
          </a:custGeom>
          <a:blipFill>
            <a:blip r:embed="rId12"/>
            <a:stretch>
              <a:fillRect/>
            </a:stretch>
          </a:blipFill>
        </p:spPr>
        <p:txBody>
          <a:bodyPr/>
          <a:lstStyle/>
          <a:p>
            <a:endParaRPr lang="en-IN"/>
          </a:p>
        </p:txBody>
      </p:sp>
      <p:sp>
        <p:nvSpPr>
          <p:cNvPr id="18" name="TextBox 18"/>
          <p:cNvSpPr txBox="1"/>
          <p:nvPr/>
        </p:nvSpPr>
        <p:spPr>
          <a:xfrm>
            <a:off x="98516" y="-9525"/>
            <a:ext cx="18189484" cy="2447925"/>
          </a:xfrm>
          <a:prstGeom prst="rect">
            <a:avLst/>
          </a:prstGeom>
        </p:spPr>
        <p:txBody>
          <a:bodyPr lIns="0" tIns="0" rIns="0" bIns="0" rtlCol="0" anchor="t">
            <a:spAutoFit/>
          </a:bodyPr>
          <a:lstStyle/>
          <a:p>
            <a:pPr algn="ctr">
              <a:lnSpc>
                <a:spcPts val="9600"/>
              </a:lnSpc>
              <a:spcBef>
                <a:spcPct val="0"/>
              </a:spcBef>
            </a:pPr>
            <a:r>
              <a:rPr lang="en-US" sz="8000">
                <a:solidFill>
                  <a:srgbClr val="000000"/>
                </a:solidFill>
                <a:latin typeface="HK Grotesk Semi-Bold"/>
              </a:rPr>
              <a:t> WORKING OF HEALTHCARE CHATBOT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7760" y="1438103"/>
            <a:ext cx="6598536" cy="7401268"/>
            <a:chOff x="0" y="0"/>
            <a:chExt cx="8798049" cy="9868357"/>
          </a:xfrm>
        </p:grpSpPr>
        <p:sp>
          <p:nvSpPr>
            <p:cNvPr id="3" name="TextBox 3"/>
            <p:cNvSpPr txBox="1"/>
            <p:nvPr/>
          </p:nvSpPr>
          <p:spPr>
            <a:xfrm>
              <a:off x="0" y="-9525"/>
              <a:ext cx="8798049" cy="1693977"/>
            </a:xfrm>
            <a:prstGeom prst="rect">
              <a:avLst/>
            </a:prstGeom>
          </p:spPr>
          <p:txBody>
            <a:bodyPr lIns="0" tIns="0" rIns="0" bIns="0" rtlCol="0" anchor="t">
              <a:spAutoFit/>
            </a:bodyPr>
            <a:lstStyle/>
            <a:p>
              <a:pPr>
                <a:lnSpc>
                  <a:spcPts val="9947"/>
                </a:lnSpc>
              </a:pPr>
              <a:r>
                <a:rPr lang="en-US" sz="8289">
                  <a:solidFill>
                    <a:srgbClr val="4C758D"/>
                  </a:solidFill>
                  <a:latin typeface="HK Grotesk Semi-Bold"/>
                </a:rPr>
                <a:t>ALGORITHM</a:t>
              </a:r>
            </a:p>
          </p:txBody>
        </p:sp>
        <p:sp>
          <p:nvSpPr>
            <p:cNvPr id="4" name="TextBox 4"/>
            <p:cNvSpPr txBox="1"/>
            <p:nvPr/>
          </p:nvSpPr>
          <p:spPr>
            <a:xfrm>
              <a:off x="0" y="2210871"/>
              <a:ext cx="8798049" cy="7657486"/>
            </a:xfrm>
            <a:prstGeom prst="rect">
              <a:avLst/>
            </a:prstGeom>
          </p:spPr>
          <p:txBody>
            <a:bodyPr lIns="0" tIns="0" rIns="0" bIns="0" rtlCol="0" anchor="t">
              <a:spAutoFit/>
            </a:bodyPr>
            <a:lstStyle/>
            <a:p>
              <a:pPr marL="696007" lvl="1" indent="-348004">
                <a:lnSpc>
                  <a:spcPts val="4190"/>
                </a:lnSpc>
                <a:buFont typeface="Arial"/>
                <a:buChar char="•"/>
              </a:pPr>
              <a:r>
                <a:rPr lang="en-US" sz="3223">
                  <a:solidFill>
                    <a:srgbClr val="000000"/>
                  </a:solidFill>
                  <a:latin typeface="HK Grotesk"/>
                </a:rPr>
                <a:t>Insert user query in the chatbot window.</a:t>
              </a:r>
            </a:p>
            <a:p>
              <a:pPr marL="696007" lvl="1" indent="-348004">
                <a:lnSpc>
                  <a:spcPts val="4190"/>
                </a:lnSpc>
                <a:buFont typeface="Arial"/>
                <a:buChar char="•"/>
              </a:pPr>
              <a:r>
                <a:rPr lang="en-US" sz="3223">
                  <a:solidFill>
                    <a:srgbClr val="000000"/>
                  </a:solidFill>
                  <a:latin typeface="HK Grotesk"/>
                </a:rPr>
                <a:t>The details will be extracted from the user chat.</a:t>
              </a:r>
            </a:p>
            <a:p>
              <a:pPr marL="696007" lvl="1" indent="-348004">
                <a:lnSpc>
                  <a:spcPts val="4190"/>
                </a:lnSpc>
                <a:buFont typeface="Arial"/>
                <a:buChar char="•"/>
              </a:pPr>
              <a:r>
                <a:rPr lang="en-US" sz="3223">
                  <a:solidFill>
                    <a:srgbClr val="000000"/>
                  </a:solidFill>
                  <a:latin typeface="HK Grotesk"/>
                </a:rPr>
                <a:t>Decision Tree classifier algorithm is used to process the query.</a:t>
              </a:r>
            </a:p>
            <a:p>
              <a:pPr marL="696007" lvl="1" indent="-348004">
                <a:lnSpc>
                  <a:spcPts val="4190"/>
                </a:lnSpc>
                <a:buFont typeface="Arial"/>
                <a:buChar char="•"/>
              </a:pPr>
              <a:r>
                <a:rPr lang="en-US" sz="3223">
                  <a:solidFill>
                    <a:srgbClr val="000000"/>
                  </a:solidFill>
                  <a:latin typeface="HK Grotesk"/>
                </a:rPr>
                <a:t>The response is fetched from the chatbot like Disease Prediction and Disease Precaution and output to the user.</a:t>
              </a:r>
            </a:p>
            <a:p>
              <a:pPr marL="696007" lvl="1" indent="-348004">
                <a:lnSpc>
                  <a:spcPts val="4190"/>
                </a:lnSpc>
                <a:buFont typeface="Arial"/>
                <a:buChar char="•"/>
              </a:pPr>
              <a:r>
                <a:rPr lang="en-US" sz="3223">
                  <a:solidFill>
                    <a:srgbClr val="000000"/>
                  </a:solidFill>
                  <a:latin typeface="HK Grotesk"/>
                </a:rPr>
                <a:t>Exit</a:t>
              </a:r>
            </a:p>
          </p:txBody>
        </p:sp>
      </p:grpSp>
      <p:sp>
        <p:nvSpPr>
          <p:cNvPr id="5" name="AutoShape 5"/>
          <p:cNvSpPr/>
          <p:nvPr/>
        </p:nvSpPr>
        <p:spPr>
          <a:xfrm>
            <a:off x="7403516" y="-4762"/>
            <a:ext cx="10884484" cy="10287000"/>
          </a:xfrm>
          <a:prstGeom prst="rect">
            <a:avLst/>
          </a:prstGeom>
          <a:solidFill>
            <a:srgbClr val="84A1B2"/>
          </a:solidFill>
        </p:spPr>
        <p:txBody>
          <a:bodyPr/>
          <a:lstStyle/>
          <a:p>
            <a:endParaRPr lang="en-IN"/>
          </a:p>
        </p:txBody>
      </p:sp>
      <p:sp>
        <p:nvSpPr>
          <p:cNvPr id="6" name="TextBox 6"/>
          <p:cNvSpPr txBox="1"/>
          <p:nvPr/>
        </p:nvSpPr>
        <p:spPr>
          <a:xfrm>
            <a:off x="7927595" y="1371428"/>
            <a:ext cx="7184166" cy="1671320"/>
          </a:xfrm>
          <a:prstGeom prst="rect">
            <a:avLst/>
          </a:prstGeom>
        </p:spPr>
        <p:txBody>
          <a:bodyPr lIns="0" tIns="0" rIns="0" bIns="0" rtlCol="0" anchor="t">
            <a:spAutoFit/>
          </a:bodyPr>
          <a:lstStyle/>
          <a:p>
            <a:pPr>
              <a:lnSpc>
                <a:spcPts val="4479"/>
              </a:lnSpc>
            </a:pPr>
            <a:r>
              <a:rPr lang="en-US" sz="3199">
                <a:solidFill>
                  <a:srgbClr val="000000"/>
                </a:solidFill>
                <a:latin typeface="HK Grotesk Medium"/>
              </a:rPr>
              <a:t>Decision Tree Classifier.</a:t>
            </a:r>
          </a:p>
          <a:p>
            <a:pPr>
              <a:lnSpc>
                <a:spcPts val="4479"/>
              </a:lnSpc>
            </a:pPr>
            <a:r>
              <a:rPr lang="en-US" sz="3199">
                <a:solidFill>
                  <a:srgbClr val="000000"/>
                </a:solidFill>
                <a:latin typeface="HK Grotesk Medium"/>
              </a:rPr>
              <a:t>WNatural Language Processing</a:t>
            </a:r>
          </a:p>
          <a:p>
            <a:pPr>
              <a:lnSpc>
                <a:spcPts val="4479"/>
              </a:lnSpc>
            </a:pPr>
            <a:r>
              <a:rPr lang="en-US" sz="3199">
                <a:solidFill>
                  <a:srgbClr val="000000"/>
                </a:solidFill>
                <a:latin typeface="HK Grotesk Medium"/>
              </a:rPr>
              <a:t>NLP LIBRARIES.</a:t>
            </a:r>
          </a:p>
        </p:txBody>
      </p:sp>
      <p:sp>
        <p:nvSpPr>
          <p:cNvPr id="7" name="TextBox 7"/>
          <p:cNvSpPr txBox="1"/>
          <p:nvPr/>
        </p:nvSpPr>
        <p:spPr>
          <a:xfrm>
            <a:off x="7927595" y="3323590"/>
            <a:ext cx="10033839" cy="5934710"/>
          </a:xfrm>
          <a:prstGeom prst="rect">
            <a:avLst/>
          </a:prstGeom>
        </p:spPr>
        <p:txBody>
          <a:bodyPr lIns="0" tIns="0" rIns="0" bIns="0" rtlCol="0" anchor="t">
            <a:spAutoFit/>
          </a:bodyPr>
          <a:lstStyle/>
          <a:p>
            <a:pPr marL="561339" lvl="1" indent="-280669">
              <a:lnSpc>
                <a:spcPts val="3639"/>
              </a:lnSpc>
              <a:buFont typeface="Arial"/>
              <a:buChar char="•"/>
            </a:pPr>
            <a:r>
              <a:rPr lang="en-US" sz="2599">
                <a:solidFill>
                  <a:srgbClr val="000000"/>
                </a:solidFill>
                <a:latin typeface="HK Grotesk Medium"/>
              </a:rPr>
              <a:t>Scikit-learn :</a:t>
            </a:r>
            <a:r>
              <a:rPr lang="en-US" sz="2599">
                <a:solidFill>
                  <a:srgbClr val="000000"/>
                </a:solidFill>
                <a:latin typeface="HK Grotesk"/>
              </a:rPr>
              <a:t> It provides a wide range of algorithms for building machine learning models in Python. Natural language Toolkit (NLTK): NLTK is a complete toolkit for all NLP techniques.</a:t>
            </a:r>
          </a:p>
          <a:p>
            <a:pPr marL="561339" lvl="1" indent="-280669">
              <a:lnSpc>
                <a:spcPts val="3639"/>
              </a:lnSpc>
              <a:buFont typeface="Arial"/>
              <a:buChar char="•"/>
            </a:pPr>
            <a:r>
              <a:rPr lang="en-US" sz="2599">
                <a:solidFill>
                  <a:srgbClr val="000000"/>
                </a:solidFill>
                <a:latin typeface="HK Grotesk Medium"/>
              </a:rPr>
              <a:t>Pattern : </a:t>
            </a:r>
            <a:r>
              <a:rPr lang="en-US" sz="2599">
                <a:solidFill>
                  <a:srgbClr val="000000"/>
                </a:solidFill>
                <a:latin typeface="HK Grotesk"/>
              </a:rPr>
              <a:t>It is a web mining module for NLP and machine learning.</a:t>
            </a:r>
          </a:p>
          <a:p>
            <a:pPr marL="561339" lvl="1" indent="-280669">
              <a:lnSpc>
                <a:spcPts val="3639"/>
              </a:lnSpc>
              <a:buFont typeface="Arial"/>
              <a:buChar char="•"/>
            </a:pPr>
            <a:r>
              <a:rPr lang="en-US" sz="2599">
                <a:solidFill>
                  <a:srgbClr val="000000"/>
                </a:solidFill>
                <a:latin typeface="HK Grotesk Medium"/>
              </a:rPr>
              <a:t>TextBlob : </a:t>
            </a:r>
            <a:r>
              <a:rPr lang="en-US" sz="2599">
                <a:solidFill>
                  <a:srgbClr val="000000"/>
                </a:solidFill>
                <a:latin typeface="HK Grotesk"/>
              </a:rPr>
              <a:t>It provides an easy interface to learn basic NLP tasks like sentiment analysis, noun phrase extraction, or pos-tagging.</a:t>
            </a:r>
          </a:p>
          <a:p>
            <a:pPr marL="561339" lvl="1" indent="-280669">
              <a:lnSpc>
                <a:spcPts val="3639"/>
              </a:lnSpc>
              <a:buFont typeface="Arial"/>
              <a:buChar char="•"/>
            </a:pPr>
            <a:r>
              <a:rPr lang="en-US" sz="2599">
                <a:solidFill>
                  <a:srgbClr val="000000"/>
                </a:solidFill>
                <a:latin typeface="HK Grotesk Medium"/>
              </a:rPr>
              <a:t>Quepy : </a:t>
            </a:r>
            <a:r>
              <a:rPr lang="en-US" sz="2599">
                <a:solidFill>
                  <a:srgbClr val="000000"/>
                </a:solidFill>
                <a:latin typeface="HK Grotesk"/>
              </a:rPr>
              <a:t>Quepy is used to transform natural language questions into queries in a database query language.</a:t>
            </a:r>
          </a:p>
          <a:p>
            <a:pPr marL="561339" lvl="1" indent="-280669">
              <a:lnSpc>
                <a:spcPts val="3639"/>
              </a:lnSpc>
              <a:buFont typeface="Arial"/>
              <a:buChar char="•"/>
            </a:pPr>
            <a:r>
              <a:rPr lang="en-US" sz="2599">
                <a:solidFill>
                  <a:srgbClr val="000000"/>
                </a:solidFill>
                <a:latin typeface="HK Grotesk Medium"/>
              </a:rPr>
              <a:t>SpaCy : </a:t>
            </a:r>
            <a:r>
              <a:rPr lang="en-US" sz="2599">
                <a:solidFill>
                  <a:srgbClr val="000000"/>
                </a:solidFill>
                <a:latin typeface="HK Grotesk"/>
              </a:rPr>
              <a:t>SpaCy is an open-source NLP library which is used for Data Extraction, Data Analysis, Sentiment Analysis, and Text Summarization.</a:t>
            </a:r>
          </a:p>
          <a:p>
            <a:pPr marL="561339" lvl="1" indent="-280669" algn="l">
              <a:lnSpc>
                <a:spcPts val="3639"/>
              </a:lnSpc>
              <a:buFont typeface="Arial"/>
              <a:buChar char="•"/>
            </a:pPr>
            <a:r>
              <a:rPr lang="en-US" sz="2599">
                <a:solidFill>
                  <a:srgbClr val="000000"/>
                </a:solidFill>
                <a:latin typeface="HK Grotesk Medium"/>
              </a:rPr>
              <a:t>Gensim : </a:t>
            </a:r>
            <a:r>
              <a:rPr lang="en-US" sz="2599">
                <a:solidFill>
                  <a:srgbClr val="000000"/>
                </a:solidFill>
                <a:latin typeface="HK Grotesk"/>
              </a:rPr>
              <a:t>Gensim works with large datasets and processes data streams.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63287" y="2304353"/>
            <a:ext cx="5097146" cy="5678293"/>
          </a:xfrm>
          <a:custGeom>
            <a:avLst/>
            <a:gdLst/>
            <a:ahLst/>
            <a:cxnLst/>
            <a:rect l="l" t="t" r="r" b="b"/>
            <a:pathLst>
              <a:path w="5097146" h="5678293">
                <a:moveTo>
                  <a:pt x="0" y="0"/>
                </a:moveTo>
                <a:lnTo>
                  <a:pt x="5097146" y="0"/>
                </a:lnTo>
                <a:lnTo>
                  <a:pt x="5097146" y="5678292"/>
                </a:lnTo>
                <a:lnTo>
                  <a:pt x="0" y="5678292"/>
                </a:lnTo>
                <a:lnTo>
                  <a:pt x="0" y="0"/>
                </a:lnTo>
                <a:close/>
              </a:path>
            </a:pathLst>
          </a:custGeom>
          <a:blipFill>
            <a:blip r:embed="rId2"/>
            <a:stretch>
              <a:fillRect/>
            </a:stretch>
          </a:blipFill>
        </p:spPr>
        <p:txBody>
          <a:bodyPr/>
          <a:lstStyle/>
          <a:p>
            <a:endParaRPr lang="en-IN"/>
          </a:p>
        </p:txBody>
      </p:sp>
      <p:sp>
        <p:nvSpPr>
          <p:cNvPr id="3" name="Freeform 3"/>
          <p:cNvSpPr/>
          <p:nvPr/>
        </p:nvSpPr>
        <p:spPr>
          <a:xfrm>
            <a:off x="8702280" y="1943100"/>
            <a:ext cx="7910321" cy="5832094"/>
          </a:xfrm>
          <a:custGeom>
            <a:avLst/>
            <a:gdLst/>
            <a:ahLst/>
            <a:cxnLst/>
            <a:rect l="l" t="t" r="r" b="b"/>
            <a:pathLst>
              <a:path w="7910321" h="5832094">
                <a:moveTo>
                  <a:pt x="0" y="0"/>
                </a:moveTo>
                <a:lnTo>
                  <a:pt x="7910322" y="0"/>
                </a:lnTo>
                <a:lnTo>
                  <a:pt x="7910322" y="5832093"/>
                </a:lnTo>
                <a:lnTo>
                  <a:pt x="0" y="5832093"/>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5449278" y="-9525"/>
            <a:ext cx="7487960" cy="1228725"/>
          </a:xfrm>
          <a:prstGeom prst="rect">
            <a:avLst/>
          </a:prstGeom>
        </p:spPr>
        <p:txBody>
          <a:bodyPr lIns="0" tIns="0" rIns="0" bIns="0" rtlCol="0" anchor="t">
            <a:spAutoFit/>
          </a:bodyPr>
          <a:lstStyle/>
          <a:p>
            <a:pPr algn="ctr">
              <a:lnSpc>
                <a:spcPts val="9600"/>
              </a:lnSpc>
              <a:spcBef>
                <a:spcPct val="0"/>
              </a:spcBef>
            </a:pPr>
            <a:r>
              <a:rPr lang="en-US" sz="8000">
                <a:solidFill>
                  <a:srgbClr val="000000"/>
                </a:solidFill>
                <a:latin typeface="HK Grotesk Semi-Bold"/>
              </a:rPr>
              <a:t>UML DIAGRAMS</a:t>
            </a:r>
          </a:p>
        </p:txBody>
      </p:sp>
      <p:sp>
        <p:nvSpPr>
          <p:cNvPr id="5" name="TextBox 5"/>
          <p:cNvSpPr txBox="1"/>
          <p:nvPr/>
        </p:nvSpPr>
        <p:spPr>
          <a:xfrm>
            <a:off x="3153386" y="7976489"/>
            <a:ext cx="2197376" cy="1045210"/>
          </a:xfrm>
          <a:prstGeom prst="rect">
            <a:avLst/>
          </a:prstGeom>
        </p:spPr>
        <p:txBody>
          <a:bodyPr lIns="0" tIns="0" rIns="0" bIns="0" rtlCol="0" anchor="t">
            <a:spAutoFit/>
          </a:bodyPr>
          <a:lstStyle/>
          <a:p>
            <a:pPr algn="ctr">
              <a:lnSpc>
                <a:spcPts val="4160"/>
              </a:lnSpc>
            </a:pPr>
            <a:r>
              <a:rPr lang="en-US" sz="3200" dirty="0">
                <a:solidFill>
                  <a:srgbClr val="000000"/>
                </a:solidFill>
                <a:latin typeface="HK Grotesk"/>
              </a:rPr>
              <a:t>Class Diagram</a:t>
            </a:r>
          </a:p>
        </p:txBody>
      </p:sp>
      <p:sp>
        <p:nvSpPr>
          <p:cNvPr id="6" name="TextBox 6"/>
          <p:cNvSpPr txBox="1"/>
          <p:nvPr/>
        </p:nvSpPr>
        <p:spPr>
          <a:xfrm>
            <a:off x="11838550" y="7976489"/>
            <a:ext cx="2197376" cy="1045210"/>
          </a:xfrm>
          <a:prstGeom prst="rect">
            <a:avLst/>
          </a:prstGeom>
        </p:spPr>
        <p:txBody>
          <a:bodyPr lIns="0" tIns="0" rIns="0" bIns="0" rtlCol="0" anchor="t">
            <a:spAutoFit/>
          </a:bodyPr>
          <a:lstStyle/>
          <a:p>
            <a:pPr algn="ctr">
              <a:lnSpc>
                <a:spcPts val="4160"/>
              </a:lnSpc>
            </a:pPr>
            <a:r>
              <a:rPr lang="en-US" sz="3200" dirty="0">
                <a:solidFill>
                  <a:srgbClr val="000000"/>
                </a:solidFill>
                <a:latin typeface="HK Grotesk"/>
              </a:rPr>
              <a:t>Sequence</a:t>
            </a:r>
          </a:p>
          <a:p>
            <a:pPr algn="ctr">
              <a:lnSpc>
                <a:spcPts val="4160"/>
              </a:lnSpc>
            </a:pPr>
            <a:r>
              <a:rPr lang="en-US" sz="3200" dirty="0">
                <a:solidFill>
                  <a:srgbClr val="000000"/>
                </a:solidFill>
                <a:latin typeface="HK Grotesk"/>
              </a:rPr>
              <a:t>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856807" y="2778377"/>
            <a:ext cx="10574386" cy="4730245"/>
          </a:xfrm>
          <a:custGeom>
            <a:avLst/>
            <a:gdLst/>
            <a:ahLst/>
            <a:cxnLst/>
            <a:rect l="l" t="t" r="r" b="b"/>
            <a:pathLst>
              <a:path w="10574386" h="4730245">
                <a:moveTo>
                  <a:pt x="0" y="0"/>
                </a:moveTo>
                <a:lnTo>
                  <a:pt x="10574386" y="0"/>
                </a:lnTo>
                <a:lnTo>
                  <a:pt x="10574386" y="4730245"/>
                </a:lnTo>
                <a:lnTo>
                  <a:pt x="0" y="4730245"/>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5449278" y="-9525"/>
            <a:ext cx="7487960" cy="1228725"/>
          </a:xfrm>
          <a:prstGeom prst="rect">
            <a:avLst/>
          </a:prstGeom>
        </p:spPr>
        <p:txBody>
          <a:bodyPr lIns="0" tIns="0" rIns="0" bIns="0" rtlCol="0" anchor="t">
            <a:spAutoFit/>
          </a:bodyPr>
          <a:lstStyle/>
          <a:p>
            <a:pPr algn="ctr">
              <a:lnSpc>
                <a:spcPts val="9600"/>
              </a:lnSpc>
              <a:spcBef>
                <a:spcPct val="0"/>
              </a:spcBef>
            </a:pPr>
            <a:r>
              <a:rPr lang="en-US" sz="8000">
                <a:solidFill>
                  <a:srgbClr val="000000"/>
                </a:solidFill>
                <a:latin typeface="HK Grotesk Semi-Bold"/>
              </a:rPr>
              <a:t>UML DIAGRAMS</a:t>
            </a:r>
          </a:p>
        </p:txBody>
      </p:sp>
      <p:sp>
        <p:nvSpPr>
          <p:cNvPr id="4" name="TextBox 4"/>
          <p:cNvSpPr txBox="1"/>
          <p:nvPr/>
        </p:nvSpPr>
        <p:spPr>
          <a:xfrm>
            <a:off x="8094570" y="7734300"/>
            <a:ext cx="2197376" cy="1045210"/>
          </a:xfrm>
          <a:prstGeom prst="rect">
            <a:avLst/>
          </a:prstGeom>
        </p:spPr>
        <p:txBody>
          <a:bodyPr lIns="0" tIns="0" rIns="0" bIns="0" rtlCol="0" anchor="t">
            <a:spAutoFit/>
          </a:bodyPr>
          <a:lstStyle/>
          <a:p>
            <a:pPr algn="ctr">
              <a:lnSpc>
                <a:spcPts val="4160"/>
              </a:lnSpc>
            </a:pPr>
            <a:r>
              <a:rPr lang="en-US" sz="3200" dirty="0">
                <a:solidFill>
                  <a:srgbClr val="000000"/>
                </a:solidFill>
                <a:latin typeface="HK Grotesk"/>
              </a:rPr>
              <a:t>Activity</a:t>
            </a:r>
          </a:p>
          <a:p>
            <a:pPr algn="ctr">
              <a:lnSpc>
                <a:spcPts val="4160"/>
              </a:lnSpc>
            </a:pPr>
            <a:r>
              <a:rPr lang="en-US" sz="3200" dirty="0">
                <a:solidFill>
                  <a:srgbClr val="000000"/>
                </a:solidFill>
                <a:latin typeface="HK Grotesk"/>
              </a:rPr>
              <a:t>Diagram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35778" y="2019300"/>
            <a:ext cx="17416443" cy="7168749"/>
          </a:xfrm>
          <a:custGeom>
            <a:avLst/>
            <a:gdLst/>
            <a:ahLst/>
            <a:cxnLst/>
            <a:rect l="l" t="t" r="r" b="b"/>
            <a:pathLst>
              <a:path w="17416443" h="7168749">
                <a:moveTo>
                  <a:pt x="0" y="0"/>
                </a:moveTo>
                <a:lnTo>
                  <a:pt x="17416444" y="0"/>
                </a:lnTo>
                <a:lnTo>
                  <a:pt x="17416444" y="7168749"/>
                </a:lnTo>
                <a:lnTo>
                  <a:pt x="0" y="7168749"/>
                </a:lnTo>
                <a:lnTo>
                  <a:pt x="0" y="0"/>
                </a:lnTo>
                <a:close/>
              </a:path>
            </a:pathLst>
          </a:custGeom>
          <a:blipFill>
            <a:blip r:embed="rId2"/>
            <a:stretch>
              <a:fillRect/>
            </a:stretch>
          </a:blipFill>
        </p:spPr>
        <p:txBody>
          <a:bodyPr/>
          <a:lstStyle/>
          <a:p>
            <a:endParaRPr lang="en-IN"/>
          </a:p>
        </p:txBody>
      </p:sp>
      <p:sp>
        <p:nvSpPr>
          <p:cNvPr id="3" name="TextBox 3"/>
          <p:cNvSpPr txBox="1"/>
          <p:nvPr/>
        </p:nvSpPr>
        <p:spPr>
          <a:xfrm>
            <a:off x="6877348" y="697117"/>
            <a:ext cx="4533305" cy="1228725"/>
          </a:xfrm>
          <a:prstGeom prst="rect">
            <a:avLst/>
          </a:prstGeom>
        </p:spPr>
        <p:txBody>
          <a:bodyPr lIns="0" tIns="0" rIns="0" bIns="0" rtlCol="0" anchor="t">
            <a:spAutoFit/>
          </a:bodyPr>
          <a:lstStyle/>
          <a:p>
            <a:pPr algn="ctr">
              <a:lnSpc>
                <a:spcPts val="9600"/>
              </a:lnSpc>
              <a:spcBef>
                <a:spcPct val="0"/>
              </a:spcBef>
            </a:pPr>
            <a:r>
              <a:rPr lang="en-US" sz="8000">
                <a:solidFill>
                  <a:srgbClr val="000000"/>
                </a:solidFill>
                <a:latin typeface="HK Grotesk Semi-Bold"/>
              </a:rPr>
              <a:t>EXAMPLE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573000" y="2494244"/>
            <a:ext cx="3711796" cy="5983266"/>
          </a:xfrm>
          <a:custGeom>
            <a:avLst/>
            <a:gdLst/>
            <a:ahLst/>
            <a:cxnLst/>
            <a:rect l="l" t="t" r="r" b="b"/>
            <a:pathLst>
              <a:path w="3711796" h="5983266">
                <a:moveTo>
                  <a:pt x="0" y="0"/>
                </a:moveTo>
                <a:lnTo>
                  <a:pt x="3711796" y="0"/>
                </a:lnTo>
                <a:lnTo>
                  <a:pt x="3711796" y="5983266"/>
                </a:lnTo>
                <a:lnTo>
                  <a:pt x="0" y="5983266"/>
                </a:lnTo>
                <a:lnTo>
                  <a:pt x="0" y="0"/>
                </a:lnTo>
                <a:close/>
              </a:path>
            </a:pathLst>
          </a:custGeom>
          <a:blipFill>
            <a:blip r:embed="rId2"/>
            <a:stretch>
              <a:fillRect l="-2982" r="-178977"/>
            </a:stretch>
          </a:blipFill>
        </p:spPr>
        <p:txBody>
          <a:bodyPr/>
          <a:lstStyle/>
          <a:p>
            <a:endParaRPr lang="en-IN"/>
          </a:p>
        </p:txBody>
      </p:sp>
      <p:grpSp>
        <p:nvGrpSpPr>
          <p:cNvPr id="3" name="Group 3"/>
          <p:cNvGrpSpPr/>
          <p:nvPr/>
        </p:nvGrpSpPr>
        <p:grpSpPr>
          <a:xfrm>
            <a:off x="1752600" y="2095500"/>
            <a:ext cx="9767838" cy="6382010"/>
            <a:chOff x="0" y="0"/>
            <a:chExt cx="13023784" cy="8509347"/>
          </a:xfrm>
        </p:grpSpPr>
        <p:sp>
          <p:nvSpPr>
            <p:cNvPr id="4" name="TextBox 4"/>
            <p:cNvSpPr txBox="1"/>
            <p:nvPr/>
          </p:nvSpPr>
          <p:spPr>
            <a:xfrm>
              <a:off x="0" y="-9525"/>
              <a:ext cx="8225832" cy="1812925"/>
            </a:xfrm>
            <a:prstGeom prst="rect">
              <a:avLst/>
            </a:prstGeom>
          </p:spPr>
          <p:txBody>
            <a:bodyPr lIns="0" tIns="0" rIns="0" bIns="0" rtlCol="0" anchor="t">
              <a:spAutoFit/>
            </a:bodyPr>
            <a:lstStyle/>
            <a:p>
              <a:pPr>
                <a:lnSpc>
                  <a:spcPts val="10654"/>
                </a:lnSpc>
              </a:pPr>
              <a:r>
                <a:rPr lang="en-US" sz="8879" dirty="0">
                  <a:solidFill>
                    <a:srgbClr val="000000"/>
                  </a:solidFill>
                  <a:latin typeface="HK Grotesk Semi-Bold"/>
                </a:rPr>
                <a:t>Conclusion</a:t>
              </a:r>
            </a:p>
          </p:txBody>
        </p:sp>
        <p:sp>
          <p:nvSpPr>
            <p:cNvPr id="5" name="TextBox 5"/>
            <p:cNvSpPr txBox="1"/>
            <p:nvPr/>
          </p:nvSpPr>
          <p:spPr>
            <a:xfrm>
              <a:off x="0" y="2159347"/>
              <a:ext cx="13023784" cy="6350000"/>
            </a:xfrm>
            <a:prstGeom prst="rect">
              <a:avLst/>
            </a:prstGeom>
          </p:spPr>
          <p:txBody>
            <a:bodyPr lIns="0" tIns="0" rIns="0" bIns="0" rtlCol="0" anchor="t">
              <a:spAutoFit/>
            </a:bodyPr>
            <a:lstStyle/>
            <a:p>
              <a:pPr>
                <a:lnSpc>
                  <a:spcPts val="3788"/>
                </a:lnSpc>
                <a:spcBef>
                  <a:spcPct val="0"/>
                </a:spcBef>
              </a:pPr>
              <a:r>
                <a:rPr lang="en-US" sz="3157">
                  <a:solidFill>
                    <a:srgbClr val="000000"/>
                  </a:solidFill>
                  <a:latin typeface="HK Grotesk"/>
                </a:rPr>
                <a:t>Integrating artificial intelligence powered chatbots in healthcare delivery models can transform the industry as we know it. Remote patient care improves accessibility and guarantees that everyone has access to high-quality healthcare. Machine learning and natural language understanding algorithms make these chatbots smarter, working 24/7 to provide personalised healthcare solutions to each patient. The future of healthcare is here, and chatbots are playing a crucial role in driving this transformation.</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76000" y="2335474"/>
            <a:ext cx="7936000" cy="5616051"/>
          </a:xfrm>
          <a:custGeom>
            <a:avLst/>
            <a:gdLst/>
            <a:ahLst/>
            <a:cxnLst/>
            <a:rect l="l" t="t" r="r" b="b"/>
            <a:pathLst>
              <a:path w="7936000" h="5616051">
                <a:moveTo>
                  <a:pt x="0" y="0"/>
                </a:moveTo>
                <a:lnTo>
                  <a:pt x="7936000" y="0"/>
                </a:lnTo>
                <a:lnTo>
                  <a:pt x="7936000" y="5616052"/>
                </a:lnTo>
                <a:lnTo>
                  <a:pt x="0" y="5616052"/>
                </a:lnTo>
                <a:lnTo>
                  <a:pt x="0" y="0"/>
                </a:lnTo>
                <a:close/>
              </a:path>
            </a:pathLst>
          </a:custGeom>
          <a:blipFill>
            <a:blip r:embed="rId2"/>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1425</Words>
  <Application>Microsoft Office PowerPoint</Application>
  <PresentationFormat>Custom</PresentationFormat>
  <Paragraphs>118</Paragraphs>
  <Slides>19</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HK Grotesk Semi-Bold</vt:lpstr>
      <vt:lpstr>HK Grotesk Medium</vt:lpstr>
      <vt:lpstr>Open Sauce</vt:lpstr>
      <vt:lpstr>Calibri</vt:lpstr>
      <vt:lpstr>Arial</vt:lpstr>
      <vt:lpstr>HK Grotesk Bold</vt:lpstr>
      <vt:lpstr>HK Grotesk</vt:lpstr>
      <vt:lpstr>HK Grotesk Light</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HealthCare Chatbot</dc:title>
  <dc:creator>Shravs</dc:creator>
  <cp:lastModifiedBy>Gavini vamshi</cp:lastModifiedBy>
  <cp:revision>4</cp:revision>
  <dcterms:created xsi:type="dcterms:W3CDTF">2006-08-16T00:00:00Z</dcterms:created>
  <dcterms:modified xsi:type="dcterms:W3CDTF">2023-11-03T11:30:26Z</dcterms:modified>
  <dc:identifier>DAFypjmM85M</dc:identifier>
</cp:coreProperties>
</file>