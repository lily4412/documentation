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chivo Narrow" panose="020B0506020202020B04"/>
      <p:regular r:id="rId23"/>
    </p:embeddedFont>
    <p:embeddedFont>
      <p:font typeface="Calibri" panose="020F0502020204030204" pitchFamily="34" charset="0"/>
      <p:regular r:id="rId24"/>
      <p:bold r:id="rId25"/>
      <p:italic r:id="rId26"/>
      <p:boldItalic r:id="rId27"/>
    </p:embeddedFont>
    <p:embeddedFont>
      <p:font typeface="Open Sauce"/>
      <p:regular r:id="rId28"/>
    </p:embeddedFont>
    <p:embeddedFont>
      <p:font typeface="Open Sauce Bold"/>
      <p:regular r:id="rId29"/>
    </p:embeddedFont>
    <p:embeddedFont>
      <p:font typeface="Open Sauce Light"/>
      <p:regular r:id="rId30"/>
    </p:embeddedFont>
    <p:embeddedFont>
      <p:font typeface="Open Sauce Medium" pitchFamily="2"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8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4.fntdata"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3.fntdata"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7.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2.fntdata"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1.fntdata" /><Relationship Id="rId28" Type="http://schemas.openxmlformats.org/officeDocument/2006/relationships/font" Target="fonts/font6.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9.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5.fntdata" /><Relationship Id="rId30" Type="http://schemas.openxmlformats.org/officeDocument/2006/relationships/font" Target="fonts/font8.fntdata" /><Relationship Id="rId35"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7.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7.xml" /><Relationship Id="rId4" Type="http://schemas.openxmlformats.org/officeDocument/2006/relationships/image" Target="../media/image5.png" /></Relationships>
</file>

<file path=ppt/slides/_rels/slide5.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6.png" /><Relationship Id="rId1" Type="http://schemas.openxmlformats.org/officeDocument/2006/relationships/slideLayout" Target="../slideLayouts/slideLayout7.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8.png" /></Relationships>
</file>

<file path=ppt/slides/_rels/slide6.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14.svg" /><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6.svg" /><Relationship Id="rId2" Type="http://schemas.openxmlformats.org/officeDocument/2006/relationships/image" Target="../media/image15.png" /><Relationship Id="rId1" Type="http://schemas.openxmlformats.org/officeDocument/2006/relationships/slideLayout" Target="../slideLayouts/slideLayout7.xml" /><Relationship Id="rId4" Type="http://schemas.openxmlformats.org/officeDocument/2006/relationships/image" Target="../media/image17.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7.xml" /><Relationship Id="rId4" Type="http://schemas.openxmlformats.org/officeDocument/2006/relationships/image" Target="../media/image20.pn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3" Type="http://schemas.openxmlformats.org/officeDocument/2006/relationships/image" Target="../media/image14.svg" /><Relationship Id="rId2" Type="http://schemas.openxmlformats.org/officeDocument/2006/relationships/image" Target="../media/image13.png" /><Relationship Id="rId1" Type="http://schemas.openxmlformats.org/officeDocument/2006/relationships/slideLayout" Target="../slideLayouts/slideLayout7.xml" /><Relationship Id="rId4" Type="http://schemas.openxmlformats.org/officeDocument/2006/relationships/image" Target="../media/image21.png" /></Relationships>
</file>

<file path=ppt/slides/_rels/slide16.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image" Target="../media/image24.svg" /><Relationship Id="rId2" Type="http://schemas.openxmlformats.org/officeDocument/2006/relationships/image" Target="../media/image23.png" /><Relationship Id="rId1" Type="http://schemas.openxmlformats.org/officeDocument/2006/relationships/slideLayout" Target="../slideLayouts/slideLayout7.xml" /><Relationship Id="rId4" Type="http://schemas.openxmlformats.org/officeDocument/2006/relationships/image" Target="../media/image25.png" /></Relationships>
</file>

<file path=ppt/slides/_rels/slide18.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7.xml" /><Relationship Id="rId5" Type="http://schemas.openxmlformats.org/officeDocument/2006/relationships/image" Target="../media/image27.svg" /><Relationship Id="rId4" Type="http://schemas.openxmlformats.org/officeDocument/2006/relationships/image" Target="../media/image26.png" /></Relationships>
</file>

<file path=ppt/slides/_rels/slide19.xml.rels><?xml version="1.0" encoding="UTF-8" standalone="yes"?>
<Relationships xmlns="http://schemas.openxmlformats.org/package/2006/relationships"><Relationship Id="rId3" Type="http://schemas.openxmlformats.org/officeDocument/2006/relationships/image" Target="../media/image29.svg" /><Relationship Id="rId2" Type="http://schemas.openxmlformats.org/officeDocument/2006/relationships/image" Target="../media/image28.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3" Type="http://schemas.openxmlformats.org/officeDocument/2006/relationships/image" Target="../media/image24.svg" /><Relationship Id="rId2" Type="http://schemas.openxmlformats.org/officeDocument/2006/relationships/image" Target="../media/image23.pn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30.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grpSp>
        <p:nvGrpSpPr>
          <p:cNvPr id="2" name="Group 2"/>
          <p:cNvGrpSpPr/>
          <p:nvPr/>
        </p:nvGrpSpPr>
        <p:grpSpPr>
          <a:xfrm>
            <a:off x="4824630" y="4007851"/>
            <a:ext cx="9945163" cy="4297525"/>
            <a:chOff x="0" y="0"/>
            <a:chExt cx="13260217" cy="5730034"/>
          </a:xfrm>
        </p:grpSpPr>
        <p:sp>
          <p:nvSpPr>
            <p:cNvPr id="3" name="TextBox 3"/>
            <p:cNvSpPr txBox="1"/>
            <p:nvPr/>
          </p:nvSpPr>
          <p:spPr>
            <a:xfrm>
              <a:off x="0" y="1780631"/>
              <a:ext cx="13260217" cy="2447919"/>
            </a:xfrm>
            <a:prstGeom prst="rect">
              <a:avLst/>
            </a:prstGeom>
          </p:spPr>
          <p:txBody>
            <a:bodyPr lIns="0" tIns="0" rIns="0" bIns="0" rtlCol="0" anchor="t">
              <a:spAutoFit/>
            </a:bodyPr>
            <a:lstStyle/>
            <a:p>
              <a:pPr>
                <a:lnSpc>
                  <a:spcPts val="13649"/>
                </a:lnSpc>
              </a:pPr>
              <a:r>
                <a:rPr lang="en-US" sz="12999">
                  <a:solidFill>
                    <a:srgbClr val="FF7C64"/>
                  </a:solidFill>
                  <a:latin typeface="Archivo Narrow"/>
                </a:rPr>
                <a:t> Neuralink</a:t>
              </a:r>
              <a:r>
                <a:rPr lang="en-US" sz="12999">
                  <a:solidFill>
                    <a:srgbClr val="FFFFFF"/>
                  </a:solidFill>
                  <a:latin typeface="Archivo Narrow"/>
                </a:rPr>
                <a:t> </a:t>
              </a:r>
            </a:p>
          </p:txBody>
        </p:sp>
        <p:sp>
          <p:nvSpPr>
            <p:cNvPr id="4" name="TextBox 4"/>
            <p:cNvSpPr txBox="1"/>
            <p:nvPr/>
          </p:nvSpPr>
          <p:spPr>
            <a:xfrm>
              <a:off x="0" y="-38100"/>
              <a:ext cx="11115405" cy="1004993"/>
            </a:xfrm>
            <a:prstGeom prst="rect">
              <a:avLst/>
            </a:prstGeom>
          </p:spPr>
          <p:txBody>
            <a:bodyPr lIns="0" tIns="0" rIns="0" bIns="0" rtlCol="0" anchor="t">
              <a:spAutoFit/>
            </a:bodyPr>
            <a:lstStyle/>
            <a:p>
              <a:pPr>
                <a:lnSpc>
                  <a:spcPts val="3079"/>
                </a:lnSpc>
              </a:pPr>
              <a:r>
                <a:rPr lang="en-US" sz="2199" spc="109">
                  <a:solidFill>
                    <a:srgbClr val="FFFFFF"/>
                  </a:solidFill>
                  <a:latin typeface="Open Sauce Medium"/>
                </a:rPr>
                <a:t>BRIDGING THE GAP BETWEEN HUMANS AND MACHINES</a:t>
              </a:r>
            </a:p>
          </p:txBody>
        </p:sp>
        <p:sp>
          <p:nvSpPr>
            <p:cNvPr id="5" name="TextBox 5"/>
            <p:cNvSpPr txBox="1"/>
            <p:nvPr/>
          </p:nvSpPr>
          <p:spPr>
            <a:xfrm>
              <a:off x="0" y="5107311"/>
              <a:ext cx="13260217" cy="622723"/>
            </a:xfrm>
            <a:prstGeom prst="rect">
              <a:avLst/>
            </a:prstGeom>
          </p:spPr>
          <p:txBody>
            <a:bodyPr lIns="0" tIns="0" rIns="0" bIns="0" rtlCol="0" anchor="t">
              <a:spAutoFit/>
            </a:bodyPr>
            <a:lstStyle/>
            <a:p>
              <a:pPr>
                <a:lnSpc>
                  <a:spcPts val="3919"/>
                </a:lnSpc>
              </a:pPr>
              <a:r>
                <a:rPr lang="en-US" sz="2799">
                  <a:solidFill>
                    <a:srgbClr val="FFFFFF"/>
                  </a:solidFill>
                  <a:latin typeface="Open Sauce Light"/>
                </a:rPr>
                <a:t>Merging the Human Brain with Technology</a:t>
              </a:r>
            </a:p>
          </p:txBody>
        </p:sp>
      </p:grpSp>
      <p:sp>
        <p:nvSpPr>
          <p:cNvPr id="6" name="Freeform 6"/>
          <p:cNvSpPr/>
          <p:nvPr/>
        </p:nvSpPr>
        <p:spPr>
          <a:xfrm>
            <a:off x="-3631752" y="7479061"/>
            <a:ext cx="6558303" cy="6522531"/>
          </a:xfrm>
          <a:custGeom>
            <a:avLst/>
            <a:gdLst/>
            <a:ahLst/>
            <a:cxnLst/>
            <a:rect l="l" t="t" r="r" b="b"/>
            <a:pathLst>
              <a:path w="6558303" h="6522531">
                <a:moveTo>
                  <a:pt x="0" y="0"/>
                </a:moveTo>
                <a:lnTo>
                  <a:pt x="6558303" y="0"/>
                </a:lnTo>
                <a:lnTo>
                  <a:pt x="6558303" y="6522530"/>
                </a:lnTo>
                <a:lnTo>
                  <a:pt x="0" y="6522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4769793" y="-614405"/>
            <a:ext cx="6558303" cy="6522531"/>
          </a:xfrm>
          <a:custGeom>
            <a:avLst/>
            <a:gdLst/>
            <a:ahLst/>
            <a:cxnLst/>
            <a:rect l="l" t="t" r="r" b="b"/>
            <a:pathLst>
              <a:path w="6558303" h="6522531">
                <a:moveTo>
                  <a:pt x="0" y="0"/>
                </a:moveTo>
                <a:lnTo>
                  <a:pt x="6558303" y="0"/>
                </a:lnTo>
                <a:lnTo>
                  <a:pt x="6558303" y="6522531"/>
                </a:lnTo>
                <a:lnTo>
                  <a:pt x="0" y="65225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0452215" y="-4852545"/>
            <a:ext cx="6558303" cy="6522531"/>
          </a:xfrm>
          <a:custGeom>
            <a:avLst/>
            <a:gdLst/>
            <a:ahLst/>
            <a:cxnLst/>
            <a:rect l="l" t="t" r="r" b="b"/>
            <a:pathLst>
              <a:path w="6558303" h="6522531">
                <a:moveTo>
                  <a:pt x="0" y="0"/>
                </a:moveTo>
                <a:lnTo>
                  <a:pt x="6558304" y="0"/>
                </a:lnTo>
                <a:lnTo>
                  <a:pt x="6558304" y="6522531"/>
                </a:lnTo>
                <a:lnTo>
                  <a:pt x="0" y="6522531"/>
                </a:lnTo>
                <a:lnTo>
                  <a:pt x="0" y="0"/>
                </a:lnTo>
                <a:close/>
              </a:path>
            </a:pathLst>
          </a:custGeom>
          <a:blipFill>
            <a:blip r:embed="rId2">
              <a:alphaModFix amt="6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618761" y="264503"/>
            <a:ext cx="1752612" cy="1752612"/>
          </a:xfrm>
          <a:custGeom>
            <a:avLst/>
            <a:gdLst/>
            <a:ahLst/>
            <a:cxnLst/>
            <a:rect l="l" t="t" r="r" b="b"/>
            <a:pathLst>
              <a:path w="1752612" h="1752612">
                <a:moveTo>
                  <a:pt x="0" y="0"/>
                </a:moveTo>
                <a:lnTo>
                  <a:pt x="1752611" y="0"/>
                </a:lnTo>
                <a:lnTo>
                  <a:pt x="1752611" y="1752611"/>
                </a:lnTo>
                <a:lnTo>
                  <a:pt x="0" y="1752611"/>
                </a:lnTo>
                <a:lnTo>
                  <a:pt x="0" y="0"/>
                </a:lnTo>
                <a:close/>
              </a:path>
            </a:pathLst>
          </a:custGeom>
          <a:blipFill>
            <a:blip r:embed="rId4"/>
            <a:stretch>
              <a:fillRect/>
            </a:stretch>
          </a:blipFill>
        </p:spPr>
        <p:txBody>
          <a:bodyPr/>
          <a:lstStyle/>
          <a:p>
            <a:endParaRPr lang="en-IN"/>
          </a:p>
        </p:txBody>
      </p:sp>
      <p:sp>
        <p:nvSpPr>
          <p:cNvPr id="10" name="TextBox 10"/>
          <p:cNvSpPr txBox="1"/>
          <p:nvPr/>
        </p:nvSpPr>
        <p:spPr>
          <a:xfrm>
            <a:off x="2631145" y="378814"/>
            <a:ext cx="14887928" cy="1638300"/>
          </a:xfrm>
          <a:prstGeom prst="rect">
            <a:avLst/>
          </a:prstGeom>
        </p:spPr>
        <p:txBody>
          <a:bodyPr lIns="0" tIns="0" rIns="0" bIns="0" rtlCol="0" anchor="t">
            <a:spAutoFit/>
          </a:bodyPr>
          <a:lstStyle/>
          <a:p>
            <a:pPr>
              <a:lnSpc>
                <a:spcPts val="6300"/>
              </a:lnSpc>
              <a:spcBef>
                <a:spcPct val="0"/>
              </a:spcBef>
            </a:pPr>
            <a:r>
              <a:rPr lang="en-US" sz="6000">
                <a:solidFill>
                  <a:srgbClr val="FFFFFF"/>
                </a:solidFill>
                <a:latin typeface="Open Sauce"/>
              </a:rPr>
              <a:t>Vignan’s Institute of Management and Technology  for Women</a:t>
            </a:r>
          </a:p>
        </p:txBody>
      </p:sp>
      <p:sp>
        <p:nvSpPr>
          <p:cNvPr id="11" name="TextBox 11"/>
          <p:cNvSpPr txBox="1"/>
          <p:nvPr/>
        </p:nvSpPr>
        <p:spPr>
          <a:xfrm>
            <a:off x="4506138" y="2655289"/>
            <a:ext cx="6399252" cy="752475"/>
          </a:xfrm>
          <a:prstGeom prst="rect">
            <a:avLst/>
          </a:prstGeom>
        </p:spPr>
        <p:txBody>
          <a:bodyPr lIns="0" tIns="0" rIns="0" bIns="0" rtlCol="0" anchor="t">
            <a:spAutoFit/>
          </a:bodyPr>
          <a:lstStyle/>
          <a:p>
            <a:pPr algn="ctr">
              <a:lnSpc>
                <a:spcPts val="5774"/>
              </a:lnSpc>
              <a:spcBef>
                <a:spcPct val="0"/>
              </a:spcBef>
            </a:pPr>
            <a:r>
              <a:rPr lang="en-US" sz="5499">
                <a:solidFill>
                  <a:srgbClr val="FF7C64"/>
                </a:solidFill>
                <a:latin typeface="Archivo Narrow"/>
              </a:rPr>
              <a:t>Department of AI and ML</a:t>
            </a:r>
          </a:p>
        </p:txBody>
      </p:sp>
      <p:sp>
        <p:nvSpPr>
          <p:cNvPr id="12" name="TextBox 12"/>
          <p:cNvSpPr txBox="1"/>
          <p:nvPr/>
        </p:nvSpPr>
        <p:spPr>
          <a:xfrm>
            <a:off x="12407514" y="8898760"/>
            <a:ext cx="5591056" cy="767715"/>
          </a:xfrm>
          <a:prstGeom prst="rect">
            <a:avLst/>
          </a:prstGeom>
        </p:spPr>
        <p:txBody>
          <a:bodyPr lIns="0" tIns="0" rIns="0" bIns="0" rtlCol="0" anchor="t">
            <a:spAutoFit/>
          </a:bodyPr>
          <a:lstStyle/>
          <a:p>
            <a:pPr>
              <a:lnSpc>
                <a:spcPts val="2939"/>
              </a:lnSpc>
            </a:pPr>
            <a:r>
              <a:rPr lang="en-US" sz="2799">
                <a:solidFill>
                  <a:srgbClr val="FFFFFF"/>
                </a:solidFill>
                <a:latin typeface="Open Sauce"/>
              </a:rPr>
              <a:t>Name:Desala Likhitha Mahalaxmi</a:t>
            </a:r>
          </a:p>
          <a:p>
            <a:pPr>
              <a:lnSpc>
                <a:spcPts val="2939"/>
              </a:lnSpc>
              <a:spcBef>
                <a:spcPct val="0"/>
              </a:spcBef>
            </a:pPr>
            <a:r>
              <a:rPr lang="en-US" sz="2799">
                <a:solidFill>
                  <a:srgbClr val="FFFFFF"/>
                </a:solidFill>
                <a:latin typeface="Open Sauce"/>
              </a:rPr>
              <a:t>Roll No: 20UP1A6611</a:t>
            </a:r>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1016" y="1209675"/>
            <a:ext cx="16765967" cy="1190625"/>
          </a:xfrm>
          <a:prstGeom prst="rect">
            <a:avLst/>
          </a:prstGeom>
        </p:spPr>
        <p:txBody>
          <a:bodyPr lIns="0" tIns="0" rIns="0" bIns="0" rtlCol="0" anchor="t">
            <a:spAutoFit/>
          </a:bodyPr>
          <a:lstStyle/>
          <a:p>
            <a:pPr>
              <a:lnSpc>
                <a:spcPts val="9359"/>
              </a:lnSpc>
            </a:pPr>
            <a:r>
              <a:rPr lang="en-US" sz="7799">
                <a:solidFill>
                  <a:srgbClr val="FF7C64"/>
                </a:solidFill>
                <a:latin typeface="Archivo Narrow"/>
              </a:rPr>
              <a:t>   Abstract</a:t>
            </a:r>
          </a:p>
        </p:txBody>
      </p:sp>
      <p:graphicFrame>
        <p:nvGraphicFramePr>
          <p:cNvPr id="3" name="Table 3"/>
          <p:cNvGraphicFramePr>
            <a:graphicFrameLocks noGrp="1"/>
          </p:cNvGraphicFramePr>
          <p:nvPr/>
        </p:nvGraphicFramePr>
        <p:xfrm>
          <a:off x="1301959" y="3201848"/>
          <a:ext cx="15684083" cy="5927807"/>
        </p:xfrm>
        <a:graphic>
          <a:graphicData uri="http://schemas.openxmlformats.org/drawingml/2006/table">
            <a:tbl>
              <a:tblPr/>
              <a:tblGrid>
                <a:gridCol w="15684083">
                  <a:extLst>
                    <a:ext uri="{9D8B030D-6E8A-4147-A177-3AD203B41FA5}">
                      <a16:colId xmlns:a16="http://schemas.microsoft.com/office/drawing/2014/main" val="20000"/>
                    </a:ext>
                  </a:extLst>
                </a:gridCol>
              </a:tblGrid>
              <a:tr h="1181100">
                <a:tc>
                  <a:txBody>
                    <a:bodyPr/>
                    <a:lstStyle/>
                    <a:p>
                      <a:pPr marL="453390" lvl="1" indent="-226695" algn="l">
                        <a:lnSpc>
                          <a:spcPts val="3150"/>
                        </a:lnSpc>
                        <a:buFont typeface="Arial"/>
                        <a:buChar char="•"/>
                        <a:defRPr/>
                      </a:pPr>
                      <a:r>
                        <a:rPr lang="en-US" sz="2100">
                          <a:solidFill>
                            <a:srgbClr val="102B30"/>
                          </a:solidFill>
                          <a:latin typeface="Open Sauce Light"/>
                        </a:rPr>
                        <a:t>Neuralink, a pioneering neurotechnology company founded by Elon Musk, is at the forefront of the emerging field of brain-computer interfaces.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81100">
                <a:tc>
                  <a:txBody>
                    <a:bodyPr/>
                    <a:lstStyle/>
                    <a:p>
                      <a:pPr marL="453390" lvl="1" indent="-226695" algn="l">
                        <a:lnSpc>
                          <a:spcPts val="3150"/>
                        </a:lnSpc>
                        <a:buFont typeface="Arial"/>
                        <a:buChar char="•"/>
                        <a:defRPr/>
                      </a:pPr>
                      <a:r>
                        <a:rPr lang="en-US" sz="2100">
                          <a:solidFill>
                            <a:srgbClr val="102B30"/>
                          </a:solidFill>
                          <a:latin typeface="Open Sauce Light"/>
                        </a:rPr>
                        <a:t>Their groundbreaking work centers around the development of neural implants and sophisticated signal processing algorithms, aiming to create a seamless connection between the human brain and artificial intelligence systems.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03407">
                <a:tc>
                  <a:txBody>
                    <a:bodyPr/>
                    <a:lstStyle/>
                    <a:p>
                      <a:pPr marL="453390" lvl="1" indent="-226695" algn="l">
                        <a:lnSpc>
                          <a:spcPts val="3150"/>
                        </a:lnSpc>
                        <a:buFont typeface="Arial"/>
                        <a:buChar char="•"/>
                        <a:defRPr/>
                      </a:pPr>
                      <a:r>
                        <a:rPr lang="en-US" sz="2100">
                          <a:solidFill>
                            <a:srgbClr val="102B30"/>
                          </a:solidFill>
                          <a:latin typeface="Open Sauce Light"/>
                        </a:rPr>
                        <a:t>With the potential to restore sensory functions, augment cognitive abilities, and transform communication for individuals with disabilities, Neuralink's technology holds promise in revolutionizing human-computer interaction.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81100">
                <a:tc>
                  <a:txBody>
                    <a:bodyPr/>
                    <a:lstStyle/>
                    <a:p>
                      <a:pPr marL="453390" lvl="1" indent="-226695" algn="l">
                        <a:lnSpc>
                          <a:spcPts val="3150"/>
                        </a:lnSpc>
                        <a:buFont typeface="Arial"/>
                        <a:buChar char="•"/>
                        <a:defRPr/>
                      </a:pPr>
                      <a:r>
                        <a:rPr lang="en-US" sz="2100">
                          <a:solidFill>
                            <a:srgbClr val="102B30"/>
                          </a:solidFill>
                          <a:latin typeface="Open Sauce Light"/>
                        </a:rPr>
                        <a:t>However, the path forward is rife with challenges, including navigating regulatory frameworks, ensuring long-term implant safety, and addressing the ethical implications of merging human minds with machines.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81100">
                <a:tc>
                  <a:txBody>
                    <a:bodyPr/>
                    <a:lstStyle/>
                    <a:p>
                      <a:pPr marL="453390" lvl="1" indent="-226695" algn="l">
                        <a:lnSpc>
                          <a:spcPts val="3150"/>
                        </a:lnSpc>
                        <a:buFont typeface="Arial"/>
                        <a:buChar char="•"/>
                        <a:defRPr/>
                      </a:pPr>
                      <a:r>
                        <a:rPr lang="en-US" sz="2100">
                          <a:solidFill>
                            <a:srgbClr val="102B30"/>
                          </a:solidFill>
                          <a:latin typeface="Open Sauce Light"/>
                        </a:rPr>
                        <a:t>As we stand on the brink of this neurotechnological revolution, it is crucial to explore both the possibilities and the complex questions that Neuralink and similar endeavors raise for society, ethics, and science.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9958B"/>
        </a:solidFill>
        <a:effectLst/>
      </p:bgPr>
    </p:bg>
    <p:spTree>
      <p:nvGrpSpPr>
        <p:cNvPr id="1" name=""/>
        <p:cNvGrpSpPr/>
        <p:nvPr/>
      </p:nvGrpSpPr>
      <p:grpSpPr>
        <a:xfrm>
          <a:off x="0" y="0"/>
          <a:ext cx="0" cy="0"/>
          <a:chOff x="0" y="0"/>
          <a:chExt cx="0" cy="0"/>
        </a:xfrm>
      </p:grpSpPr>
      <p:grpSp>
        <p:nvGrpSpPr>
          <p:cNvPr id="2" name="Group 2"/>
          <p:cNvGrpSpPr/>
          <p:nvPr/>
        </p:nvGrpSpPr>
        <p:grpSpPr>
          <a:xfrm>
            <a:off x="1444336" y="1255594"/>
            <a:ext cx="9600811" cy="8002706"/>
            <a:chOff x="0" y="0"/>
            <a:chExt cx="12801081" cy="10670275"/>
          </a:xfrm>
        </p:grpSpPr>
        <p:sp>
          <p:nvSpPr>
            <p:cNvPr id="3" name="TextBox 3"/>
            <p:cNvSpPr txBox="1"/>
            <p:nvPr/>
          </p:nvSpPr>
          <p:spPr>
            <a:xfrm>
              <a:off x="0" y="-9525"/>
              <a:ext cx="12801081" cy="1762125"/>
            </a:xfrm>
            <a:prstGeom prst="rect">
              <a:avLst/>
            </a:prstGeom>
          </p:spPr>
          <p:txBody>
            <a:bodyPr lIns="0" tIns="0" rIns="0" bIns="0" rtlCol="0" anchor="t">
              <a:spAutoFit/>
            </a:bodyPr>
            <a:lstStyle/>
            <a:p>
              <a:pPr algn="just">
                <a:lnSpc>
                  <a:spcPts val="10415"/>
                </a:lnSpc>
              </a:pPr>
              <a:r>
                <a:rPr lang="en-US" sz="8679">
                  <a:solidFill>
                    <a:srgbClr val="FF7C64"/>
                  </a:solidFill>
                  <a:latin typeface="Archivo Narrow"/>
                </a:rPr>
                <a:t>   Agenda</a:t>
              </a:r>
            </a:p>
          </p:txBody>
        </p:sp>
        <p:sp>
          <p:nvSpPr>
            <p:cNvPr id="4" name="TextBox 4"/>
            <p:cNvSpPr txBox="1"/>
            <p:nvPr/>
          </p:nvSpPr>
          <p:spPr>
            <a:xfrm>
              <a:off x="0" y="2520168"/>
              <a:ext cx="12389316" cy="8150107"/>
            </a:xfrm>
            <a:prstGeom prst="rect">
              <a:avLst/>
            </a:prstGeom>
          </p:spPr>
          <p:txBody>
            <a:bodyPr lIns="0" tIns="0" rIns="0" bIns="0" rtlCol="0" anchor="t">
              <a:spAutoFit/>
            </a:bodyPr>
            <a:lstStyle/>
            <a:p>
              <a:pPr marL="720781" lvl="1" indent="-360390" algn="just">
                <a:lnSpc>
                  <a:spcPts val="4006"/>
                </a:lnSpc>
                <a:buFont typeface="Arial"/>
                <a:buChar char="•"/>
              </a:pPr>
              <a:r>
                <a:rPr lang="en-US" sz="3338">
                  <a:solidFill>
                    <a:srgbClr val="FFFFFF"/>
                  </a:solidFill>
                  <a:latin typeface="Open Sauce Bold"/>
                </a:rPr>
                <a:t>Introduction to Neuralink</a:t>
              </a:r>
            </a:p>
            <a:p>
              <a:pPr marL="720781" lvl="1" indent="-360390" algn="just">
                <a:lnSpc>
                  <a:spcPts val="4006"/>
                </a:lnSpc>
                <a:buFont typeface="Arial"/>
                <a:buChar char="•"/>
              </a:pPr>
              <a:r>
                <a:rPr lang="en-US" sz="3338">
                  <a:solidFill>
                    <a:srgbClr val="FFFFFF"/>
                  </a:solidFill>
                  <a:latin typeface="Open Sauce Bold"/>
                </a:rPr>
                <a:t>History and Background</a:t>
              </a:r>
            </a:p>
            <a:p>
              <a:pPr marL="720781" lvl="1" indent="-360390" algn="just">
                <a:lnSpc>
                  <a:spcPts val="4006"/>
                </a:lnSpc>
                <a:buFont typeface="Arial"/>
                <a:buChar char="•"/>
              </a:pPr>
              <a:r>
                <a:rPr lang="en-US" sz="3338">
                  <a:solidFill>
                    <a:srgbClr val="FFFFFF"/>
                  </a:solidFill>
                  <a:latin typeface="Open Sauce Bold"/>
                </a:rPr>
                <a:t>The Science Behind Neuralink</a:t>
              </a:r>
            </a:p>
            <a:p>
              <a:pPr marL="720781" lvl="1" indent="-360390" algn="just">
                <a:lnSpc>
                  <a:spcPts val="4006"/>
                </a:lnSpc>
                <a:buFont typeface="Arial"/>
                <a:buChar char="•"/>
              </a:pPr>
              <a:r>
                <a:rPr lang="en-US" sz="3338">
                  <a:solidFill>
                    <a:srgbClr val="FFFFFF"/>
                  </a:solidFill>
                  <a:latin typeface="Open Sauce Bold"/>
                </a:rPr>
                <a:t>Neuralink's Vision and Mission</a:t>
              </a:r>
            </a:p>
            <a:p>
              <a:pPr marL="720781" lvl="1" indent="-360390" algn="just">
                <a:lnSpc>
                  <a:spcPts val="4006"/>
                </a:lnSpc>
                <a:buFont typeface="Arial"/>
                <a:buChar char="•"/>
              </a:pPr>
              <a:r>
                <a:rPr lang="en-US" sz="3338">
                  <a:solidFill>
                    <a:srgbClr val="FFFFFF"/>
                  </a:solidFill>
                  <a:latin typeface="Open Sauce Bold"/>
                </a:rPr>
                <a:t>Benefits and Applications</a:t>
              </a:r>
            </a:p>
            <a:p>
              <a:pPr marL="720781" lvl="1" indent="-360390" algn="just">
                <a:lnSpc>
                  <a:spcPts val="4006"/>
                </a:lnSpc>
                <a:buFont typeface="Arial"/>
                <a:buChar char="•"/>
              </a:pPr>
              <a:r>
                <a:rPr lang="en-US" sz="3338">
                  <a:solidFill>
                    <a:srgbClr val="FFFFFF"/>
                  </a:solidFill>
                  <a:latin typeface="Open Sauce Bold"/>
                </a:rPr>
                <a:t>Ethical Considerations</a:t>
              </a:r>
            </a:p>
            <a:p>
              <a:pPr marL="720781" lvl="1" indent="-360390" algn="just">
                <a:lnSpc>
                  <a:spcPts val="4006"/>
                </a:lnSpc>
                <a:buFont typeface="Arial"/>
                <a:buChar char="•"/>
              </a:pPr>
              <a:r>
                <a:rPr lang="en-US" sz="3338">
                  <a:solidFill>
                    <a:srgbClr val="FFFFFF"/>
                  </a:solidFill>
                  <a:latin typeface="Open Sauce Bold"/>
                </a:rPr>
                <a:t>Challenges and Concerns</a:t>
              </a:r>
            </a:p>
            <a:p>
              <a:pPr marL="720781" lvl="1" indent="-360390" algn="just">
                <a:lnSpc>
                  <a:spcPts val="4006"/>
                </a:lnSpc>
                <a:buFont typeface="Arial"/>
                <a:buChar char="•"/>
              </a:pPr>
              <a:r>
                <a:rPr lang="en-US" sz="3338">
                  <a:solidFill>
                    <a:srgbClr val="FFFFFF"/>
                  </a:solidFill>
                  <a:latin typeface="Open Sauce Bold"/>
                </a:rPr>
                <a:t>Current Progress and Achievements</a:t>
              </a:r>
            </a:p>
            <a:p>
              <a:pPr marL="720781" lvl="1" indent="-360390" algn="just">
                <a:lnSpc>
                  <a:spcPts val="4006"/>
                </a:lnSpc>
                <a:buFont typeface="Arial"/>
                <a:buChar char="•"/>
              </a:pPr>
              <a:r>
                <a:rPr lang="en-US" sz="3338">
                  <a:solidFill>
                    <a:srgbClr val="FFFFFF"/>
                  </a:solidFill>
                  <a:latin typeface="Open Sauce Bold"/>
                </a:rPr>
                <a:t>Conclusion</a:t>
              </a:r>
            </a:p>
            <a:p>
              <a:pPr marL="720781" lvl="1" indent="-360390" algn="just">
                <a:lnSpc>
                  <a:spcPts val="4006"/>
                </a:lnSpc>
                <a:buFont typeface="Arial"/>
                <a:buChar char="•"/>
              </a:pPr>
              <a:r>
                <a:rPr lang="en-US" sz="3338">
                  <a:solidFill>
                    <a:srgbClr val="FFFFFF"/>
                  </a:solidFill>
                  <a:latin typeface="Open Sauce Bold"/>
                </a:rPr>
                <a:t>Q&amp;A</a:t>
              </a:r>
            </a:p>
            <a:p>
              <a:pPr marL="720781" lvl="1" indent="-360390" algn="just">
                <a:lnSpc>
                  <a:spcPts val="4006"/>
                </a:lnSpc>
                <a:buFont typeface="Arial"/>
                <a:buChar char="•"/>
              </a:pPr>
              <a:r>
                <a:rPr lang="en-US" sz="3338">
                  <a:solidFill>
                    <a:srgbClr val="FFFFFF"/>
                  </a:solidFill>
                  <a:latin typeface="Open Sauce Bold"/>
                </a:rPr>
                <a:t>References</a:t>
              </a:r>
            </a:p>
            <a:p>
              <a:pPr algn="just">
                <a:lnSpc>
                  <a:spcPts val="4006"/>
                </a:lnSpc>
              </a:pPr>
              <a:endParaRPr lang="en-US" sz="3338">
                <a:solidFill>
                  <a:srgbClr val="FFFFFF"/>
                </a:solidFill>
                <a:latin typeface="Open Sauce Bold"/>
              </a:endParaRPr>
            </a:p>
          </p:txBody>
        </p:sp>
      </p:grpSp>
      <p:sp>
        <p:nvSpPr>
          <p:cNvPr id="5" name="Freeform 5"/>
          <p:cNvSpPr/>
          <p:nvPr/>
        </p:nvSpPr>
        <p:spPr>
          <a:xfrm>
            <a:off x="11398469" y="0"/>
            <a:ext cx="6889531" cy="10287000"/>
          </a:xfrm>
          <a:custGeom>
            <a:avLst/>
            <a:gdLst/>
            <a:ahLst/>
            <a:cxnLst/>
            <a:rect l="l" t="t" r="r" b="b"/>
            <a:pathLst>
              <a:path w="6889531" h="10287000">
                <a:moveTo>
                  <a:pt x="0" y="0"/>
                </a:moveTo>
                <a:lnTo>
                  <a:pt x="6889531" y="0"/>
                </a:lnTo>
                <a:lnTo>
                  <a:pt x="6889531" y="10287000"/>
                </a:lnTo>
                <a:lnTo>
                  <a:pt x="0" y="10287000"/>
                </a:lnTo>
                <a:lnTo>
                  <a:pt x="0" y="0"/>
                </a:lnTo>
                <a:close/>
              </a:path>
            </a:pathLst>
          </a:custGeom>
          <a:blipFill>
            <a:blip r:embed="rId2"/>
            <a:stretch>
              <a:fillRect l="-32951" r="-16361"/>
            </a:stretch>
          </a:blipFill>
        </p:spPr>
        <p:txBody>
          <a:bodyPr/>
          <a:lstStyle/>
          <a:p>
            <a:endParaRPr lang="en-IN"/>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0269667" cy="8229600"/>
            <a:chOff x="0" y="0"/>
            <a:chExt cx="13692889" cy="10972800"/>
          </a:xfrm>
        </p:grpSpPr>
        <p:sp>
          <p:nvSpPr>
            <p:cNvPr id="3" name="TextBox 3"/>
            <p:cNvSpPr txBox="1"/>
            <p:nvPr/>
          </p:nvSpPr>
          <p:spPr>
            <a:xfrm>
              <a:off x="0" y="-9525"/>
              <a:ext cx="13692889" cy="1753184"/>
            </a:xfrm>
            <a:prstGeom prst="rect">
              <a:avLst/>
            </a:prstGeom>
          </p:spPr>
          <p:txBody>
            <a:bodyPr lIns="0" tIns="0" rIns="0" bIns="0" rtlCol="0" anchor="t">
              <a:spAutoFit/>
            </a:bodyPr>
            <a:lstStyle/>
            <a:p>
              <a:pPr>
                <a:lnSpc>
                  <a:spcPts val="10356"/>
                </a:lnSpc>
              </a:pPr>
              <a:r>
                <a:rPr lang="en-US" sz="8630">
                  <a:solidFill>
                    <a:srgbClr val="102B30"/>
                  </a:solidFill>
                  <a:latin typeface="Archivo Narrow"/>
                </a:rPr>
                <a:t>Introduction:</a:t>
              </a:r>
            </a:p>
          </p:txBody>
        </p:sp>
        <p:sp>
          <p:nvSpPr>
            <p:cNvPr id="4" name="TextBox 4"/>
            <p:cNvSpPr txBox="1"/>
            <p:nvPr/>
          </p:nvSpPr>
          <p:spPr>
            <a:xfrm>
              <a:off x="0" y="2272408"/>
              <a:ext cx="12696046" cy="2668237"/>
            </a:xfrm>
            <a:prstGeom prst="rect">
              <a:avLst/>
            </a:prstGeom>
          </p:spPr>
          <p:txBody>
            <a:bodyPr lIns="0" tIns="0" rIns="0" bIns="0" rtlCol="0" anchor="t">
              <a:spAutoFit/>
            </a:bodyPr>
            <a:lstStyle/>
            <a:p>
              <a:pPr>
                <a:lnSpc>
                  <a:spcPts val="3177"/>
                </a:lnSpc>
              </a:pPr>
              <a:r>
                <a:rPr lang="en-US" sz="2647">
                  <a:solidFill>
                    <a:srgbClr val="FF7C64"/>
                  </a:solidFill>
                  <a:latin typeface="Open Sauce Bold"/>
                </a:rPr>
                <a:t>In the quest to unlock the mysteries of the human mind and merge it with the power of technology, Neuralink stands as a beacon of innovation, with Elon Musk's visionary leadership propelling us into uncharted territories.</a:t>
              </a:r>
            </a:p>
          </p:txBody>
        </p:sp>
        <p:sp>
          <p:nvSpPr>
            <p:cNvPr id="5" name="TextBox 5"/>
            <p:cNvSpPr txBox="1"/>
            <p:nvPr/>
          </p:nvSpPr>
          <p:spPr>
            <a:xfrm>
              <a:off x="0" y="5355903"/>
              <a:ext cx="12696046" cy="5616897"/>
            </a:xfrm>
            <a:prstGeom prst="rect">
              <a:avLst/>
            </a:prstGeom>
          </p:spPr>
          <p:txBody>
            <a:bodyPr lIns="0" tIns="0" rIns="0" bIns="0" rtlCol="0" anchor="t">
              <a:spAutoFit/>
            </a:bodyPr>
            <a:lstStyle/>
            <a:p>
              <a:pPr marL="465806" lvl="1" indent="-232903">
                <a:lnSpc>
                  <a:spcPts val="3797"/>
                </a:lnSpc>
                <a:buFont typeface="Arial"/>
                <a:buChar char="•"/>
              </a:pPr>
              <a:r>
                <a:rPr lang="en-US" sz="2157">
                  <a:solidFill>
                    <a:srgbClr val="102B30"/>
                  </a:solidFill>
                  <a:latin typeface="Open Sauce Light"/>
                </a:rPr>
                <a:t>Neuralink is a neurotechnology company founded by Elon Musk in 2016. </a:t>
              </a:r>
            </a:p>
            <a:p>
              <a:pPr marL="465806" lvl="1" indent="-232903">
                <a:lnSpc>
                  <a:spcPts val="3797"/>
                </a:lnSpc>
                <a:buFont typeface="Arial"/>
                <a:buChar char="•"/>
              </a:pPr>
              <a:r>
                <a:rPr lang="en-US" sz="2157">
                  <a:solidFill>
                    <a:srgbClr val="102B30"/>
                  </a:solidFill>
                  <a:latin typeface="Open Sauce Light"/>
                </a:rPr>
                <a:t>The company's primary mission is to develop advanced brain-machine interfaces (BMIs) that can establish a direct and high-bandwidth connection between the human brain and computers or artificial intelligence systems. </a:t>
              </a:r>
            </a:p>
            <a:p>
              <a:pPr marL="465806" lvl="1" indent="-232903">
                <a:lnSpc>
                  <a:spcPts val="3797"/>
                </a:lnSpc>
                <a:buFont typeface="Arial"/>
                <a:buChar char="•"/>
              </a:pPr>
              <a:r>
                <a:rPr lang="en-US" sz="2157">
                  <a:solidFill>
                    <a:srgbClr val="102B30"/>
                  </a:solidFill>
                  <a:latin typeface="Open Sauce Light"/>
                </a:rPr>
                <a:t>These interfaces aim to facilitate seamless communication between the brain and external devices, potentially enabling a wide range of applications, from medical treatments to cognitive enhancements.</a:t>
              </a:r>
            </a:p>
          </p:txBody>
        </p:sp>
      </p:grpSp>
      <p:sp>
        <p:nvSpPr>
          <p:cNvPr id="6" name="Freeform 6"/>
          <p:cNvSpPr/>
          <p:nvPr/>
        </p:nvSpPr>
        <p:spPr>
          <a:xfrm>
            <a:off x="10682143" y="2133199"/>
            <a:ext cx="6784975" cy="6747966"/>
          </a:xfrm>
          <a:custGeom>
            <a:avLst/>
            <a:gdLst/>
            <a:ahLst/>
            <a:cxnLst/>
            <a:rect l="l" t="t" r="r" b="b"/>
            <a:pathLst>
              <a:path w="6784975" h="6747966">
                <a:moveTo>
                  <a:pt x="0" y="0"/>
                </a:moveTo>
                <a:lnTo>
                  <a:pt x="6784975" y="0"/>
                </a:lnTo>
                <a:lnTo>
                  <a:pt x="6784975" y="6747966"/>
                </a:lnTo>
                <a:lnTo>
                  <a:pt x="0" y="6747966"/>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1224390" y="4571947"/>
            <a:ext cx="5700482" cy="1870471"/>
          </a:xfrm>
          <a:custGeom>
            <a:avLst/>
            <a:gdLst/>
            <a:ahLst/>
            <a:cxnLst/>
            <a:rect l="l" t="t" r="r" b="b"/>
            <a:pathLst>
              <a:path w="5700482" h="1870471">
                <a:moveTo>
                  <a:pt x="0" y="0"/>
                </a:moveTo>
                <a:lnTo>
                  <a:pt x="5700482" y="0"/>
                </a:lnTo>
                <a:lnTo>
                  <a:pt x="5700482" y="1870470"/>
                </a:lnTo>
                <a:lnTo>
                  <a:pt x="0" y="1870470"/>
                </a:lnTo>
                <a:lnTo>
                  <a:pt x="0" y="0"/>
                </a:lnTo>
                <a:close/>
              </a:path>
            </a:pathLst>
          </a:custGeom>
          <a:blipFill>
            <a:blip r:embed="rId4"/>
            <a:stretch>
              <a:fillRect/>
            </a:stretch>
          </a:blipFill>
        </p:spPr>
        <p:txBody>
          <a:bodyPr/>
          <a:lstStyle/>
          <a:p>
            <a:endParaRPr lang="en-IN"/>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01959" y="3201848"/>
          <a:ext cx="8280560" cy="5973953"/>
        </p:xfrm>
        <a:graphic>
          <a:graphicData uri="http://schemas.openxmlformats.org/drawingml/2006/table">
            <a:tbl>
              <a:tblPr/>
              <a:tblGrid>
                <a:gridCol w="8280560">
                  <a:extLst>
                    <a:ext uri="{9D8B030D-6E8A-4147-A177-3AD203B41FA5}">
                      <a16:colId xmlns:a16="http://schemas.microsoft.com/office/drawing/2014/main" val="20000"/>
                    </a:ext>
                  </a:extLst>
                </a:gridCol>
              </a:tblGrid>
              <a:tr h="3181350">
                <a:tc>
                  <a:txBody>
                    <a:bodyPr/>
                    <a:lstStyle/>
                    <a:p>
                      <a:pPr algn="l">
                        <a:lnSpc>
                          <a:spcPts val="3150"/>
                        </a:lnSpc>
                        <a:defRPr/>
                      </a:pPr>
                      <a:r>
                        <a:rPr lang="en-US" sz="2100">
                          <a:solidFill>
                            <a:srgbClr val="102B30"/>
                          </a:solidFill>
                          <a:latin typeface="Open Sauce Light"/>
                        </a:rPr>
                        <a:t>BCI stands for Brain-Computer Interface, which is a technology that allows direct communication between the brain and external devices or computer systems. BCIs can be used for various purposes, including medical applications like helping individuals with paralysis regain control over their limbs or enabling people with certain disabilities to communicate and control their environment.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81300">
                <a:tc>
                  <a:txBody>
                    <a:bodyPr/>
                    <a:lstStyle/>
                    <a:p>
                      <a:pPr algn="l">
                        <a:lnSpc>
                          <a:spcPts val="3150"/>
                        </a:lnSpc>
                        <a:defRPr/>
                      </a:pPr>
                      <a:r>
                        <a:rPr lang="en-US" sz="2100">
                          <a:solidFill>
                            <a:srgbClr val="102B30"/>
                          </a:solidFill>
                          <a:latin typeface="Open Sauce"/>
                        </a:rPr>
                        <a:t>Some BCI companies are</a:t>
                      </a:r>
                      <a:endParaRPr lang="en-US" sz="1100"/>
                    </a:p>
                    <a:p>
                      <a:pPr marL="453390" lvl="1" indent="-226695">
                        <a:lnSpc>
                          <a:spcPts val="3150"/>
                        </a:lnSpc>
                        <a:buFont typeface="Arial"/>
                        <a:buChar char="•"/>
                      </a:pPr>
                      <a:r>
                        <a:rPr lang="en-US" sz="2100">
                          <a:solidFill>
                            <a:srgbClr val="102B30"/>
                          </a:solidFill>
                          <a:latin typeface="Open Sauce"/>
                        </a:rPr>
                        <a:t>Neuralink</a:t>
                      </a:r>
                    </a:p>
                    <a:p>
                      <a:pPr marL="453390" lvl="1" indent="-226695">
                        <a:lnSpc>
                          <a:spcPts val="3150"/>
                        </a:lnSpc>
                        <a:buFont typeface="Arial"/>
                        <a:buChar char="•"/>
                      </a:pPr>
                      <a:r>
                        <a:rPr lang="en-US" sz="2100">
                          <a:solidFill>
                            <a:srgbClr val="102B30"/>
                          </a:solidFill>
                          <a:latin typeface="Open Sauce"/>
                        </a:rPr>
                        <a:t>BrainGate</a:t>
                      </a:r>
                    </a:p>
                    <a:p>
                      <a:pPr marL="453390" lvl="1" indent="-226695">
                        <a:lnSpc>
                          <a:spcPts val="3150"/>
                        </a:lnSpc>
                        <a:buFont typeface="Arial"/>
                        <a:buChar char="•"/>
                      </a:pPr>
                      <a:r>
                        <a:rPr lang="en-US" sz="2100">
                          <a:solidFill>
                            <a:srgbClr val="102B30"/>
                          </a:solidFill>
                          <a:latin typeface="Open Sauce"/>
                        </a:rPr>
                        <a:t>Kernal</a:t>
                      </a:r>
                    </a:p>
                    <a:p>
                      <a:pPr marL="453390" lvl="1" indent="-226695">
                        <a:lnSpc>
                          <a:spcPts val="3150"/>
                        </a:lnSpc>
                        <a:buFont typeface="Arial"/>
                        <a:buChar char="•"/>
                      </a:pPr>
                      <a:r>
                        <a:rPr lang="en-US" sz="2100">
                          <a:solidFill>
                            <a:srgbClr val="102B30"/>
                          </a:solidFill>
                          <a:latin typeface="Open Sauce"/>
                        </a:rPr>
                        <a:t>Ctrl-labs (now part of Meta Platforms, Inc.)</a:t>
                      </a:r>
                    </a:p>
                    <a:p>
                      <a:pPr marL="453390" lvl="1" indent="-226695">
                        <a:lnSpc>
                          <a:spcPts val="3150"/>
                        </a:lnSpc>
                        <a:buFont typeface="Arial"/>
                        <a:buChar char="•"/>
                      </a:pPr>
                      <a:r>
                        <a:rPr lang="en-US" sz="2100">
                          <a:solidFill>
                            <a:srgbClr val="102B30"/>
                          </a:solidFill>
                          <a:latin typeface="Open Sauce"/>
                        </a:rPr>
                        <a:t>Emotiv</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Freeform 3"/>
          <p:cNvSpPr/>
          <p:nvPr/>
        </p:nvSpPr>
        <p:spPr>
          <a:xfrm>
            <a:off x="10668708" y="3377925"/>
            <a:ext cx="2595814" cy="851752"/>
          </a:xfrm>
          <a:custGeom>
            <a:avLst/>
            <a:gdLst/>
            <a:ahLst/>
            <a:cxnLst/>
            <a:rect l="l" t="t" r="r" b="b"/>
            <a:pathLst>
              <a:path w="2595814" h="851752">
                <a:moveTo>
                  <a:pt x="0" y="0"/>
                </a:moveTo>
                <a:lnTo>
                  <a:pt x="2595814" y="0"/>
                </a:lnTo>
                <a:lnTo>
                  <a:pt x="2595814" y="851752"/>
                </a:lnTo>
                <a:lnTo>
                  <a:pt x="0" y="851752"/>
                </a:lnTo>
                <a:lnTo>
                  <a:pt x="0" y="0"/>
                </a:lnTo>
                <a:close/>
              </a:path>
            </a:pathLst>
          </a:custGeom>
          <a:blipFill>
            <a:blip r:embed="rId2"/>
            <a:stretch>
              <a:fillRect/>
            </a:stretch>
          </a:blipFill>
        </p:spPr>
        <p:txBody>
          <a:bodyPr/>
          <a:lstStyle/>
          <a:p>
            <a:endParaRPr lang="en-IN"/>
          </a:p>
        </p:txBody>
      </p:sp>
      <p:sp>
        <p:nvSpPr>
          <p:cNvPr id="4" name="Freeform 4"/>
          <p:cNvSpPr/>
          <p:nvPr/>
        </p:nvSpPr>
        <p:spPr>
          <a:xfrm>
            <a:off x="14350712" y="4229677"/>
            <a:ext cx="2908588" cy="727377"/>
          </a:xfrm>
          <a:custGeom>
            <a:avLst/>
            <a:gdLst/>
            <a:ahLst/>
            <a:cxnLst/>
            <a:rect l="l" t="t" r="r" b="b"/>
            <a:pathLst>
              <a:path w="2908588" h="727377">
                <a:moveTo>
                  <a:pt x="0" y="0"/>
                </a:moveTo>
                <a:lnTo>
                  <a:pt x="2908588" y="0"/>
                </a:lnTo>
                <a:lnTo>
                  <a:pt x="2908588" y="727377"/>
                </a:lnTo>
                <a:lnTo>
                  <a:pt x="0" y="727377"/>
                </a:lnTo>
                <a:lnTo>
                  <a:pt x="0" y="0"/>
                </a:lnTo>
                <a:close/>
              </a:path>
            </a:pathLst>
          </a:custGeom>
          <a:blipFill>
            <a:blip r:embed="rId3"/>
            <a:stretch>
              <a:fillRect t="-10150"/>
            </a:stretch>
          </a:blipFill>
        </p:spPr>
        <p:txBody>
          <a:bodyPr/>
          <a:lstStyle/>
          <a:p>
            <a:endParaRPr lang="en-IN"/>
          </a:p>
        </p:txBody>
      </p:sp>
      <p:sp>
        <p:nvSpPr>
          <p:cNvPr id="5" name="Freeform 5"/>
          <p:cNvSpPr/>
          <p:nvPr/>
        </p:nvSpPr>
        <p:spPr>
          <a:xfrm>
            <a:off x="10668708" y="5785963"/>
            <a:ext cx="2595814" cy="742403"/>
          </a:xfrm>
          <a:custGeom>
            <a:avLst/>
            <a:gdLst/>
            <a:ahLst/>
            <a:cxnLst/>
            <a:rect l="l" t="t" r="r" b="b"/>
            <a:pathLst>
              <a:path w="2595814" h="742403">
                <a:moveTo>
                  <a:pt x="0" y="0"/>
                </a:moveTo>
                <a:lnTo>
                  <a:pt x="2595814" y="0"/>
                </a:lnTo>
                <a:lnTo>
                  <a:pt x="2595814" y="742403"/>
                </a:lnTo>
                <a:lnTo>
                  <a:pt x="0" y="742403"/>
                </a:lnTo>
                <a:lnTo>
                  <a:pt x="0" y="0"/>
                </a:lnTo>
                <a:close/>
              </a:path>
            </a:pathLst>
          </a:custGeom>
          <a:blipFill>
            <a:blip r:embed="rId4"/>
            <a:stretch>
              <a:fillRect/>
            </a:stretch>
          </a:blipFill>
        </p:spPr>
        <p:txBody>
          <a:bodyPr/>
          <a:lstStyle/>
          <a:p>
            <a:endParaRPr lang="en-IN"/>
          </a:p>
        </p:txBody>
      </p:sp>
      <p:sp>
        <p:nvSpPr>
          <p:cNvPr id="6" name="Freeform 6"/>
          <p:cNvSpPr/>
          <p:nvPr/>
        </p:nvSpPr>
        <p:spPr>
          <a:xfrm>
            <a:off x="14350712" y="6785854"/>
            <a:ext cx="2908588" cy="521351"/>
          </a:xfrm>
          <a:custGeom>
            <a:avLst/>
            <a:gdLst/>
            <a:ahLst/>
            <a:cxnLst/>
            <a:rect l="l" t="t" r="r" b="b"/>
            <a:pathLst>
              <a:path w="2908588" h="521351">
                <a:moveTo>
                  <a:pt x="0" y="0"/>
                </a:moveTo>
                <a:lnTo>
                  <a:pt x="2908588" y="0"/>
                </a:lnTo>
                <a:lnTo>
                  <a:pt x="2908588" y="521350"/>
                </a:lnTo>
                <a:lnTo>
                  <a:pt x="0" y="521350"/>
                </a:lnTo>
                <a:lnTo>
                  <a:pt x="0" y="0"/>
                </a:lnTo>
                <a:close/>
              </a:path>
            </a:pathLst>
          </a:custGeom>
          <a:blipFill>
            <a:blip r:embed="rId5"/>
            <a:stretch>
              <a:fillRect/>
            </a:stretch>
          </a:blipFill>
        </p:spPr>
        <p:txBody>
          <a:bodyPr/>
          <a:lstStyle/>
          <a:p>
            <a:endParaRPr lang="en-IN"/>
          </a:p>
        </p:txBody>
      </p:sp>
      <p:sp>
        <p:nvSpPr>
          <p:cNvPr id="7" name="Freeform 7"/>
          <p:cNvSpPr/>
          <p:nvPr/>
        </p:nvSpPr>
        <p:spPr>
          <a:xfrm>
            <a:off x="10350334" y="7509441"/>
            <a:ext cx="3232563" cy="2184164"/>
          </a:xfrm>
          <a:custGeom>
            <a:avLst/>
            <a:gdLst/>
            <a:ahLst/>
            <a:cxnLst/>
            <a:rect l="l" t="t" r="r" b="b"/>
            <a:pathLst>
              <a:path w="3232563" h="2184164">
                <a:moveTo>
                  <a:pt x="0" y="0"/>
                </a:moveTo>
                <a:lnTo>
                  <a:pt x="3232563" y="0"/>
                </a:lnTo>
                <a:lnTo>
                  <a:pt x="3232563" y="2184164"/>
                </a:lnTo>
                <a:lnTo>
                  <a:pt x="0" y="2184164"/>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761016" y="1209675"/>
            <a:ext cx="16765967" cy="1190625"/>
          </a:xfrm>
          <a:prstGeom prst="rect">
            <a:avLst/>
          </a:prstGeom>
        </p:spPr>
        <p:txBody>
          <a:bodyPr lIns="0" tIns="0" rIns="0" bIns="0" rtlCol="0" anchor="t">
            <a:spAutoFit/>
          </a:bodyPr>
          <a:lstStyle/>
          <a:p>
            <a:pPr algn="ctr">
              <a:lnSpc>
                <a:spcPts val="9359"/>
              </a:lnSpc>
            </a:pPr>
            <a:r>
              <a:rPr lang="en-US" sz="7799">
                <a:solidFill>
                  <a:srgbClr val="102B30"/>
                </a:solidFill>
                <a:latin typeface="Archivo Narrow"/>
              </a:rPr>
              <a:t>The Importance of </a:t>
            </a:r>
            <a:r>
              <a:rPr lang="en-US" sz="7799">
                <a:solidFill>
                  <a:srgbClr val="FF7C64"/>
                </a:solidFill>
                <a:latin typeface="Archivo Narrow"/>
              </a:rPr>
              <a:t>Brain-Computer Interfaces</a:t>
            </a: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293557"/>
            <a:ext cx="13295591" cy="7699885"/>
            <a:chOff x="0" y="0"/>
            <a:chExt cx="17727454" cy="10266514"/>
          </a:xfrm>
        </p:grpSpPr>
        <p:sp>
          <p:nvSpPr>
            <p:cNvPr id="3" name="TextBox 3"/>
            <p:cNvSpPr txBox="1"/>
            <p:nvPr/>
          </p:nvSpPr>
          <p:spPr>
            <a:xfrm>
              <a:off x="0" y="-9525"/>
              <a:ext cx="17727454" cy="1925156"/>
            </a:xfrm>
            <a:prstGeom prst="rect">
              <a:avLst/>
            </a:prstGeom>
          </p:spPr>
          <p:txBody>
            <a:bodyPr lIns="0" tIns="0" rIns="0" bIns="0" rtlCol="0" anchor="t">
              <a:spAutoFit/>
            </a:bodyPr>
            <a:lstStyle/>
            <a:p>
              <a:pPr>
                <a:lnSpc>
                  <a:spcPts val="11370"/>
                </a:lnSpc>
              </a:pPr>
              <a:r>
                <a:rPr lang="en-US" sz="9475">
                  <a:solidFill>
                    <a:srgbClr val="102B30"/>
                  </a:solidFill>
                  <a:latin typeface="Archivo Narrow"/>
                </a:rPr>
                <a:t>Why Neuralink is Important?</a:t>
              </a:r>
            </a:p>
          </p:txBody>
        </p:sp>
        <p:sp>
          <p:nvSpPr>
            <p:cNvPr id="4" name="TextBox 4"/>
            <p:cNvSpPr txBox="1"/>
            <p:nvPr/>
          </p:nvSpPr>
          <p:spPr>
            <a:xfrm>
              <a:off x="0" y="2396354"/>
              <a:ext cx="17727454" cy="589425"/>
            </a:xfrm>
            <a:prstGeom prst="rect">
              <a:avLst/>
            </a:prstGeom>
          </p:spPr>
          <p:txBody>
            <a:bodyPr lIns="0" tIns="0" rIns="0" bIns="0" rtlCol="0" anchor="t">
              <a:spAutoFit/>
            </a:bodyPr>
            <a:lstStyle/>
            <a:p>
              <a:pPr>
                <a:lnSpc>
                  <a:spcPts val="3480"/>
                </a:lnSpc>
              </a:pPr>
              <a:r>
                <a:rPr lang="en-US" sz="2900">
                  <a:solidFill>
                    <a:srgbClr val="FF7C64"/>
                  </a:solidFill>
                  <a:latin typeface="Open Sauce Bold"/>
                </a:rPr>
                <a:t> Exploring the Future of Brain-Computer Interfaces</a:t>
              </a:r>
            </a:p>
          </p:txBody>
        </p:sp>
        <p:sp>
          <p:nvSpPr>
            <p:cNvPr id="5" name="TextBox 5"/>
            <p:cNvSpPr txBox="1"/>
            <p:nvPr/>
          </p:nvSpPr>
          <p:spPr>
            <a:xfrm>
              <a:off x="0" y="3514265"/>
              <a:ext cx="17727454" cy="6752248"/>
            </a:xfrm>
            <a:prstGeom prst="rect">
              <a:avLst/>
            </a:prstGeom>
          </p:spPr>
          <p:txBody>
            <a:bodyPr lIns="0" tIns="0" rIns="0" bIns="0" rtlCol="0" anchor="t">
              <a:spAutoFit/>
            </a:bodyPr>
            <a:lstStyle/>
            <a:p>
              <a:pPr marL="501011" lvl="1" indent="-250505">
                <a:lnSpc>
                  <a:spcPts val="4084"/>
                </a:lnSpc>
                <a:buFont typeface="Arial"/>
                <a:buChar char="•"/>
              </a:pPr>
              <a:r>
                <a:rPr lang="en-US" sz="2320">
                  <a:solidFill>
                    <a:srgbClr val="102B30"/>
                  </a:solidFill>
                  <a:latin typeface="Open Sauce Light"/>
                </a:rPr>
                <a:t>Advanced Research: Neuralink is conducting cutting-edge research in neural interfaces, including the development of implantable devices that aim to achieve high-resolution communication with the brain.</a:t>
              </a:r>
            </a:p>
            <a:p>
              <a:pPr marL="501011" lvl="1" indent="-250505">
                <a:lnSpc>
                  <a:spcPts val="4084"/>
                </a:lnSpc>
                <a:buFont typeface="Arial"/>
                <a:buChar char="•"/>
              </a:pPr>
              <a:r>
                <a:rPr lang="en-US" sz="2320">
                  <a:solidFill>
                    <a:srgbClr val="102B30"/>
                  </a:solidFill>
                  <a:latin typeface="Open Sauce Light"/>
                </a:rPr>
                <a:t>Funding: Neuralink has secured significant financial resources, which can accelerate research and development efforts.</a:t>
              </a:r>
            </a:p>
            <a:p>
              <a:pPr marL="501011" lvl="1" indent="-250505">
                <a:lnSpc>
                  <a:spcPts val="4084"/>
                </a:lnSpc>
                <a:buFont typeface="Arial"/>
                <a:buChar char="•"/>
              </a:pPr>
              <a:r>
                <a:rPr lang="en-US" sz="2320">
                  <a:solidFill>
                    <a:srgbClr val="102B30"/>
                  </a:solidFill>
                  <a:latin typeface="Open Sauce Light"/>
                </a:rPr>
                <a:t>Leadership: Elon Musk's involvement and vision for the future have generated substantial interest and media coverage, contributing to the perception that Neuralink is a leader in the field.</a:t>
              </a:r>
            </a:p>
            <a:p>
              <a:pPr marL="501011" lvl="1" indent="-250505">
                <a:lnSpc>
                  <a:spcPts val="4084"/>
                </a:lnSpc>
                <a:buFont typeface="Arial"/>
                <a:buChar char="•"/>
              </a:pPr>
              <a:r>
                <a:rPr lang="en-US" sz="2320">
                  <a:solidFill>
                    <a:srgbClr val="102B30"/>
                  </a:solidFill>
                  <a:latin typeface="Open Sauce Light"/>
                </a:rPr>
                <a:t>Transparency: Neuralink has been relatively open about its progress and goals, providing updates on its research and developments.</a:t>
              </a:r>
            </a:p>
          </p:txBody>
        </p:sp>
      </p:grpSp>
      <p:sp>
        <p:nvSpPr>
          <p:cNvPr id="6" name="Freeform 6"/>
          <p:cNvSpPr/>
          <p:nvPr/>
        </p:nvSpPr>
        <p:spPr>
          <a:xfrm>
            <a:off x="14324291" y="3553332"/>
            <a:ext cx="3548854" cy="3548854"/>
          </a:xfrm>
          <a:custGeom>
            <a:avLst/>
            <a:gdLst/>
            <a:ahLst/>
            <a:cxnLst/>
            <a:rect l="l" t="t" r="r" b="b"/>
            <a:pathLst>
              <a:path w="3548854" h="3548854">
                <a:moveTo>
                  <a:pt x="0" y="0"/>
                </a:moveTo>
                <a:lnTo>
                  <a:pt x="3548854" y="0"/>
                </a:lnTo>
                <a:lnTo>
                  <a:pt x="3548854" y="3548854"/>
                </a:lnTo>
                <a:lnTo>
                  <a:pt x="0" y="3548854"/>
                </a:lnTo>
                <a:lnTo>
                  <a:pt x="0" y="0"/>
                </a:lnTo>
                <a:close/>
              </a:path>
            </a:pathLst>
          </a:custGeom>
          <a:blipFill>
            <a:blip r:embed="rId2"/>
            <a:stretch>
              <a:fillRect/>
            </a:stretch>
          </a:blipFill>
        </p:spPr>
        <p:txBody>
          <a:bodyPr/>
          <a:lstStyle/>
          <a:p>
            <a:endParaRPr lang="en-IN"/>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5018" y="1894727"/>
            <a:ext cx="10200021" cy="6497546"/>
            <a:chOff x="0" y="0"/>
            <a:chExt cx="13600028" cy="8663394"/>
          </a:xfrm>
        </p:grpSpPr>
        <p:sp>
          <p:nvSpPr>
            <p:cNvPr id="3" name="TextBox 3"/>
            <p:cNvSpPr txBox="1"/>
            <p:nvPr/>
          </p:nvSpPr>
          <p:spPr>
            <a:xfrm>
              <a:off x="0" y="0"/>
              <a:ext cx="13600028" cy="1179016"/>
            </a:xfrm>
            <a:prstGeom prst="rect">
              <a:avLst/>
            </a:prstGeom>
          </p:spPr>
          <p:txBody>
            <a:bodyPr lIns="0" tIns="0" rIns="0" bIns="0" rtlCol="0" anchor="t">
              <a:spAutoFit/>
            </a:bodyPr>
            <a:lstStyle/>
            <a:p>
              <a:pPr>
                <a:lnSpc>
                  <a:spcPts val="6962"/>
                </a:lnSpc>
              </a:pPr>
              <a:r>
                <a:rPr lang="en-US" sz="5802">
                  <a:solidFill>
                    <a:srgbClr val="FF7C64"/>
                  </a:solidFill>
                  <a:latin typeface="Open Sauce Bold"/>
                </a:rPr>
                <a:t>Elon Musk's Involvement:</a:t>
              </a:r>
            </a:p>
          </p:txBody>
        </p:sp>
        <p:sp>
          <p:nvSpPr>
            <p:cNvPr id="4" name="TextBox 4"/>
            <p:cNvSpPr txBox="1"/>
            <p:nvPr/>
          </p:nvSpPr>
          <p:spPr>
            <a:xfrm>
              <a:off x="0" y="1829183"/>
              <a:ext cx="13600028" cy="6834212"/>
            </a:xfrm>
            <a:prstGeom prst="rect">
              <a:avLst/>
            </a:prstGeom>
          </p:spPr>
          <p:txBody>
            <a:bodyPr lIns="0" tIns="0" rIns="0" bIns="0" rtlCol="0" anchor="t">
              <a:spAutoFit/>
            </a:bodyPr>
            <a:lstStyle/>
            <a:p>
              <a:pPr>
                <a:lnSpc>
                  <a:spcPts val="5159"/>
                </a:lnSpc>
              </a:pPr>
              <a:r>
                <a:rPr lang="en-US" sz="2931">
                  <a:solidFill>
                    <a:srgbClr val="102B30"/>
                  </a:solidFill>
                  <a:latin typeface="Open Sauce Light"/>
                </a:rPr>
                <a:t>Elon Musk, renowned for his ventures in SpaceX and Tesla, has been a driving force behind Neuralink. He co-founded the company with the goal of accelerating the development of BMIs and expanding human capabilities. Musk's involvement not only brings significant financial resources but also his visionary approach to technology, which has helped to garner attention and investment in the field of neurotechnology.</a:t>
              </a:r>
            </a:p>
          </p:txBody>
        </p:sp>
      </p:grpSp>
      <p:sp>
        <p:nvSpPr>
          <p:cNvPr id="5" name="Freeform 5"/>
          <p:cNvSpPr/>
          <p:nvPr/>
        </p:nvSpPr>
        <p:spPr>
          <a:xfrm>
            <a:off x="10865039" y="0"/>
            <a:ext cx="8203653" cy="10287000"/>
          </a:xfrm>
          <a:custGeom>
            <a:avLst/>
            <a:gdLst/>
            <a:ahLst/>
            <a:cxnLst/>
            <a:rect l="l" t="t" r="r" b="b"/>
            <a:pathLst>
              <a:path w="8203653" h="10287000">
                <a:moveTo>
                  <a:pt x="0" y="0"/>
                </a:moveTo>
                <a:lnTo>
                  <a:pt x="8203653" y="0"/>
                </a:lnTo>
                <a:lnTo>
                  <a:pt x="8203653" y="10287000"/>
                </a:lnTo>
                <a:lnTo>
                  <a:pt x="0" y="10287000"/>
                </a:lnTo>
                <a:lnTo>
                  <a:pt x="0" y="0"/>
                </a:lnTo>
                <a:close/>
              </a:path>
            </a:pathLst>
          </a:custGeom>
          <a:blipFill>
            <a:blip r:embed="rId2"/>
            <a:stretch>
              <a:fillRect l="-2272"/>
            </a:stretch>
          </a:blipFill>
        </p:spPr>
        <p:txBody>
          <a:bodyPr/>
          <a:lstStyle/>
          <a:p>
            <a:endParaRPr lang="en-IN"/>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9958B"/>
        </a:solidFill>
        <a:effectLst/>
      </p:bgPr>
    </p:bg>
    <p:spTree>
      <p:nvGrpSpPr>
        <p:cNvPr id="1" name=""/>
        <p:cNvGrpSpPr/>
        <p:nvPr/>
      </p:nvGrpSpPr>
      <p:grpSpPr>
        <a:xfrm>
          <a:off x="0" y="0"/>
          <a:ext cx="0" cy="0"/>
          <a:chOff x="0" y="0"/>
          <a:chExt cx="0" cy="0"/>
        </a:xfrm>
      </p:grpSpPr>
      <p:sp>
        <p:nvSpPr>
          <p:cNvPr id="2" name="Freeform 2"/>
          <p:cNvSpPr/>
          <p:nvPr/>
        </p:nvSpPr>
        <p:spPr>
          <a:xfrm rot="-1346665">
            <a:off x="13698353" y="-2914049"/>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1346665">
            <a:off x="7313057" y="-5014027"/>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881470"/>
            <a:ext cx="8488290" cy="2371725"/>
          </a:xfrm>
          <a:prstGeom prst="rect">
            <a:avLst/>
          </a:prstGeom>
        </p:spPr>
        <p:txBody>
          <a:bodyPr lIns="0" tIns="0" rIns="0" bIns="0" rtlCol="0" anchor="t">
            <a:spAutoFit/>
          </a:bodyPr>
          <a:lstStyle/>
          <a:p>
            <a:pPr>
              <a:lnSpc>
                <a:spcPts val="9359"/>
              </a:lnSpc>
            </a:pPr>
            <a:r>
              <a:rPr lang="en-US" sz="7799">
                <a:solidFill>
                  <a:srgbClr val="FF7C64"/>
                </a:solidFill>
                <a:latin typeface="Archivo Narrow"/>
              </a:rPr>
              <a:t>History</a:t>
            </a:r>
          </a:p>
          <a:p>
            <a:pPr>
              <a:lnSpc>
                <a:spcPts val="9359"/>
              </a:lnSpc>
            </a:pPr>
            <a:r>
              <a:rPr lang="en-US" sz="7799">
                <a:solidFill>
                  <a:srgbClr val="102B30"/>
                </a:solidFill>
                <a:latin typeface="Archivo Narrow"/>
              </a:rPr>
              <a:t>and Background</a:t>
            </a:r>
          </a:p>
        </p:txBody>
      </p:sp>
      <p:sp>
        <p:nvSpPr>
          <p:cNvPr id="5" name="TextBox 5"/>
          <p:cNvSpPr txBox="1"/>
          <p:nvPr/>
        </p:nvSpPr>
        <p:spPr>
          <a:xfrm>
            <a:off x="1217044" y="3533775"/>
            <a:ext cx="2459408" cy="13811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Founding and Early Years</a:t>
            </a:r>
          </a:p>
        </p:txBody>
      </p:sp>
      <p:sp>
        <p:nvSpPr>
          <p:cNvPr id="6" name="TextBox 6"/>
          <p:cNvSpPr txBox="1"/>
          <p:nvPr/>
        </p:nvSpPr>
        <p:spPr>
          <a:xfrm>
            <a:off x="4565670" y="3533775"/>
            <a:ext cx="2459408" cy="13811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Initial Funding and Progress</a:t>
            </a:r>
          </a:p>
        </p:txBody>
      </p:sp>
      <p:sp>
        <p:nvSpPr>
          <p:cNvPr id="7" name="TextBox 7"/>
          <p:cNvSpPr txBox="1"/>
          <p:nvPr/>
        </p:nvSpPr>
        <p:spPr>
          <a:xfrm>
            <a:off x="7910903" y="3533775"/>
            <a:ext cx="2459408" cy="13811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Public Demonstrations</a:t>
            </a:r>
          </a:p>
        </p:txBody>
      </p:sp>
      <p:sp>
        <p:nvSpPr>
          <p:cNvPr id="8" name="TextBox 8"/>
          <p:cNvSpPr txBox="1"/>
          <p:nvPr/>
        </p:nvSpPr>
        <p:spPr>
          <a:xfrm>
            <a:off x="11256137" y="3533775"/>
            <a:ext cx="2459408" cy="18383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Progress and Ambitious Goals</a:t>
            </a:r>
          </a:p>
        </p:txBody>
      </p:sp>
      <p:sp>
        <p:nvSpPr>
          <p:cNvPr id="9" name="TextBox 9"/>
          <p:cNvSpPr txBox="1"/>
          <p:nvPr/>
        </p:nvSpPr>
        <p:spPr>
          <a:xfrm>
            <a:off x="14611548" y="3533775"/>
            <a:ext cx="2459408" cy="18383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Regulatory Approvals and Clinical Trials</a:t>
            </a:r>
          </a:p>
        </p:txBody>
      </p:sp>
      <p:grpSp>
        <p:nvGrpSpPr>
          <p:cNvPr id="10" name="Group 10"/>
          <p:cNvGrpSpPr/>
          <p:nvPr/>
        </p:nvGrpSpPr>
        <p:grpSpPr>
          <a:xfrm>
            <a:off x="1213652" y="5754109"/>
            <a:ext cx="2462801" cy="3570584"/>
            <a:chOff x="0" y="0"/>
            <a:chExt cx="3283734" cy="4760778"/>
          </a:xfrm>
        </p:grpSpPr>
        <p:sp>
          <p:nvSpPr>
            <p:cNvPr id="11" name="TextBox 11"/>
            <p:cNvSpPr txBox="1"/>
            <p:nvPr/>
          </p:nvSpPr>
          <p:spPr>
            <a:xfrm>
              <a:off x="0" y="-133350"/>
              <a:ext cx="3283734" cy="616966"/>
            </a:xfrm>
            <a:prstGeom prst="rect">
              <a:avLst/>
            </a:prstGeom>
          </p:spPr>
          <p:txBody>
            <a:bodyPr lIns="0" tIns="0" rIns="0" bIns="0" rtlCol="0" anchor="t">
              <a:spAutoFit/>
            </a:bodyPr>
            <a:lstStyle/>
            <a:p>
              <a:pPr>
                <a:lnSpc>
                  <a:spcPts val="4224"/>
                </a:lnSpc>
              </a:pPr>
              <a:r>
                <a:rPr lang="en-US" sz="2400">
                  <a:solidFill>
                    <a:srgbClr val="102B30"/>
                  </a:solidFill>
                  <a:latin typeface="Open Sauce Bold"/>
                </a:rPr>
                <a:t>2016 - 2017</a:t>
              </a:r>
            </a:p>
          </p:txBody>
        </p:sp>
        <p:sp>
          <p:nvSpPr>
            <p:cNvPr id="12" name="TextBox 12"/>
            <p:cNvSpPr txBox="1"/>
            <p:nvPr/>
          </p:nvSpPr>
          <p:spPr>
            <a:xfrm>
              <a:off x="0" y="821873"/>
              <a:ext cx="3283734" cy="3938905"/>
            </a:xfrm>
            <a:prstGeom prst="rect">
              <a:avLst/>
            </a:prstGeom>
          </p:spPr>
          <p:txBody>
            <a:bodyPr lIns="0" tIns="0" rIns="0" bIns="0" rtlCol="0" anchor="t">
              <a:spAutoFit/>
            </a:bodyPr>
            <a:lstStyle/>
            <a:p>
              <a:pPr>
                <a:lnSpc>
                  <a:spcPts val="2940"/>
                </a:lnSpc>
              </a:pPr>
              <a:r>
                <a:rPr lang="en-US" sz="2100">
                  <a:solidFill>
                    <a:srgbClr val="102B30"/>
                  </a:solidFill>
                  <a:latin typeface="Open Sauce Light"/>
                </a:rPr>
                <a:t>Elon Musk co-founded Neuralink with a team of scientists and engineers, including Max Hodak and several others. </a:t>
              </a:r>
            </a:p>
          </p:txBody>
        </p:sp>
      </p:grpSp>
      <p:grpSp>
        <p:nvGrpSpPr>
          <p:cNvPr id="13" name="Group 13"/>
          <p:cNvGrpSpPr/>
          <p:nvPr/>
        </p:nvGrpSpPr>
        <p:grpSpPr>
          <a:xfrm>
            <a:off x="4469492" y="5754109"/>
            <a:ext cx="2462801" cy="3570584"/>
            <a:chOff x="0" y="0"/>
            <a:chExt cx="3283734" cy="4760778"/>
          </a:xfrm>
        </p:grpSpPr>
        <p:sp>
          <p:nvSpPr>
            <p:cNvPr id="14" name="TextBox 14"/>
            <p:cNvSpPr txBox="1"/>
            <p:nvPr/>
          </p:nvSpPr>
          <p:spPr>
            <a:xfrm>
              <a:off x="0" y="-133350"/>
              <a:ext cx="3283734" cy="616966"/>
            </a:xfrm>
            <a:prstGeom prst="rect">
              <a:avLst/>
            </a:prstGeom>
          </p:spPr>
          <p:txBody>
            <a:bodyPr lIns="0" tIns="0" rIns="0" bIns="0" rtlCol="0" anchor="t">
              <a:spAutoFit/>
            </a:bodyPr>
            <a:lstStyle/>
            <a:p>
              <a:pPr algn="just">
                <a:lnSpc>
                  <a:spcPts val="4224"/>
                </a:lnSpc>
              </a:pPr>
              <a:r>
                <a:rPr lang="en-US" sz="2400">
                  <a:solidFill>
                    <a:srgbClr val="102B30"/>
                  </a:solidFill>
                  <a:latin typeface="Open Sauce Bold"/>
                </a:rPr>
                <a:t>2017 - 2019</a:t>
              </a:r>
            </a:p>
          </p:txBody>
        </p:sp>
        <p:sp>
          <p:nvSpPr>
            <p:cNvPr id="15" name="TextBox 15"/>
            <p:cNvSpPr txBox="1"/>
            <p:nvPr/>
          </p:nvSpPr>
          <p:spPr>
            <a:xfrm>
              <a:off x="0" y="821873"/>
              <a:ext cx="3283734" cy="3938905"/>
            </a:xfrm>
            <a:prstGeom prst="rect">
              <a:avLst/>
            </a:prstGeom>
          </p:spPr>
          <p:txBody>
            <a:bodyPr lIns="0" tIns="0" rIns="0" bIns="0" rtlCol="0" anchor="t">
              <a:spAutoFit/>
            </a:bodyPr>
            <a:lstStyle/>
            <a:p>
              <a:pPr>
                <a:lnSpc>
                  <a:spcPts val="2940"/>
                </a:lnSpc>
              </a:pPr>
              <a:r>
                <a:rPr lang="en-US" sz="2100">
                  <a:solidFill>
                    <a:srgbClr val="102B30"/>
                  </a:solidFill>
                  <a:latin typeface="Open Sauce Light"/>
                </a:rPr>
                <a:t> In 2017, they raised $27 million, and in 2019, they secured an additional $158 million in a funding round led by Elon Musk.</a:t>
              </a:r>
            </a:p>
          </p:txBody>
        </p:sp>
      </p:grpSp>
      <p:grpSp>
        <p:nvGrpSpPr>
          <p:cNvPr id="16" name="Group 16"/>
          <p:cNvGrpSpPr/>
          <p:nvPr/>
        </p:nvGrpSpPr>
        <p:grpSpPr>
          <a:xfrm>
            <a:off x="8016037" y="5754109"/>
            <a:ext cx="2462801" cy="3570584"/>
            <a:chOff x="0" y="0"/>
            <a:chExt cx="3283734" cy="4760778"/>
          </a:xfrm>
        </p:grpSpPr>
        <p:sp>
          <p:nvSpPr>
            <p:cNvPr id="17" name="TextBox 17"/>
            <p:cNvSpPr txBox="1"/>
            <p:nvPr/>
          </p:nvSpPr>
          <p:spPr>
            <a:xfrm>
              <a:off x="0" y="-133350"/>
              <a:ext cx="3283734" cy="616966"/>
            </a:xfrm>
            <a:prstGeom prst="rect">
              <a:avLst/>
            </a:prstGeom>
          </p:spPr>
          <p:txBody>
            <a:bodyPr lIns="0" tIns="0" rIns="0" bIns="0" rtlCol="0" anchor="t">
              <a:spAutoFit/>
            </a:bodyPr>
            <a:lstStyle/>
            <a:p>
              <a:pPr>
                <a:lnSpc>
                  <a:spcPts val="4224"/>
                </a:lnSpc>
              </a:pPr>
              <a:r>
                <a:rPr lang="en-US" sz="2400">
                  <a:solidFill>
                    <a:srgbClr val="102B30"/>
                  </a:solidFill>
                  <a:latin typeface="Open Sauce Bold"/>
                </a:rPr>
                <a:t>2019-2020</a:t>
              </a:r>
            </a:p>
          </p:txBody>
        </p:sp>
        <p:sp>
          <p:nvSpPr>
            <p:cNvPr id="18" name="TextBox 18"/>
            <p:cNvSpPr txBox="1"/>
            <p:nvPr/>
          </p:nvSpPr>
          <p:spPr>
            <a:xfrm>
              <a:off x="0" y="821873"/>
              <a:ext cx="3283734" cy="3938905"/>
            </a:xfrm>
            <a:prstGeom prst="rect">
              <a:avLst/>
            </a:prstGeom>
          </p:spPr>
          <p:txBody>
            <a:bodyPr lIns="0" tIns="0" rIns="0" bIns="0" rtlCol="0" anchor="t">
              <a:spAutoFit/>
            </a:bodyPr>
            <a:lstStyle/>
            <a:p>
              <a:pPr>
                <a:lnSpc>
                  <a:spcPts val="2940"/>
                </a:lnSpc>
              </a:pPr>
              <a:r>
                <a:rPr lang="en-US" sz="2100">
                  <a:solidFill>
                    <a:srgbClr val="102B30"/>
                  </a:solidFill>
                  <a:latin typeface="Open Sauce Light"/>
                </a:rPr>
                <a:t>They demonstrated a prototype of their BCI system.They also showed a pig named Gertrude that had a Neuralink implant.</a:t>
              </a:r>
            </a:p>
          </p:txBody>
        </p:sp>
      </p:grpSp>
      <p:grpSp>
        <p:nvGrpSpPr>
          <p:cNvPr id="19" name="Group 19"/>
          <p:cNvGrpSpPr/>
          <p:nvPr/>
        </p:nvGrpSpPr>
        <p:grpSpPr>
          <a:xfrm>
            <a:off x="11315489" y="5754109"/>
            <a:ext cx="2459408" cy="3199109"/>
            <a:chOff x="0" y="0"/>
            <a:chExt cx="3279211" cy="4265478"/>
          </a:xfrm>
        </p:grpSpPr>
        <p:sp>
          <p:nvSpPr>
            <p:cNvPr id="20" name="TextBox 20"/>
            <p:cNvSpPr txBox="1"/>
            <p:nvPr/>
          </p:nvSpPr>
          <p:spPr>
            <a:xfrm>
              <a:off x="0" y="-133350"/>
              <a:ext cx="3279211" cy="616966"/>
            </a:xfrm>
            <a:prstGeom prst="rect">
              <a:avLst/>
            </a:prstGeom>
          </p:spPr>
          <p:txBody>
            <a:bodyPr lIns="0" tIns="0" rIns="0" bIns="0" rtlCol="0" anchor="t">
              <a:spAutoFit/>
            </a:bodyPr>
            <a:lstStyle/>
            <a:p>
              <a:pPr>
                <a:lnSpc>
                  <a:spcPts val="4224"/>
                </a:lnSpc>
              </a:pPr>
              <a:r>
                <a:rPr lang="en-US" sz="2400">
                  <a:solidFill>
                    <a:srgbClr val="102B30"/>
                  </a:solidFill>
                  <a:latin typeface="Open Sauce Bold"/>
                </a:rPr>
                <a:t>2020-2021</a:t>
              </a:r>
            </a:p>
          </p:txBody>
        </p:sp>
        <p:sp>
          <p:nvSpPr>
            <p:cNvPr id="21" name="TextBox 21"/>
            <p:cNvSpPr txBox="1"/>
            <p:nvPr/>
          </p:nvSpPr>
          <p:spPr>
            <a:xfrm>
              <a:off x="0" y="821873"/>
              <a:ext cx="3279211" cy="3443605"/>
            </a:xfrm>
            <a:prstGeom prst="rect">
              <a:avLst/>
            </a:prstGeom>
          </p:spPr>
          <p:txBody>
            <a:bodyPr lIns="0" tIns="0" rIns="0" bIns="0" rtlCol="0" anchor="t">
              <a:spAutoFit/>
            </a:bodyPr>
            <a:lstStyle/>
            <a:p>
              <a:pPr>
                <a:lnSpc>
                  <a:spcPts val="2940"/>
                </a:lnSpc>
              </a:pPr>
              <a:r>
                <a:rPr lang="en-US" sz="2100">
                  <a:solidFill>
                    <a:srgbClr val="102B30"/>
                  </a:solidFill>
                  <a:latin typeface="Open Sauce Light"/>
                </a:rPr>
                <a:t> Potential to treat various neurological conditions, such as Parkinson's disease and depression.</a:t>
              </a:r>
            </a:p>
          </p:txBody>
        </p:sp>
      </p:grpSp>
      <p:grpSp>
        <p:nvGrpSpPr>
          <p:cNvPr id="22" name="Group 22"/>
          <p:cNvGrpSpPr/>
          <p:nvPr/>
        </p:nvGrpSpPr>
        <p:grpSpPr>
          <a:xfrm>
            <a:off x="14592498" y="5754109"/>
            <a:ext cx="2459408" cy="3942059"/>
            <a:chOff x="0" y="0"/>
            <a:chExt cx="3279211" cy="5256078"/>
          </a:xfrm>
        </p:grpSpPr>
        <p:sp>
          <p:nvSpPr>
            <p:cNvPr id="23" name="TextBox 23"/>
            <p:cNvSpPr txBox="1"/>
            <p:nvPr/>
          </p:nvSpPr>
          <p:spPr>
            <a:xfrm>
              <a:off x="0" y="-133350"/>
              <a:ext cx="3279211" cy="616966"/>
            </a:xfrm>
            <a:prstGeom prst="rect">
              <a:avLst/>
            </a:prstGeom>
          </p:spPr>
          <p:txBody>
            <a:bodyPr lIns="0" tIns="0" rIns="0" bIns="0" rtlCol="0" anchor="t">
              <a:spAutoFit/>
            </a:bodyPr>
            <a:lstStyle/>
            <a:p>
              <a:pPr>
                <a:lnSpc>
                  <a:spcPts val="4224"/>
                </a:lnSpc>
              </a:pPr>
              <a:r>
                <a:rPr lang="en-US" sz="2400">
                  <a:solidFill>
                    <a:srgbClr val="102B30"/>
                  </a:solidFill>
                  <a:latin typeface="Open Sauce Bold"/>
                </a:rPr>
                <a:t>Current</a:t>
              </a:r>
            </a:p>
          </p:txBody>
        </p:sp>
        <p:sp>
          <p:nvSpPr>
            <p:cNvPr id="24" name="TextBox 24"/>
            <p:cNvSpPr txBox="1"/>
            <p:nvPr/>
          </p:nvSpPr>
          <p:spPr>
            <a:xfrm>
              <a:off x="0" y="821873"/>
              <a:ext cx="3279211" cy="4434205"/>
            </a:xfrm>
            <a:prstGeom prst="rect">
              <a:avLst/>
            </a:prstGeom>
          </p:spPr>
          <p:txBody>
            <a:bodyPr lIns="0" tIns="0" rIns="0" bIns="0" rtlCol="0" anchor="t">
              <a:spAutoFit/>
            </a:bodyPr>
            <a:lstStyle/>
            <a:p>
              <a:pPr>
                <a:lnSpc>
                  <a:spcPts val="2940"/>
                </a:lnSpc>
              </a:pPr>
              <a:r>
                <a:rPr lang="en-US" sz="2100">
                  <a:solidFill>
                    <a:srgbClr val="102B30"/>
                  </a:solidFill>
                  <a:latin typeface="Open Sauce Light"/>
                </a:rPr>
                <a:t>They received approval from the U.S. Food and Drug Administration (FDA) to implant the Neuralink device in a limited number of human participants </a:t>
              </a:r>
            </a:p>
          </p:txBody>
        </p:sp>
      </p:grpSp>
      <p:sp>
        <p:nvSpPr>
          <p:cNvPr id="25" name="AutoShape 25"/>
          <p:cNvSpPr/>
          <p:nvPr/>
        </p:nvSpPr>
        <p:spPr>
          <a:xfrm>
            <a:off x="1318785" y="5562847"/>
            <a:ext cx="3150707" cy="0"/>
          </a:xfrm>
          <a:prstGeom prst="line">
            <a:avLst/>
          </a:prstGeom>
          <a:ln w="19050" cap="rnd">
            <a:solidFill>
              <a:srgbClr val="102B30">
                <a:alpha val="34902"/>
              </a:srgbClr>
            </a:solidFill>
            <a:prstDash val="solid"/>
            <a:headEnd type="none" w="sm" len="sm"/>
            <a:tailEnd type="none" w="sm" len="sm"/>
          </a:ln>
        </p:spPr>
        <p:txBody>
          <a:bodyPr/>
          <a:lstStyle/>
          <a:p>
            <a:endParaRPr lang="en-IN"/>
          </a:p>
        </p:txBody>
      </p:sp>
      <p:grpSp>
        <p:nvGrpSpPr>
          <p:cNvPr id="26" name="Group 26"/>
          <p:cNvGrpSpPr/>
          <p:nvPr/>
        </p:nvGrpSpPr>
        <p:grpSpPr>
          <a:xfrm>
            <a:off x="1115303" y="5461106"/>
            <a:ext cx="203483" cy="20348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C64"/>
            </a:solidFill>
          </p:spPr>
          <p:txBody>
            <a:bodyPr/>
            <a:lstStyle/>
            <a:p>
              <a:endParaRPr lang="en-IN"/>
            </a:p>
          </p:txBody>
        </p:sp>
        <p:sp>
          <p:nvSpPr>
            <p:cNvPr id="28" name="TextBox 28"/>
            <p:cNvSpPr txBox="1"/>
            <p:nvPr/>
          </p:nvSpPr>
          <p:spPr>
            <a:xfrm>
              <a:off x="76200" y="47625"/>
              <a:ext cx="660400" cy="688975"/>
            </a:xfrm>
            <a:prstGeom prst="rect">
              <a:avLst/>
            </a:prstGeom>
          </p:spPr>
          <p:txBody>
            <a:bodyPr lIns="50800" tIns="50800" rIns="50800" bIns="50800" rtlCol="0" anchor="ctr"/>
            <a:lstStyle/>
            <a:p>
              <a:pPr algn="ctr">
                <a:lnSpc>
                  <a:spcPts val="2100"/>
                </a:lnSpc>
              </a:pPr>
              <a:endParaRPr/>
            </a:p>
          </p:txBody>
        </p:sp>
      </p:grpSp>
      <p:grpSp>
        <p:nvGrpSpPr>
          <p:cNvPr id="29" name="Group 29"/>
          <p:cNvGrpSpPr/>
          <p:nvPr/>
        </p:nvGrpSpPr>
        <p:grpSpPr>
          <a:xfrm>
            <a:off x="4469492" y="5461106"/>
            <a:ext cx="203483" cy="203483"/>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C64"/>
            </a:solidFill>
          </p:spPr>
          <p:txBody>
            <a:bodyPr/>
            <a:lstStyle/>
            <a:p>
              <a:endParaRPr lang="en-IN"/>
            </a:p>
          </p:txBody>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2100"/>
                </a:lnSpc>
              </a:pPr>
              <a:endParaRPr/>
            </a:p>
          </p:txBody>
        </p:sp>
      </p:grpSp>
      <p:grpSp>
        <p:nvGrpSpPr>
          <p:cNvPr id="32" name="Group 32"/>
          <p:cNvGrpSpPr/>
          <p:nvPr/>
        </p:nvGrpSpPr>
        <p:grpSpPr>
          <a:xfrm>
            <a:off x="7914296" y="5461149"/>
            <a:ext cx="203483" cy="203483"/>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C64"/>
            </a:solidFill>
          </p:spPr>
          <p:txBody>
            <a:bodyPr/>
            <a:lstStyle/>
            <a:p>
              <a:endParaRPr lang="en-IN"/>
            </a:p>
          </p:txBody>
        </p:sp>
        <p:sp>
          <p:nvSpPr>
            <p:cNvPr id="34" name="TextBox 34"/>
            <p:cNvSpPr txBox="1"/>
            <p:nvPr/>
          </p:nvSpPr>
          <p:spPr>
            <a:xfrm>
              <a:off x="76200" y="47625"/>
              <a:ext cx="660400" cy="688975"/>
            </a:xfrm>
            <a:prstGeom prst="rect">
              <a:avLst/>
            </a:prstGeom>
          </p:spPr>
          <p:txBody>
            <a:bodyPr lIns="50800" tIns="50800" rIns="50800" bIns="50800" rtlCol="0" anchor="ctr"/>
            <a:lstStyle/>
            <a:p>
              <a:pPr algn="ctr">
                <a:lnSpc>
                  <a:spcPts val="2100"/>
                </a:lnSpc>
              </a:pPr>
              <a:endParaRPr/>
            </a:p>
          </p:txBody>
        </p:sp>
      </p:grpSp>
      <p:grpSp>
        <p:nvGrpSpPr>
          <p:cNvPr id="35" name="Group 35"/>
          <p:cNvGrpSpPr/>
          <p:nvPr/>
        </p:nvGrpSpPr>
        <p:grpSpPr>
          <a:xfrm>
            <a:off x="11279612" y="5470631"/>
            <a:ext cx="203483" cy="20348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C64"/>
            </a:solidFill>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100"/>
                </a:lnSpc>
              </a:pPr>
              <a:endParaRPr/>
            </a:p>
          </p:txBody>
        </p:sp>
      </p:grpSp>
      <p:grpSp>
        <p:nvGrpSpPr>
          <p:cNvPr id="38" name="Group 38"/>
          <p:cNvGrpSpPr/>
          <p:nvPr/>
        </p:nvGrpSpPr>
        <p:grpSpPr>
          <a:xfrm>
            <a:off x="14634715" y="5480156"/>
            <a:ext cx="203483" cy="203483"/>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C64"/>
            </a:solidFill>
          </p:spPr>
          <p:txBody>
            <a:bodyPr/>
            <a:lstStyle/>
            <a:p>
              <a:endParaRPr lang="en-IN"/>
            </a:p>
          </p:txBody>
        </p:sp>
        <p:sp>
          <p:nvSpPr>
            <p:cNvPr id="40" name="TextBox 40"/>
            <p:cNvSpPr txBox="1"/>
            <p:nvPr/>
          </p:nvSpPr>
          <p:spPr>
            <a:xfrm>
              <a:off x="76200" y="47625"/>
              <a:ext cx="660400" cy="688975"/>
            </a:xfrm>
            <a:prstGeom prst="rect">
              <a:avLst/>
            </a:prstGeom>
          </p:spPr>
          <p:txBody>
            <a:bodyPr lIns="50800" tIns="50800" rIns="50800" bIns="50800" rtlCol="0" anchor="ctr"/>
            <a:lstStyle/>
            <a:p>
              <a:pPr algn="ctr">
                <a:lnSpc>
                  <a:spcPts val="2100"/>
                </a:lnSpc>
              </a:pPr>
              <a:endParaRPr/>
            </a:p>
          </p:txBody>
        </p:sp>
      </p:grpSp>
      <p:sp>
        <p:nvSpPr>
          <p:cNvPr id="41" name="AutoShape 41"/>
          <p:cNvSpPr/>
          <p:nvPr/>
        </p:nvSpPr>
        <p:spPr>
          <a:xfrm>
            <a:off x="4672975" y="5562847"/>
            <a:ext cx="3241321" cy="44"/>
          </a:xfrm>
          <a:prstGeom prst="line">
            <a:avLst/>
          </a:prstGeom>
          <a:ln w="19050" cap="rnd">
            <a:solidFill>
              <a:srgbClr val="102B30">
                <a:alpha val="34902"/>
              </a:srgbClr>
            </a:solidFill>
            <a:prstDash val="solid"/>
            <a:headEnd type="none" w="sm" len="sm"/>
            <a:tailEnd type="none" w="sm" len="sm"/>
          </a:ln>
        </p:spPr>
        <p:txBody>
          <a:bodyPr/>
          <a:lstStyle/>
          <a:p>
            <a:endParaRPr lang="en-IN"/>
          </a:p>
        </p:txBody>
      </p:sp>
      <p:sp>
        <p:nvSpPr>
          <p:cNvPr id="42" name="AutoShape 42"/>
          <p:cNvSpPr/>
          <p:nvPr/>
        </p:nvSpPr>
        <p:spPr>
          <a:xfrm>
            <a:off x="8117778" y="5562891"/>
            <a:ext cx="3161834" cy="9481"/>
          </a:xfrm>
          <a:prstGeom prst="line">
            <a:avLst/>
          </a:prstGeom>
          <a:ln w="19050" cap="rnd">
            <a:solidFill>
              <a:srgbClr val="102B30">
                <a:alpha val="34902"/>
              </a:srgbClr>
            </a:solidFill>
            <a:prstDash val="solid"/>
            <a:headEnd type="none" w="sm" len="sm"/>
            <a:tailEnd type="none" w="sm" len="sm"/>
          </a:ln>
        </p:spPr>
        <p:txBody>
          <a:bodyPr/>
          <a:lstStyle/>
          <a:p>
            <a:endParaRPr lang="en-IN"/>
          </a:p>
        </p:txBody>
      </p:sp>
      <p:sp>
        <p:nvSpPr>
          <p:cNvPr id="43" name="AutoShape 43"/>
          <p:cNvSpPr/>
          <p:nvPr/>
        </p:nvSpPr>
        <p:spPr>
          <a:xfrm>
            <a:off x="11483095" y="5572372"/>
            <a:ext cx="3151620" cy="9525"/>
          </a:xfrm>
          <a:prstGeom prst="line">
            <a:avLst/>
          </a:prstGeom>
          <a:ln w="19050" cap="rnd">
            <a:solidFill>
              <a:srgbClr val="102B30">
                <a:alpha val="34902"/>
              </a:srgbClr>
            </a:solidFill>
            <a:prstDash val="solid"/>
            <a:headEnd type="none" w="sm" len="sm"/>
            <a:tailEnd type="none" w="sm" len="sm"/>
          </a:ln>
        </p:spPr>
        <p:txBody>
          <a:bodyPr/>
          <a:lstStyle/>
          <a:p>
            <a:endParaRPr lang="en-IN"/>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838185" cy="5722304"/>
            <a:chOff x="0" y="0"/>
            <a:chExt cx="7784247" cy="7629739"/>
          </a:xfrm>
        </p:grpSpPr>
        <p:sp>
          <p:nvSpPr>
            <p:cNvPr id="3" name="TextBox 3"/>
            <p:cNvSpPr txBox="1"/>
            <p:nvPr/>
          </p:nvSpPr>
          <p:spPr>
            <a:xfrm>
              <a:off x="0" y="-9525"/>
              <a:ext cx="7784247" cy="5953125"/>
            </a:xfrm>
            <a:prstGeom prst="rect">
              <a:avLst/>
            </a:prstGeom>
          </p:spPr>
          <p:txBody>
            <a:bodyPr lIns="0" tIns="0" rIns="0" bIns="0" rtlCol="0" anchor="t">
              <a:spAutoFit/>
            </a:bodyPr>
            <a:lstStyle/>
            <a:p>
              <a:pPr>
                <a:lnSpc>
                  <a:spcPts val="11760"/>
                </a:lnSpc>
              </a:pPr>
              <a:r>
                <a:rPr lang="en-US" sz="9800">
                  <a:solidFill>
                    <a:srgbClr val="FF7C64"/>
                  </a:solidFill>
                  <a:latin typeface="Archivo Narrow"/>
                </a:rPr>
                <a:t>The Science behind </a:t>
              </a:r>
              <a:r>
                <a:rPr lang="en-US" sz="9800">
                  <a:solidFill>
                    <a:srgbClr val="FFFFFF"/>
                  </a:solidFill>
                  <a:latin typeface="Archivo Narrow"/>
                </a:rPr>
                <a:t> Neuralink</a:t>
              </a:r>
            </a:p>
          </p:txBody>
        </p:sp>
        <p:sp>
          <p:nvSpPr>
            <p:cNvPr id="4" name="TextBox 4"/>
            <p:cNvSpPr txBox="1"/>
            <p:nvPr/>
          </p:nvSpPr>
          <p:spPr>
            <a:xfrm>
              <a:off x="0" y="6289254"/>
              <a:ext cx="7784247" cy="1340486"/>
            </a:xfrm>
            <a:prstGeom prst="rect">
              <a:avLst/>
            </a:prstGeom>
          </p:spPr>
          <p:txBody>
            <a:bodyPr lIns="0" tIns="0" rIns="0" bIns="0" rtlCol="0" anchor="t">
              <a:spAutoFit/>
            </a:bodyPr>
            <a:lstStyle/>
            <a:p>
              <a:pPr>
                <a:lnSpc>
                  <a:spcPts val="4199"/>
                </a:lnSpc>
              </a:pPr>
              <a:r>
                <a:rPr lang="en-US" sz="2799">
                  <a:solidFill>
                    <a:srgbClr val="FFFFFF"/>
                  </a:solidFill>
                  <a:latin typeface="Open Sauce Light"/>
                </a:rPr>
                <a:t>The Future of Brain-Computer Interfaces</a:t>
              </a:r>
            </a:p>
          </p:txBody>
        </p:sp>
      </p:grpSp>
      <p:graphicFrame>
        <p:nvGraphicFramePr>
          <p:cNvPr id="5" name="Table 5"/>
          <p:cNvGraphicFramePr>
            <a:graphicFrameLocks noGrp="1"/>
          </p:cNvGraphicFramePr>
          <p:nvPr/>
        </p:nvGraphicFramePr>
        <p:xfrm>
          <a:off x="8873126" y="195262"/>
          <a:ext cx="9156386" cy="9896475"/>
        </p:xfrm>
        <a:graphic>
          <a:graphicData uri="http://schemas.openxmlformats.org/drawingml/2006/table">
            <a:tbl>
              <a:tblPr/>
              <a:tblGrid>
                <a:gridCol w="4578193">
                  <a:extLst>
                    <a:ext uri="{9D8B030D-6E8A-4147-A177-3AD203B41FA5}">
                      <a16:colId xmlns:a16="http://schemas.microsoft.com/office/drawing/2014/main" val="20000"/>
                    </a:ext>
                  </a:extLst>
                </a:gridCol>
                <a:gridCol w="4578193">
                  <a:extLst>
                    <a:ext uri="{9D8B030D-6E8A-4147-A177-3AD203B41FA5}">
                      <a16:colId xmlns:a16="http://schemas.microsoft.com/office/drawing/2014/main" val="20001"/>
                    </a:ext>
                  </a:extLst>
                </a:gridCol>
              </a:tblGrid>
              <a:tr h="2628900">
                <a:tc>
                  <a:txBody>
                    <a:bodyPr/>
                    <a:lstStyle/>
                    <a:p>
                      <a:pPr algn="l">
                        <a:lnSpc>
                          <a:spcPts val="4200"/>
                        </a:lnSpc>
                        <a:defRPr/>
                      </a:pPr>
                      <a:r>
                        <a:rPr lang="en-US" sz="3000">
                          <a:solidFill>
                            <a:srgbClr val="FFFFFF"/>
                          </a:solidFill>
                          <a:latin typeface="Open Sauce Bold"/>
                        </a:rPr>
                        <a:t>Neuroscience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Open Sauce"/>
                        </a:rPr>
                        <a:t>This involves studying the structure and function of the brain's neurons and how they communicate with each other through electrical and chemical signals.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1250">
                <a:tc>
                  <a:txBody>
                    <a:bodyPr/>
                    <a:lstStyle/>
                    <a:p>
                      <a:pPr algn="l">
                        <a:lnSpc>
                          <a:spcPts val="4500"/>
                        </a:lnSpc>
                        <a:defRPr/>
                      </a:pPr>
                      <a:r>
                        <a:rPr lang="en-US" sz="3000">
                          <a:solidFill>
                            <a:srgbClr val="FFFFFF"/>
                          </a:solidFill>
                          <a:latin typeface="Open Sauce Bold"/>
                        </a:rPr>
                        <a:t>Electrode Technology</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50"/>
                        </a:lnSpc>
                        <a:defRPr/>
                      </a:pPr>
                      <a:r>
                        <a:rPr lang="en-US" sz="2100">
                          <a:solidFill>
                            <a:srgbClr val="FFFFFF"/>
                          </a:solidFill>
                          <a:latin typeface="Open Sauce Light"/>
                        </a:rPr>
                        <a:t>They have been working on creating ultra-thin, flexible electrodes that can be implanted into the brain with minimal damage to brain tissue.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57425">
                <a:tc>
                  <a:txBody>
                    <a:bodyPr/>
                    <a:lstStyle/>
                    <a:p>
                      <a:pPr algn="l">
                        <a:lnSpc>
                          <a:spcPts val="4200"/>
                        </a:lnSpc>
                        <a:defRPr/>
                      </a:pPr>
                      <a:r>
                        <a:rPr lang="en-US" sz="3000">
                          <a:solidFill>
                            <a:srgbClr val="FFFFFF"/>
                          </a:solidFill>
                          <a:latin typeface="Open Sauce Bold"/>
                        </a:rPr>
                        <a:t>Brain-Machine Interface (BMI)</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Open Sauce Light"/>
                        </a:rPr>
                        <a:t>This involves interpreting neural signals to control external devices and providing sensory feedback to the brain from those devices.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28900">
                <a:tc>
                  <a:txBody>
                    <a:bodyPr/>
                    <a:lstStyle/>
                    <a:p>
                      <a:pPr algn="l">
                        <a:lnSpc>
                          <a:spcPts val="4200"/>
                        </a:lnSpc>
                        <a:defRPr/>
                      </a:pPr>
                      <a:r>
                        <a:rPr lang="en-US" sz="3000">
                          <a:solidFill>
                            <a:srgbClr val="FFFFFF"/>
                          </a:solidFill>
                          <a:latin typeface="Open Sauce Bold"/>
                        </a:rPr>
                        <a:t>Data Analysis and Machine Learning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Open Sauce Light"/>
                        </a:rPr>
                        <a:t>Machine learning and data analysis techniques are used to decode neural signals and enable the user to control external devices or receive sensory input.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Box 6"/>
          <p:cNvSpPr txBox="1"/>
          <p:nvPr/>
        </p:nvSpPr>
        <p:spPr>
          <a:xfrm>
            <a:off x="1028700" y="7543800"/>
            <a:ext cx="5073554" cy="1714500"/>
          </a:xfrm>
          <a:prstGeom prst="rect">
            <a:avLst/>
          </a:prstGeom>
        </p:spPr>
        <p:txBody>
          <a:bodyPr lIns="0" tIns="0" rIns="0" bIns="0" rtlCol="0" anchor="t">
            <a:spAutoFit/>
          </a:bodyPr>
          <a:lstStyle/>
          <a:p>
            <a:pPr marL="0" lvl="0" indent="0">
              <a:lnSpc>
                <a:spcPts val="2721"/>
              </a:lnSpc>
              <a:spcBef>
                <a:spcPct val="0"/>
              </a:spcBef>
            </a:pPr>
            <a:r>
              <a:rPr lang="en-US" sz="2268" u="none" strike="noStrike">
                <a:solidFill>
                  <a:srgbClr val="FFFFFF"/>
                </a:solidFill>
                <a:latin typeface="Open Sauce"/>
              </a:rPr>
              <a:t>Where science meets the mind's potential, forging connections between biology and technology to unlock the limitless possibilities of the human brain.</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sp>
        <p:nvSpPr>
          <p:cNvPr id="2" name="Freeform 2"/>
          <p:cNvSpPr/>
          <p:nvPr/>
        </p:nvSpPr>
        <p:spPr>
          <a:xfrm>
            <a:off x="-1684584" y="2700276"/>
            <a:ext cx="6822551" cy="4800595"/>
          </a:xfrm>
          <a:custGeom>
            <a:avLst/>
            <a:gdLst/>
            <a:ahLst/>
            <a:cxnLst/>
            <a:rect l="l" t="t" r="r" b="b"/>
            <a:pathLst>
              <a:path w="6822551" h="4800595">
                <a:moveTo>
                  <a:pt x="0" y="0"/>
                </a:moveTo>
                <a:lnTo>
                  <a:pt x="6822552" y="0"/>
                </a:lnTo>
                <a:lnTo>
                  <a:pt x="6822552" y="4800596"/>
                </a:lnTo>
                <a:lnTo>
                  <a:pt x="0" y="4800596"/>
                </a:lnTo>
                <a:lnTo>
                  <a:pt x="0" y="0"/>
                </a:lnTo>
                <a:close/>
              </a:path>
            </a:pathLst>
          </a:custGeom>
          <a:blipFill>
            <a:blip r:embed="rId2">
              <a:alphaModFix amt="5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583174" y="2245399"/>
            <a:ext cx="9474561" cy="5796202"/>
          </a:xfrm>
          <a:custGeom>
            <a:avLst/>
            <a:gdLst/>
            <a:ahLst/>
            <a:cxnLst/>
            <a:rect l="l" t="t" r="r" b="b"/>
            <a:pathLst>
              <a:path w="9474561" h="5796202">
                <a:moveTo>
                  <a:pt x="0" y="0"/>
                </a:moveTo>
                <a:lnTo>
                  <a:pt x="9474561" y="0"/>
                </a:lnTo>
                <a:lnTo>
                  <a:pt x="9474561" y="5796202"/>
                </a:lnTo>
                <a:lnTo>
                  <a:pt x="0" y="5796202"/>
                </a:lnTo>
                <a:lnTo>
                  <a:pt x="0" y="0"/>
                </a:lnTo>
                <a:close/>
              </a:path>
            </a:pathLst>
          </a:custGeom>
          <a:blipFill>
            <a:blip r:embed="rId4"/>
            <a:stretch>
              <a:fillRect/>
            </a:stretch>
          </a:blipFill>
        </p:spPr>
        <p:txBody>
          <a:bodyPr/>
          <a:lstStyle/>
          <a:p>
            <a:endParaRPr lang="en-IN"/>
          </a:p>
        </p:txBody>
      </p:sp>
      <p:grpSp>
        <p:nvGrpSpPr>
          <p:cNvPr id="4" name="Group 4"/>
          <p:cNvGrpSpPr/>
          <p:nvPr/>
        </p:nvGrpSpPr>
        <p:grpSpPr>
          <a:xfrm>
            <a:off x="10540677" y="462625"/>
            <a:ext cx="7371137" cy="8795675"/>
            <a:chOff x="0" y="0"/>
            <a:chExt cx="9828183" cy="11727567"/>
          </a:xfrm>
        </p:grpSpPr>
        <p:sp>
          <p:nvSpPr>
            <p:cNvPr id="5" name="TextBox 5"/>
            <p:cNvSpPr txBox="1"/>
            <p:nvPr/>
          </p:nvSpPr>
          <p:spPr>
            <a:xfrm>
              <a:off x="0" y="-9525"/>
              <a:ext cx="9828183" cy="3884808"/>
            </a:xfrm>
            <a:prstGeom prst="rect">
              <a:avLst/>
            </a:prstGeom>
          </p:spPr>
          <p:txBody>
            <a:bodyPr lIns="0" tIns="0" rIns="0" bIns="0" rtlCol="0" anchor="t">
              <a:spAutoFit/>
            </a:bodyPr>
            <a:lstStyle/>
            <a:p>
              <a:pPr>
                <a:lnSpc>
                  <a:spcPts val="11501"/>
                </a:lnSpc>
              </a:pPr>
              <a:r>
                <a:rPr lang="en-US" sz="9584">
                  <a:solidFill>
                    <a:srgbClr val="FF7C64"/>
                  </a:solidFill>
                  <a:latin typeface="Archivo Narrow"/>
                </a:rPr>
                <a:t>How Does it work?</a:t>
              </a:r>
            </a:p>
          </p:txBody>
        </p:sp>
        <p:sp>
          <p:nvSpPr>
            <p:cNvPr id="6" name="TextBox 6"/>
            <p:cNvSpPr txBox="1"/>
            <p:nvPr/>
          </p:nvSpPr>
          <p:spPr>
            <a:xfrm>
              <a:off x="0" y="4469664"/>
              <a:ext cx="9828183" cy="7257903"/>
            </a:xfrm>
            <a:prstGeom prst="rect">
              <a:avLst/>
            </a:prstGeom>
          </p:spPr>
          <p:txBody>
            <a:bodyPr lIns="0" tIns="0" rIns="0" bIns="0" rtlCol="0" anchor="t">
              <a:spAutoFit/>
            </a:bodyPr>
            <a:lstStyle/>
            <a:p>
              <a:pPr marL="591227" lvl="1" indent="-295613">
                <a:lnSpc>
                  <a:spcPts val="5476"/>
                </a:lnSpc>
                <a:buFont typeface="Arial"/>
                <a:buChar char="•"/>
              </a:pPr>
              <a:r>
                <a:rPr lang="en-US" sz="2738">
                  <a:solidFill>
                    <a:srgbClr val="FFFFFF"/>
                  </a:solidFill>
                  <a:latin typeface="Open Sauce Light"/>
                </a:rPr>
                <a:t>Brain Implantation</a:t>
              </a:r>
            </a:p>
            <a:p>
              <a:pPr marL="591227" lvl="1" indent="-295613">
                <a:lnSpc>
                  <a:spcPts val="5476"/>
                </a:lnSpc>
                <a:buFont typeface="Arial"/>
                <a:buChar char="•"/>
              </a:pPr>
              <a:r>
                <a:rPr lang="en-US" sz="2738">
                  <a:solidFill>
                    <a:srgbClr val="FFFFFF"/>
                  </a:solidFill>
                  <a:latin typeface="Open Sauce Light"/>
                </a:rPr>
                <a:t>Neural Signal Recording</a:t>
              </a:r>
            </a:p>
            <a:p>
              <a:pPr marL="591227" lvl="1" indent="-295613">
                <a:lnSpc>
                  <a:spcPts val="5476"/>
                </a:lnSpc>
                <a:buFont typeface="Arial"/>
                <a:buChar char="•"/>
              </a:pPr>
              <a:r>
                <a:rPr lang="en-US" sz="2738">
                  <a:solidFill>
                    <a:srgbClr val="FFFFFF"/>
                  </a:solidFill>
                  <a:latin typeface="Open Sauce Light"/>
                </a:rPr>
                <a:t>Data Acquisition and Amplification</a:t>
              </a:r>
            </a:p>
            <a:p>
              <a:pPr marL="591227" lvl="1" indent="-295613">
                <a:lnSpc>
                  <a:spcPts val="5476"/>
                </a:lnSpc>
                <a:buFont typeface="Arial"/>
                <a:buChar char="•"/>
              </a:pPr>
              <a:r>
                <a:rPr lang="en-US" sz="2738">
                  <a:solidFill>
                    <a:srgbClr val="FFFFFF"/>
                  </a:solidFill>
                  <a:latin typeface="Open Sauce Light"/>
                </a:rPr>
                <a:t>Analog-to-Digital Conversion</a:t>
              </a:r>
            </a:p>
            <a:p>
              <a:pPr marL="591227" lvl="1" indent="-295613">
                <a:lnSpc>
                  <a:spcPts val="5476"/>
                </a:lnSpc>
                <a:buFont typeface="Arial"/>
                <a:buChar char="•"/>
              </a:pPr>
              <a:r>
                <a:rPr lang="en-US" sz="2738">
                  <a:solidFill>
                    <a:srgbClr val="FFFFFF"/>
                  </a:solidFill>
                  <a:latin typeface="Open Sauce Light"/>
                </a:rPr>
                <a:t>Data Transmission</a:t>
              </a:r>
            </a:p>
            <a:p>
              <a:pPr marL="591227" lvl="1" indent="-295613">
                <a:lnSpc>
                  <a:spcPts val="5476"/>
                </a:lnSpc>
                <a:buFont typeface="Arial"/>
                <a:buChar char="•"/>
              </a:pPr>
              <a:r>
                <a:rPr lang="en-US" sz="2738">
                  <a:solidFill>
                    <a:srgbClr val="FFFFFF"/>
                  </a:solidFill>
                  <a:latin typeface="Open Sauce Light"/>
                </a:rPr>
                <a:t>Signal Processing and Analysis</a:t>
              </a:r>
            </a:p>
            <a:p>
              <a:pPr marL="591227" lvl="1" indent="-295613">
                <a:lnSpc>
                  <a:spcPts val="5476"/>
                </a:lnSpc>
                <a:buFont typeface="Arial"/>
                <a:buChar char="•"/>
              </a:pPr>
              <a:r>
                <a:rPr lang="en-US" sz="2738">
                  <a:solidFill>
                    <a:srgbClr val="FFFFFF"/>
                  </a:solidFill>
                  <a:latin typeface="Open Sauce Light"/>
                </a:rPr>
                <a:t>Output to External Device</a:t>
              </a:r>
            </a:p>
            <a:p>
              <a:pPr marL="591227" lvl="1" indent="-295613">
                <a:lnSpc>
                  <a:spcPts val="5476"/>
                </a:lnSpc>
                <a:buFont typeface="Arial"/>
                <a:buChar char="•"/>
              </a:pPr>
              <a:r>
                <a:rPr lang="en-US" sz="2738">
                  <a:solidFill>
                    <a:srgbClr val="FFFFFF"/>
                  </a:solidFill>
                  <a:latin typeface="Open Sauce Light"/>
                </a:rPr>
                <a:t>Feedback to the Brain (Future Goals)</a:t>
              </a:r>
            </a:p>
          </p:txBody>
        </p:sp>
      </p:gr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259234"/>
            <a:ext cx="5578317" cy="5768531"/>
            <a:chOff x="0" y="0"/>
            <a:chExt cx="7437757" cy="7691375"/>
          </a:xfrm>
        </p:grpSpPr>
        <p:sp>
          <p:nvSpPr>
            <p:cNvPr id="3" name="TextBox 3"/>
            <p:cNvSpPr txBox="1"/>
            <p:nvPr/>
          </p:nvSpPr>
          <p:spPr>
            <a:xfrm>
              <a:off x="0" y="-9525"/>
              <a:ext cx="7437757" cy="3971925"/>
            </a:xfrm>
            <a:prstGeom prst="rect">
              <a:avLst/>
            </a:prstGeom>
          </p:spPr>
          <p:txBody>
            <a:bodyPr lIns="0" tIns="0" rIns="0" bIns="0" rtlCol="0" anchor="t">
              <a:spAutoFit/>
            </a:bodyPr>
            <a:lstStyle/>
            <a:p>
              <a:pPr>
                <a:lnSpc>
                  <a:spcPts val="11760"/>
                </a:lnSpc>
              </a:pPr>
              <a:r>
                <a:rPr lang="en-US" sz="9800">
                  <a:solidFill>
                    <a:srgbClr val="FF7C64"/>
                  </a:solidFill>
                  <a:latin typeface="Archivo Narrow"/>
                </a:rPr>
                <a:t>Algorithms Used</a:t>
              </a:r>
            </a:p>
          </p:txBody>
        </p:sp>
        <p:sp>
          <p:nvSpPr>
            <p:cNvPr id="4" name="TextBox 4"/>
            <p:cNvSpPr txBox="1"/>
            <p:nvPr/>
          </p:nvSpPr>
          <p:spPr>
            <a:xfrm>
              <a:off x="0" y="4229609"/>
              <a:ext cx="7437757" cy="3461766"/>
            </a:xfrm>
            <a:prstGeom prst="rect">
              <a:avLst/>
            </a:prstGeom>
          </p:spPr>
          <p:txBody>
            <a:bodyPr lIns="0" tIns="0" rIns="0" bIns="0" rtlCol="0" anchor="t">
              <a:spAutoFit/>
            </a:bodyPr>
            <a:lstStyle/>
            <a:p>
              <a:pPr>
                <a:lnSpc>
                  <a:spcPts val="4224"/>
                </a:lnSpc>
              </a:pPr>
              <a:r>
                <a:rPr lang="en-US" sz="2400">
                  <a:solidFill>
                    <a:srgbClr val="FFFFFF"/>
                  </a:solidFill>
                  <a:latin typeface="Open Sauce Light"/>
                </a:rPr>
                <a:t>Various algorithms and techniques are used in BCI research and applications to interpret and process brain signals. Here are some of the key algorithms and methods commonly used in BCI:</a:t>
              </a:r>
            </a:p>
          </p:txBody>
        </p:sp>
      </p:grpSp>
      <p:graphicFrame>
        <p:nvGraphicFramePr>
          <p:cNvPr id="5" name="Table 5"/>
          <p:cNvGraphicFramePr>
            <a:graphicFrameLocks noGrp="1"/>
          </p:cNvGraphicFramePr>
          <p:nvPr/>
        </p:nvGraphicFramePr>
        <p:xfrm>
          <a:off x="8138283" y="1028700"/>
          <a:ext cx="9121016" cy="8124825"/>
        </p:xfrm>
        <a:graphic>
          <a:graphicData uri="http://schemas.openxmlformats.org/drawingml/2006/table">
            <a:tbl>
              <a:tblPr/>
              <a:tblGrid>
                <a:gridCol w="2922229">
                  <a:extLst>
                    <a:ext uri="{9D8B030D-6E8A-4147-A177-3AD203B41FA5}">
                      <a16:colId xmlns:a16="http://schemas.microsoft.com/office/drawing/2014/main" val="20000"/>
                    </a:ext>
                  </a:extLst>
                </a:gridCol>
                <a:gridCol w="6198787">
                  <a:extLst>
                    <a:ext uri="{9D8B030D-6E8A-4147-A177-3AD203B41FA5}">
                      <a16:colId xmlns:a16="http://schemas.microsoft.com/office/drawing/2014/main" val="20001"/>
                    </a:ext>
                  </a:extLst>
                </a:gridCol>
              </a:tblGrid>
              <a:tr h="3166012">
                <a:tc>
                  <a:txBody>
                    <a:bodyPr/>
                    <a:lstStyle/>
                    <a:p>
                      <a:pPr algn="ctr">
                        <a:lnSpc>
                          <a:spcPts val="3640"/>
                        </a:lnSpc>
                        <a:defRPr/>
                      </a:pPr>
                      <a:r>
                        <a:rPr lang="en-US" sz="2600">
                          <a:solidFill>
                            <a:srgbClr val="FFFFFF"/>
                          </a:solidFill>
                          <a:latin typeface="Open Sauce"/>
                        </a:rPr>
                        <a:t>Machine Learning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3640"/>
                        </a:lnSpc>
                        <a:defRPr/>
                      </a:pPr>
                      <a:r>
                        <a:rPr lang="en-US" sz="2600">
                          <a:solidFill>
                            <a:srgbClr val="FFFFFF"/>
                          </a:solidFill>
                          <a:latin typeface="Open Sauce"/>
                        </a:rPr>
                        <a:t>Various machine learning algorithms, including Support Vector Machines (SVM), Random Forest, and Neural Networks, are employed to classify brain signals into different states or actions.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708275">
                <a:tc>
                  <a:txBody>
                    <a:bodyPr/>
                    <a:lstStyle/>
                    <a:p>
                      <a:pPr algn="ctr">
                        <a:lnSpc>
                          <a:spcPts val="3640"/>
                        </a:lnSpc>
                        <a:defRPr/>
                      </a:pPr>
                      <a:r>
                        <a:rPr lang="en-US" sz="2600">
                          <a:solidFill>
                            <a:srgbClr val="FFFFFF"/>
                          </a:solidFill>
                          <a:latin typeface="Open Sauce"/>
                        </a:rPr>
                        <a:t>Deep Learning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3640"/>
                        </a:lnSpc>
                        <a:defRPr/>
                      </a:pPr>
                      <a:r>
                        <a:rPr lang="en-US" sz="2600">
                          <a:solidFill>
                            <a:srgbClr val="FFFFFF"/>
                          </a:solidFill>
                          <a:latin typeface="Open Sauce"/>
                        </a:rPr>
                        <a:t>Convolutional Neural Networks (CNNs) and Recurrent Neural Networks (RNNs) have been applied for feature learning and classification tasks in BCI.</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50538">
                <a:tc>
                  <a:txBody>
                    <a:bodyPr/>
                    <a:lstStyle/>
                    <a:p>
                      <a:pPr algn="ctr">
                        <a:lnSpc>
                          <a:spcPts val="3640"/>
                        </a:lnSpc>
                        <a:defRPr/>
                      </a:pPr>
                      <a:r>
                        <a:rPr lang="en-US" sz="2600">
                          <a:solidFill>
                            <a:srgbClr val="FFFFFF"/>
                          </a:solidFill>
                          <a:latin typeface="Open Sauce Medium"/>
                        </a:rPr>
                        <a:t>Generative algorithms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3640"/>
                        </a:lnSpc>
                        <a:defRPr/>
                      </a:pPr>
                      <a:r>
                        <a:rPr lang="en-US" sz="2600">
                          <a:solidFill>
                            <a:srgbClr val="FFFFFF"/>
                          </a:solidFill>
                          <a:latin typeface="Open Sauce"/>
                        </a:rPr>
                        <a:t>Generative models commonly used in BCI include variational Autoencoder (VAE),Generative Adversarial Networks (GANs), etc.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2977631" y="2896214"/>
          <a:ext cx="5310368" cy="6632674"/>
        </p:xfrm>
        <a:graphic>
          <a:graphicData uri="http://schemas.openxmlformats.org/drawingml/2006/table">
            <a:tbl>
              <a:tblPr/>
              <a:tblGrid>
                <a:gridCol w="2119699">
                  <a:extLst>
                    <a:ext uri="{9D8B030D-6E8A-4147-A177-3AD203B41FA5}">
                      <a16:colId xmlns:a16="http://schemas.microsoft.com/office/drawing/2014/main" val="20000"/>
                    </a:ext>
                  </a:extLst>
                </a:gridCol>
                <a:gridCol w="3190669">
                  <a:extLst>
                    <a:ext uri="{9D8B030D-6E8A-4147-A177-3AD203B41FA5}">
                      <a16:colId xmlns:a16="http://schemas.microsoft.com/office/drawing/2014/main" val="20001"/>
                    </a:ext>
                  </a:extLst>
                </a:gridCol>
              </a:tblGrid>
              <a:tr h="2795144">
                <a:tc>
                  <a:txBody>
                    <a:bodyPr/>
                    <a:lstStyle/>
                    <a:p>
                      <a:pPr algn="l">
                        <a:lnSpc>
                          <a:spcPts val="4500"/>
                        </a:lnSpc>
                        <a:defRPr/>
                      </a:pPr>
                      <a:r>
                        <a:rPr lang="en-US" sz="3000">
                          <a:solidFill>
                            <a:srgbClr val="FFFFFF"/>
                          </a:solidFill>
                          <a:latin typeface="Open Sauce Bold"/>
                        </a:rPr>
                        <a:t>Implant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50"/>
                        </a:lnSpc>
                        <a:defRPr/>
                      </a:pPr>
                      <a:r>
                        <a:rPr lang="en-US" sz="2100" spc="-126">
                          <a:solidFill>
                            <a:srgbClr val="FFFFFF"/>
                          </a:solidFill>
                          <a:latin typeface="Open Sauce Light"/>
                        </a:rPr>
                        <a:t>Biocompatible Enclosure</a:t>
                      </a:r>
                      <a:endParaRPr lang="en-US" sz="1100"/>
                    </a:p>
                    <a:p>
                      <a:pPr>
                        <a:lnSpc>
                          <a:spcPts val="3150"/>
                        </a:lnSpc>
                      </a:pPr>
                      <a:r>
                        <a:rPr lang="en-US" sz="2100" spc="-126">
                          <a:solidFill>
                            <a:srgbClr val="FFFFFF"/>
                          </a:solidFill>
                          <a:latin typeface="Open Sauce Light"/>
                        </a:rPr>
                        <a:t>Battery</a:t>
                      </a:r>
                    </a:p>
                    <a:p>
                      <a:pPr>
                        <a:lnSpc>
                          <a:spcPts val="3150"/>
                        </a:lnSpc>
                      </a:pPr>
                      <a:r>
                        <a:rPr lang="en-US" sz="2100" spc="-126">
                          <a:solidFill>
                            <a:srgbClr val="FFFFFF"/>
                          </a:solidFill>
                          <a:latin typeface="Open Sauce Light"/>
                        </a:rPr>
                        <a:t>Chips and Electronics</a:t>
                      </a:r>
                    </a:p>
                    <a:p>
                      <a:pPr>
                        <a:lnSpc>
                          <a:spcPts val="3150"/>
                        </a:lnSpc>
                      </a:pPr>
                      <a:r>
                        <a:rPr lang="en-US" sz="2100" spc="-126">
                          <a:solidFill>
                            <a:srgbClr val="FFFFFF"/>
                          </a:solidFill>
                          <a:latin typeface="Open Sauce Light"/>
                        </a:rPr>
                        <a:t>Threads</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14475">
                <a:tc>
                  <a:txBody>
                    <a:bodyPr/>
                    <a:lstStyle/>
                    <a:p>
                      <a:pPr algn="l">
                        <a:lnSpc>
                          <a:spcPts val="4200"/>
                        </a:lnSpc>
                        <a:defRPr/>
                      </a:pPr>
                      <a:r>
                        <a:rPr lang="en-US" sz="3000">
                          <a:solidFill>
                            <a:srgbClr val="FFFFFF"/>
                          </a:solidFill>
                          <a:latin typeface="Open Sauce"/>
                        </a:rPr>
                        <a:t>Surgical Robot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940"/>
                        </a:lnSpc>
                        <a:defRPr/>
                      </a:pPr>
                      <a:r>
                        <a:rPr lang="en-US" sz="2100" spc="-126">
                          <a:solidFill>
                            <a:srgbClr val="FFFFFF"/>
                          </a:solidFill>
                          <a:latin typeface="Open Sauce Light"/>
                        </a:rPr>
                        <a:t>Base Structure</a:t>
                      </a:r>
                      <a:endParaRPr lang="en-US" sz="1100"/>
                    </a:p>
                    <a:p>
                      <a:pPr>
                        <a:lnSpc>
                          <a:spcPts val="2940"/>
                        </a:lnSpc>
                      </a:pPr>
                      <a:r>
                        <a:rPr lang="en-US" sz="2100" spc="-126">
                          <a:solidFill>
                            <a:srgbClr val="FFFFFF"/>
                          </a:solidFill>
                          <a:latin typeface="Open Sauce Light"/>
                        </a:rPr>
                        <a:t>Robot Head</a:t>
                      </a:r>
                    </a:p>
                    <a:p>
                      <a:pPr>
                        <a:lnSpc>
                          <a:spcPts val="2940"/>
                        </a:lnSpc>
                      </a:pPr>
                      <a:r>
                        <a:rPr lang="en-US" sz="2100" spc="-126">
                          <a:solidFill>
                            <a:srgbClr val="FFFFFF"/>
                          </a:solidFill>
                          <a:latin typeface="Open Sauce Light"/>
                        </a:rPr>
                        <a:t>Needle</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23055">
                <a:tc>
                  <a:txBody>
                    <a:bodyPr/>
                    <a:lstStyle/>
                    <a:p>
                      <a:pPr algn="l">
                        <a:lnSpc>
                          <a:spcPts val="4200"/>
                        </a:lnSpc>
                        <a:defRPr/>
                      </a:pPr>
                      <a:r>
                        <a:rPr lang="en-US" sz="3000">
                          <a:solidFill>
                            <a:srgbClr val="FFFFFF"/>
                          </a:solidFill>
                          <a:latin typeface="Open Sauce"/>
                        </a:rPr>
                        <a:t>Neuralink App</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940"/>
                        </a:lnSpc>
                        <a:defRPr/>
                      </a:pPr>
                      <a:r>
                        <a:rPr lang="en-US" sz="2100" spc="-105">
                          <a:solidFill>
                            <a:srgbClr val="FFFFFF"/>
                          </a:solidFill>
                          <a:latin typeface="Open Sauce Light"/>
                        </a:rPr>
                        <a:t>reliable computer control and prioritizes ease of use.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Freeform 3"/>
          <p:cNvSpPr/>
          <p:nvPr/>
        </p:nvSpPr>
        <p:spPr>
          <a:xfrm>
            <a:off x="1028700" y="4579121"/>
            <a:ext cx="3430859" cy="4313285"/>
          </a:xfrm>
          <a:custGeom>
            <a:avLst/>
            <a:gdLst/>
            <a:ahLst/>
            <a:cxnLst/>
            <a:rect l="l" t="t" r="r" b="b"/>
            <a:pathLst>
              <a:path w="3430859" h="4313285">
                <a:moveTo>
                  <a:pt x="0" y="0"/>
                </a:moveTo>
                <a:lnTo>
                  <a:pt x="3430859" y="0"/>
                </a:lnTo>
                <a:lnTo>
                  <a:pt x="3430859" y="4313285"/>
                </a:lnTo>
                <a:lnTo>
                  <a:pt x="0" y="4313285"/>
                </a:lnTo>
                <a:lnTo>
                  <a:pt x="0" y="0"/>
                </a:lnTo>
                <a:close/>
              </a:path>
            </a:pathLst>
          </a:custGeom>
          <a:blipFill>
            <a:blip r:embed="rId2"/>
            <a:stretch>
              <a:fillRect/>
            </a:stretch>
          </a:blipFill>
        </p:spPr>
        <p:txBody>
          <a:bodyPr/>
          <a:lstStyle/>
          <a:p>
            <a:endParaRPr lang="en-IN"/>
          </a:p>
        </p:txBody>
      </p:sp>
      <p:sp>
        <p:nvSpPr>
          <p:cNvPr id="4" name="Freeform 4"/>
          <p:cNvSpPr/>
          <p:nvPr/>
        </p:nvSpPr>
        <p:spPr>
          <a:xfrm>
            <a:off x="4893517" y="4610522"/>
            <a:ext cx="4250483" cy="4250483"/>
          </a:xfrm>
          <a:custGeom>
            <a:avLst/>
            <a:gdLst/>
            <a:ahLst/>
            <a:cxnLst/>
            <a:rect l="l" t="t" r="r" b="b"/>
            <a:pathLst>
              <a:path w="4250483" h="4250483">
                <a:moveTo>
                  <a:pt x="0" y="0"/>
                </a:moveTo>
                <a:lnTo>
                  <a:pt x="4250483" y="0"/>
                </a:lnTo>
                <a:lnTo>
                  <a:pt x="4250483" y="4250483"/>
                </a:lnTo>
                <a:lnTo>
                  <a:pt x="0" y="4250483"/>
                </a:lnTo>
                <a:lnTo>
                  <a:pt x="0" y="0"/>
                </a:lnTo>
                <a:close/>
              </a:path>
            </a:pathLst>
          </a:custGeom>
          <a:blipFill>
            <a:blip r:embed="rId3"/>
            <a:stretch>
              <a:fillRect/>
            </a:stretch>
          </a:blipFill>
        </p:spPr>
        <p:txBody>
          <a:bodyPr/>
          <a:lstStyle/>
          <a:p>
            <a:endParaRPr lang="en-IN"/>
          </a:p>
        </p:txBody>
      </p:sp>
      <p:sp>
        <p:nvSpPr>
          <p:cNvPr id="5" name="Freeform 5"/>
          <p:cNvSpPr/>
          <p:nvPr/>
        </p:nvSpPr>
        <p:spPr>
          <a:xfrm>
            <a:off x="10154471" y="4579121"/>
            <a:ext cx="2066416" cy="4281884"/>
          </a:xfrm>
          <a:custGeom>
            <a:avLst/>
            <a:gdLst/>
            <a:ahLst/>
            <a:cxnLst/>
            <a:rect l="l" t="t" r="r" b="b"/>
            <a:pathLst>
              <a:path w="2066416" h="4281884">
                <a:moveTo>
                  <a:pt x="0" y="0"/>
                </a:moveTo>
                <a:lnTo>
                  <a:pt x="2066415" y="0"/>
                </a:lnTo>
                <a:lnTo>
                  <a:pt x="2066415" y="4281884"/>
                </a:lnTo>
                <a:lnTo>
                  <a:pt x="0" y="4281884"/>
                </a:lnTo>
                <a:lnTo>
                  <a:pt x="0" y="0"/>
                </a:lnTo>
                <a:close/>
              </a:path>
            </a:pathLst>
          </a:custGeom>
          <a:blipFill>
            <a:blip r:embed="rId4"/>
            <a:stretch>
              <a:fillRect/>
            </a:stretch>
          </a:blipFill>
        </p:spPr>
        <p:txBody>
          <a:bodyPr/>
          <a:lstStyle/>
          <a:p>
            <a:endParaRPr lang="en-IN"/>
          </a:p>
        </p:txBody>
      </p:sp>
      <p:grpSp>
        <p:nvGrpSpPr>
          <p:cNvPr id="6" name="Group 6"/>
          <p:cNvGrpSpPr/>
          <p:nvPr/>
        </p:nvGrpSpPr>
        <p:grpSpPr>
          <a:xfrm>
            <a:off x="1028700" y="1028700"/>
            <a:ext cx="7761121" cy="3178822"/>
            <a:chOff x="0" y="0"/>
            <a:chExt cx="10348162" cy="4238429"/>
          </a:xfrm>
        </p:grpSpPr>
        <p:sp>
          <p:nvSpPr>
            <p:cNvPr id="7" name="TextBox 7"/>
            <p:cNvSpPr txBox="1"/>
            <p:nvPr/>
          </p:nvSpPr>
          <p:spPr>
            <a:xfrm>
              <a:off x="0" y="-19050"/>
              <a:ext cx="10348162" cy="1942432"/>
            </a:xfrm>
            <a:prstGeom prst="rect">
              <a:avLst/>
            </a:prstGeom>
          </p:spPr>
          <p:txBody>
            <a:bodyPr lIns="0" tIns="0" rIns="0" bIns="0" rtlCol="0" anchor="t">
              <a:spAutoFit/>
            </a:bodyPr>
            <a:lstStyle/>
            <a:p>
              <a:pPr>
                <a:lnSpc>
                  <a:spcPts val="11416"/>
                </a:lnSpc>
              </a:pPr>
              <a:r>
                <a:rPr lang="en-US" sz="9514">
                  <a:solidFill>
                    <a:srgbClr val="FFFFFF"/>
                  </a:solidFill>
                  <a:latin typeface="Archivo Narrow"/>
                </a:rPr>
                <a:t>It’s </a:t>
              </a:r>
              <a:r>
                <a:rPr lang="en-US" sz="9514">
                  <a:solidFill>
                    <a:srgbClr val="FF7C64"/>
                  </a:solidFill>
                  <a:latin typeface="Archivo Narrow"/>
                </a:rPr>
                <a:t>Components</a:t>
              </a:r>
            </a:p>
          </p:txBody>
        </p:sp>
        <p:sp>
          <p:nvSpPr>
            <p:cNvPr id="8" name="TextBox 8"/>
            <p:cNvSpPr txBox="1"/>
            <p:nvPr/>
          </p:nvSpPr>
          <p:spPr>
            <a:xfrm>
              <a:off x="0" y="2275496"/>
              <a:ext cx="10348162" cy="1962933"/>
            </a:xfrm>
            <a:prstGeom prst="rect">
              <a:avLst/>
            </a:prstGeom>
          </p:spPr>
          <p:txBody>
            <a:bodyPr lIns="0" tIns="0" rIns="0" bIns="0" rtlCol="0" anchor="t">
              <a:spAutoFit/>
            </a:bodyPr>
            <a:lstStyle/>
            <a:p>
              <a:pPr>
                <a:lnSpc>
                  <a:spcPts val="4077"/>
                </a:lnSpc>
              </a:pPr>
              <a:r>
                <a:rPr lang="en-US" sz="2718">
                  <a:solidFill>
                    <a:srgbClr val="FFFFFF"/>
                  </a:solidFill>
                  <a:latin typeface="Open Sauce Light"/>
                </a:rPr>
                <a:t>Implant</a:t>
              </a:r>
            </a:p>
            <a:p>
              <a:pPr>
                <a:lnSpc>
                  <a:spcPts val="4077"/>
                </a:lnSpc>
              </a:pPr>
              <a:r>
                <a:rPr lang="en-US" sz="2718">
                  <a:solidFill>
                    <a:srgbClr val="FFFFFF"/>
                  </a:solidFill>
                  <a:latin typeface="Open Sauce Light"/>
                </a:rPr>
                <a:t>Surgical robot</a:t>
              </a:r>
            </a:p>
            <a:p>
              <a:pPr>
                <a:lnSpc>
                  <a:spcPts val="4077"/>
                </a:lnSpc>
              </a:pPr>
              <a:r>
                <a:rPr lang="en-US" sz="2718">
                  <a:solidFill>
                    <a:srgbClr val="FFFFFF"/>
                  </a:solidFill>
                  <a:latin typeface="Open Sauce Light"/>
                </a:rPr>
                <a:t>Neuralink App</a:t>
              </a:r>
            </a:p>
          </p:txBody>
        </p:sp>
      </p:grpSp>
      <p:graphicFrame>
        <p:nvGraphicFramePr>
          <p:cNvPr id="9" name="Table 9"/>
          <p:cNvGraphicFramePr>
            <a:graphicFrameLocks noGrp="1"/>
          </p:cNvGraphicFramePr>
          <p:nvPr/>
        </p:nvGraphicFramePr>
        <p:xfrm>
          <a:off x="13331767" y="639489"/>
          <a:ext cx="4602098" cy="1567053"/>
        </p:xfrm>
        <a:graphic>
          <a:graphicData uri="http://schemas.openxmlformats.org/drawingml/2006/table">
            <a:tbl>
              <a:tblPr/>
              <a:tblGrid>
                <a:gridCol w="4602098">
                  <a:extLst>
                    <a:ext uri="{9D8B030D-6E8A-4147-A177-3AD203B41FA5}">
                      <a16:colId xmlns:a16="http://schemas.microsoft.com/office/drawing/2014/main" val="20000"/>
                    </a:ext>
                  </a:extLst>
                </a:gridCol>
              </a:tblGrid>
              <a:tr h="1062586">
                <a:tc>
                  <a:txBody>
                    <a:bodyPr/>
                    <a:lstStyle/>
                    <a:p>
                      <a:pPr algn="l">
                        <a:lnSpc>
                          <a:spcPts val="3150"/>
                        </a:lnSpc>
                        <a:defRPr/>
                      </a:pPr>
                      <a:r>
                        <a:rPr lang="en-US" sz="2100" spc="-126">
                          <a:solidFill>
                            <a:srgbClr val="102B30"/>
                          </a:solidFill>
                          <a:latin typeface="Open Sauce Light"/>
                        </a:rPr>
                        <a:t>The N1 Implant records neural activity through 1024 electrodes distributed across 64 threads.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9958B"/>
        </a:solidFill>
        <a:effectLst/>
      </p:bgPr>
    </p:bg>
    <p:spTree>
      <p:nvGrpSpPr>
        <p:cNvPr id="1" name=""/>
        <p:cNvGrpSpPr/>
        <p:nvPr/>
      </p:nvGrpSpPr>
      <p:grpSpPr>
        <a:xfrm>
          <a:off x="0" y="0"/>
          <a:ext cx="0" cy="0"/>
          <a:chOff x="0" y="0"/>
          <a:chExt cx="0" cy="0"/>
        </a:xfrm>
      </p:grpSpPr>
      <p:sp>
        <p:nvSpPr>
          <p:cNvPr id="2" name="TextBox 2"/>
          <p:cNvSpPr txBox="1"/>
          <p:nvPr/>
        </p:nvSpPr>
        <p:spPr>
          <a:xfrm>
            <a:off x="1056310" y="1019175"/>
            <a:ext cx="16258210" cy="1190625"/>
          </a:xfrm>
          <a:prstGeom prst="rect">
            <a:avLst/>
          </a:prstGeom>
        </p:spPr>
        <p:txBody>
          <a:bodyPr lIns="0" tIns="0" rIns="0" bIns="0" rtlCol="0" anchor="t">
            <a:spAutoFit/>
          </a:bodyPr>
          <a:lstStyle/>
          <a:p>
            <a:pPr algn="ctr">
              <a:lnSpc>
                <a:spcPts val="9359"/>
              </a:lnSpc>
            </a:pPr>
            <a:r>
              <a:rPr lang="en-US" sz="7799">
                <a:solidFill>
                  <a:srgbClr val="102B30"/>
                </a:solidFill>
                <a:latin typeface="Archivo Narrow"/>
              </a:rPr>
              <a:t>Neuralink’s Vision and Mission</a:t>
            </a:r>
          </a:p>
        </p:txBody>
      </p:sp>
      <p:graphicFrame>
        <p:nvGraphicFramePr>
          <p:cNvPr id="3" name="Table 3"/>
          <p:cNvGraphicFramePr>
            <a:graphicFrameLocks noGrp="1"/>
          </p:cNvGraphicFramePr>
          <p:nvPr/>
        </p:nvGraphicFramePr>
        <p:xfrm>
          <a:off x="1028700" y="3077213"/>
          <a:ext cx="16230600" cy="5518515"/>
        </p:xfrm>
        <a:graphic>
          <a:graphicData uri="http://schemas.openxmlformats.org/drawingml/2006/table">
            <a:tbl>
              <a:tblPr/>
              <a:tblGrid>
                <a:gridCol w="81153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1113837">
                <a:tc>
                  <a:txBody>
                    <a:bodyPr/>
                    <a:lstStyle/>
                    <a:p>
                      <a:pPr algn="l">
                        <a:lnSpc>
                          <a:spcPts val="4200"/>
                        </a:lnSpc>
                        <a:defRPr/>
                      </a:pPr>
                      <a:r>
                        <a:rPr lang="en-US" sz="3000">
                          <a:solidFill>
                            <a:srgbClr val="FF7C64"/>
                          </a:solidFill>
                          <a:latin typeface="Open Sauce Bold"/>
                        </a:rPr>
                        <a:t>Vision</a:t>
                      </a:r>
                      <a:endParaRPr lang="en-US" sz="1100"/>
                    </a:p>
                  </a:txBody>
                  <a:tcPr marL="190500" marR="190500" marT="190500" marB="190500" anchor="ctr">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algn="l">
                        <a:lnSpc>
                          <a:spcPts val="4200"/>
                        </a:lnSpc>
                        <a:defRPr/>
                      </a:pPr>
                      <a:r>
                        <a:rPr lang="en-US" sz="3000">
                          <a:solidFill>
                            <a:srgbClr val="FF7C64"/>
                          </a:solidFill>
                          <a:latin typeface="Open Sauce Bold"/>
                        </a:rPr>
                        <a:t>Mission</a:t>
                      </a:r>
                      <a:endParaRPr lang="en-US" sz="1100"/>
                    </a:p>
                  </a:txBody>
                  <a:tcPr marL="190500" marR="190500" marT="190500" marB="190500" anchor="ctr">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extLst>
                  <a:ext uri="{0D108BD9-81ED-4DB2-BD59-A6C34878D82A}">
                    <a16:rowId xmlns:a16="http://schemas.microsoft.com/office/drawing/2014/main" val="10000"/>
                  </a:ext>
                </a:extLst>
              </a:tr>
              <a:tr h="4381500">
                <a:tc>
                  <a:txBody>
                    <a:bodyPr/>
                    <a:lstStyle/>
                    <a:p>
                      <a:pPr marL="453392" lvl="1" indent="-226696" algn="l">
                        <a:lnSpc>
                          <a:spcPts val="3150"/>
                        </a:lnSpc>
                        <a:buFont typeface="Arial"/>
                        <a:buChar char="•"/>
                        <a:defRPr/>
                      </a:pPr>
                      <a:r>
                        <a:rPr lang="en-US" sz="2100">
                          <a:solidFill>
                            <a:srgbClr val="FFFFFF"/>
                          </a:solidFill>
                          <a:latin typeface="Open Sauce Light"/>
                        </a:rPr>
                        <a:t>Neuralink's vision is to create a seamless interface between the human brain and computer technology. </a:t>
                      </a:r>
                      <a:endParaRPr lang="en-US" sz="1100"/>
                    </a:p>
                    <a:p>
                      <a:pPr marL="453392" lvl="1" indent="-226696">
                        <a:lnSpc>
                          <a:spcPts val="3150"/>
                        </a:lnSpc>
                        <a:buFont typeface="Arial"/>
                        <a:buChar char="•"/>
                      </a:pPr>
                      <a:r>
                        <a:rPr lang="en-US" sz="2100">
                          <a:solidFill>
                            <a:srgbClr val="FFFFFF"/>
                          </a:solidFill>
                          <a:latin typeface="Open Sauce Light"/>
                        </a:rPr>
                        <a:t>They aim to develop cutting-edge brain-machine interfaces (BMIs) that can bridge the gap between the human brain and external devices, enabling direct communication and interaction between the two.</a:t>
                      </a:r>
                    </a:p>
                    <a:p>
                      <a:pPr marL="453392" lvl="1" indent="-226696">
                        <a:lnSpc>
                          <a:spcPts val="3150"/>
                        </a:lnSpc>
                        <a:buFont typeface="Arial"/>
                        <a:buChar char="•"/>
                      </a:pPr>
                      <a:r>
                        <a:rPr lang="en-US" sz="2100">
                          <a:solidFill>
                            <a:srgbClr val="FFFFFF"/>
                          </a:solidFill>
                          <a:latin typeface="Open Sauce Light"/>
                        </a:rPr>
                        <a:t> This vision encompasses a wide range of potential applications, from medical treatments for neurological disorders to enhancing human capabilities through brain augmentation.</a:t>
                      </a:r>
                    </a:p>
                  </a:txBody>
                  <a:tcPr marL="190500" marR="190500" marT="190500" marB="190500">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marL="453392" lvl="1" indent="-226696" algn="l">
                        <a:lnSpc>
                          <a:spcPts val="3150"/>
                        </a:lnSpc>
                        <a:buFont typeface="Arial"/>
                        <a:buChar char="•"/>
                        <a:defRPr/>
                      </a:pPr>
                      <a:r>
                        <a:rPr lang="en-US" sz="2100">
                          <a:solidFill>
                            <a:srgbClr val="FFFFFF"/>
                          </a:solidFill>
                          <a:latin typeface="Open Sauce Light"/>
                        </a:rPr>
                        <a:t>Advancing Neuroscience</a:t>
                      </a:r>
                      <a:endParaRPr lang="en-US" sz="1100"/>
                    </a:p>
                    <a:p>
                      <a:pPr marL="453392" lvl="1" indent="-226696">
                        <a:lnSpc>
                          <a:spcPts val="3150"/>
                        </a:lnSpc>
                        <a:buFont typeface="Arial"/>
                        <a:buChar char="•"/>
                      </a:pPr>
                      <a:r>
                        <a:rPr lang="en-US" sz="2100">
                          <a:solidFill>
                            <a:srgbClr val="FFFFFF"/>
                          </a:solidFill>
                          <a:latin typeface="Open Sauce Light"/>
                        </a:rPr>
                        <a:t>Medical Applications( Paralysis, epilepsy, and depression)</a:t>
                      </a:r>
                    </a:p>
                    <a:p>
                      <a:pPr marL="453392" lvl="1" indent="-226696">
                        <a:lnSpc>
                          <a:spcPts val="3150"/>
                        </a:lnSpc>
                        <a:buFont typeface="Arial"/>
                        <a:buChar char="•"/>
                      </a:pPr>
                      <a:r>
                        <a:rPr lang="en-US" sz="2100">
                          <a:solidFill>
                            <a:srgbClr val="FFFFFF"/>
                          </a:solidFill>
                          <a:latin typeface="Open Sauce Light"/>
                        </a:rPr>
                        <a:t>Cognitive Enhancement: (Memory enhancement or faster information processing)</a:t>
                      </a:r>
                    </a:p>
                    <a:p>
                      <a:pPr marL="453392" lvl="1" indent="-226696">
                        <a:lnSpc>
                          <a:spcPts val="3150"/>
                        </a:lnSpc>
                        <a:buFont typeface="Arial"/>
                        <a:buChar char="•"/>
                      </a:pPr>
                      <a:r>
                        <a:rPr lang="en-US" sz="2100">
                          <a:solidFill>
                            <a:srgbClr val="FFFFFF"/>
                          </a:solidFill>
                          <a:latin typeface="Open Sauce Light"/>
                        </a:rPr>
                        <a:t>Ethical Considerations:  (Privacy, security, and consent)</a:t>
                      </a:r>
                    </a:p>
                    <a:p>
                      <a:pPr marL="453392" lvl="1" indent="-226696">
                        <a:lnSpc>
                          <a:spcPts val="3150"/>
                        </a:lnSpc>
                        <a:buFont typeface="Arial"/>
                        <a:buChar char="•"/>
                      </a:pPr>
                      <a:r>
                        <a:rPr lang="en-US" sz="2100">
                          <a:solidFill>
                            <a:srgbClr val="FFFFFF"/>
                          </a:solidFill>
                          <a:latin typeface="Open Sauce Light"/>
                        </a:rPr>
                        <a:t>Long-Term Vision: A symbiotic relationship between humans and AI.</a:t>
                      </a:r>
                    </a:p>
                    <a:p>
                      <a:pPr>
                        <a:lnSpc>
                          <a:spcPts val="3150"/>
                        </a:lnSpc>
                      </a:pPr>
                      <a:endParaRPr lang="en-US" sz="2100">
                        <a:solidFill>
                          <a:srgbClr val="FFFFFF"/>
                        </a:solidFill>
                        <a:latin typeface="Open Sauce Light"/>
                      </a:endParaRPr>
                    </a:p>
                  </a:txBody>
                  <a:tcPr marL="190500" marR="190500" marT="190500" marB="190500">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33450" y="5474707"/>
          <a:ext cx="16421100" cy="3783593"/>
        </p:xfrm>
        <a:graphic>
          <a:graphicData uri="http://schemas.openxmlformats.org/drawingml/2006/table">
            <a:tbl>
              <a:tblPr/>
              <a:tblGrid>
                <a:gridCol w="5410200">
                  <a:extLst>
                    <a:ext uri="{9D8B030D-6E8A-4147-A177-3AD203B41FA5}">
                      <a16:colId xmlns:a16="http://schemas.microsoft.com/office/drawing/2014/main" val="20000"/>
                    </a:ext>
                  </a:extLst>
                </a:gridCol>
                <a:gridCol w="5600700">
                  <a:extLst>
                    <a:ext uri="{9D8B030D-6E8A-4147-A177-3AD203B41FA5}">
                      <a16:colId xmlns:a16="http://schemas.microsoft.com/office/drawing/2014/main" val="20001"/>
                    </a:ext>
                  </a:extLst>
                </a:gridCol>
                <a:gridCol w="5410200">
                  <a:extLst>
                    <a:ext uri="{9D8B030D-6E8A-4147-A177-3AD203B41FA5}">
                      <a16:colId xmlns:a16="http://schemas.microsoft.com/office/drawing/2014/main" val="20002"/>
                    </a:ext>
                  </a:extLst>
                </a:gridCol>
              </a:tblGrid>
              <a:tr h="942975">
                <a:tc>
                  <a:txBody>
                    <a:bodyPr/>
                    <a:lstStyle/>
                    <a:p>
                      <a:pPr algn="ctr">
                        <a:lnSpc>
                          <a:spcPts val="4200"/>
                        </a:lnSpc>
                        <a:defRPr/>
                      </a:pPr>
                      <a:r>
                        <a:rPr lang="en-US" sz="3000">
                          <a:solidFill>
                            <a:srgbClr val="102B30"/>
                          </a:solidFill>
                          <a:latin typeface="Open Sauce Bold"/>
                        </a:rPr>
                        <a:t>Medical Treatments</a:t>
                      </a:r>
                      <a:endParaRPr lang="en-US" sz="1100"/>
                    </a:p>
                  </a:txBody>
                  <a:tcPr marL="190500" marR="190500" marT="190500" marB="190500" anchor="ctr">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algn="ctr">
                        <a:lnSpc>
                          <a:spcPts val="4200"/>
                        </a:lnSpc>
                        <a:defRPr/>
                      </a:pPr>
                      <a:r>
                        <a:rPr lang="en-US" sz="3000">
                          <a:solidFill>
                            <a:srgbClr val="102B30"/>
                          </a:solidFill>
                          <a:latin typeface="Open Sauce Bold"/>
                        </a:rPr>
                        <a:t>Control of External Devices</a:t>
                      </a:r>
                      <a:endParaRPr lang="en-US" sz="1100"/>
                    </a:p>
                  </a:txBody>
                  <a:tcPr marL="190500" marR="190500" marT="190500" marB="190500" anchor="ctr">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algn="ctr">
                        <a:lnSpc>
                          <a:spcPts val="4200"/>
                        </a:lnSpc>
                        <a:defRPr/>
                      </a:pPr>
                      <a:r>
                        <a:rPr lang="en-US" sz="3000">
                          <a:solidFill>
                            <a:srgbClr val="102B30"/>
                          </a:solidFill>
                          <a:latin typeface="Open Sauce Bold"/>
                        </a:rPr>
                        <a:t>Others</a:t>
                      </a:r>
                      <a:endParaRPr lang="en-US" sz="1100"/>
                    </a:p>
                  </a:txBody>
                  <a:tcPr marL="190500" marR="190500" marT="190500" marB="190500" anchor="ctr">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extLst>
                  <a:ext uri="{0D108BD9-81ED-4DB2-BD59-A6C34878D82A}">
                    <a16:rowId xmlns:a16="http://schemas.microsoft.com/office/drawing/2014/main" val="10000"/>
                  </a:ext>
                </a:extLst>
              </a:tr>
              <a:tr h="2840618">
                <a:tc>
                  <a:txBody>
                    <a:bodyPr/>
                    <a:lstStyle/>
                    <a:p>
                      <a:pPr algn="ctr">
                        <a:lnSpc>
                          <a:spcPts val="3150"/>
                        </a:lnSpc>
                        <a:defRPr/>
                      </a:pPr>
                      <a:r>
                        <a:rPr lang="en-US" sz="2100">
                          <a:solidFill>
                            <a:srgbClr val="102B30"/>
                          </a:solidFill>
                          <a:latin typeface="Open Sauce Light"/>
                        </a:rPr>
                        <a:t>Neurological Disorders</a:t>
                      </a:r>
                      <a:endParaRPr lang="en-US" sz="1100"/>
                    </a:p>
                    <a:p>
                      <a:pPr algn="ctr">
                        <a:lnSpc>
                          <a:spcPts val="3150"/>
                        </a:lnSpc>
                      </a:pPr>
                      <a:r>
                        <a:rPr lang="en-US" sz="2100">
                          <a:solidFill>
                            <a:srgbClr val="102B30"/>
                          </a:solidFill>
                          <a:latin typeface="Open Sauce Light"/>
                        </a:rPr>
                        <a:t>Memory Enhancement</a:t>
                      </a:r>
                    </a:p>
                    <a:p>
                      <a:pPr algn="ctr">
                        <a:lnSpc>
                          <a:spcPts val="3150"/>
                        </a:lnSpc>
                      </a:pPr>
                      <a:r>
                        <a:rPr lang="en-US" sz="2100">
                          <a:solidFill>
                            <a:srgbClr val="102B30"/>
                          </a:solidFill>
                          <a:latin typeface="Open Sauce Light"/>
                        </a:rPr>
                        <a:t>Speech Restoration</a:t>
                      </a:r>
                    </a:p>
                    <a:p>
                      <a:pPr algn="ctr">
                        <a:lnSpc>
                          <a:spcPts val="3150"/>
                        </a:lnSpc>
                      </a:pPr>
                      <a:r>
                        <a:rPr lang="en-US" sz="2100">
                          <a:solidFill>
                            <a:srgbClr val="102B30"/>
                          </a:solidFill>
                          <a:latin typeface="Open Sauce Light"/>
                        </a:rPr>
                        <a:t>Augmented Communication</a:t>
                      </a:r>
                    </a:p>
                    <a:p>
                      <a:pPr algn="ctr">
                        <a:lnSpc>
                          <a:spcPts val="3150"/>
                        </a:lnSpc>
                      </a:pPr>
                      <a:r>
                        <a:rPr lang="en-US" sz="2100">
                          <a:solidFill>
                            <a:srgbClr val="102B30"/>
                          </a:solidFill>
                          <a:latin typeface="Open Sauce Light"/>
                        </a:rPr>
                        <a:t>Mental Health</a:t>
                      </a:r>
                    </a:p>
                  </a:txBody>
                  <a:tcPr marL="190500" marR="190500" marT="190500" marB="190500">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algn="ctr">
                        <a:lnSpc>
                          <a:spcPts val="3150"/>
                        </a:lnSpc>
                        <a:defRPr/>
                      </a:pPr>
                      <a:r>
                        <a:rPr lang="en-US" sz="2100">
                          <a:solidFill>
                            <a:srgbClr val="102B30"/>
                          </a:solidFill>
                          <a:latin typeface="Open Sauce Light"/>
                        </a:rPr>
                        <a:t>Prosthetic Control</a:t>
                      </a:r>
                      <a:endParaRPr lang="en-US" sz="1100"/>
                    </a:p>
                    <a:p>
                      <a:pPr algn="ctr">
                        <a:lnSpc>
                          <a:spcPts val="3150"/>
                        </a:lnSpc>
                      </a:pPr>
                      <a:r>
                        <a:rPr lang="en-US" sz="2100">
                          <a:solidFill>
                            <a:srgbClr val="102B30"/>
                          </a:solidFill>
                          <a:latin typeface="Open Sauce Light"/>
                        </a:rPr>
                        <a:t>Computer Control</a:t>
                      </a:r>
                    </a:p>
                    <a:p>
                      <a:pPr algn="ctr">
                        <a:lnSpc>
                          <a:spcPts val="3150"/>
                        </a:lnSpc>
                      </a:pPr>
                      <a:r>
                        <a:rPr lang="en-US" sz="2100">
                          <a:solidFill>
                            <a:srgbClr val="102B30"/>
                          </a:solidFill>
                          <a:latin typeface="Open Sauce Light"/>
                        </a:rPr>
                        <a:t>Assistive Technology</a:t>
                      </a:r>
                    </a:p>
                  </a:txBody>
                  <a:tcPr marL="190500" marR="190500" marT="190500" marB="190500">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tc>
                  <a:txBody>
                    <a:bodyPr/>
                    <a:lstStyle/>
                    <a:p>
                      <a:pPr algn="ctr">
                        <a:lnSpc>
                          <a:spcPts val="3150"/>
                        </a:lnSpc>
                        <a:defRPr/>
                      </a:pPr>
                      <a:r>
                        <a:rPr lang="en-US" sz="2100">
                          <a:solidFill>
                            <a:srgbClr val="102B30"/>
                          </a:solidFill>
                          <a:latin typeface="Open Sauce Light"/>
                        </a:rPr>
                        <a:t>Entertainment and Gaming</a:t>
                      </a:r>
                      <a:endParaRPr lang="en-US" sz="1100"/>
                    </a:p>
                    <a:p>
                      <a:pPr algn="ctr">
                        <a:lnSpc>
                          <a:spcPts val="3150"/>
                        </a:lnSpc>
                      </a:pPr>
                      <a:r>
                        <a:rPr lang="en-US" sz="2100">
                          <a:solidFill>
                            <a:srgbClr val="102B30"/>
                          </a:solidFill>
                          <a:latin typeface="Open Sauce Light"/>
                        </a:rPr>
                        <a:t>Research and Exploration</a:t>
                      </a:r>
                    </a:p>
                    <a:p>
                      <a:pPr algn="ctr">
                        <a:lnSpc>
                          <a:spcPts val="3150"/>
                        </a:lnSpc>
                      </a:pPr>
                      <a:r>
                        <a:rPr lang="en-US" sz="2100">
                          <a:solidFill>
                            <a:srgbClr val="102B30"/>
                          </a:solidFill>
                          <a:latin typeface="Open Sauce Light"/>
                        </a:rPr>
                        <a:t>Neuroscience and Brain Research</a:t>
                      </a:r>
                    </a:p>
                  </a:txBody>
                  <a:tcPr marL="190500" marR="190500" marT="190500" marB="190500">
                    <a:lnL w="0" cap="flat" cmpd="sng" algn="ctr">
                      <a:solidFill>
                        <a:srgbClr val="102B30"/>
                      </a:solidFill>
                      <a:prstDash val="solid"/>
                      <a:round/>
                      <a:headEnd type="none" w="med" len="med"/>
                      <a:tailEnd type="none" w="med" len="med"/>
                    </a:lnL>
                    <a:lnR w="0" cap="flat" cmpd="sng" algn="ctr">
                      <a:solidFill>
                        <a:srgbClr val="102B30"/>
                      </a:solidFill>
                      <a:prstDash val="solid"/>
                      <a:round/>
                      <a:headEnd type="none" w="med" len="med"/>
                      <a:tailEnd type="none" w="med" len="med"/>
                    </a:lnR>
                    <a:lnT w="0" cap="flat" cmpd="sng" algn="ctr">
                      <a:solidFill>
                        <a:srgbClr val="102B30"/>
                      </a:solidFill>
                      <a:prstDash val="solid"/>
                      <a:round/>
                      <a:headEnd type="none" w="med" len="med"/>
                      <a:tailEnd type="none" w="med" len="med"/>
                    </a:lnT>
                    <a:lnB w="0" cap="flat" cmpd="sng" algn="ctr">
                      <a:solidFill>
                        <a:srgbClr val="102B3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2502354" y="814953"/>
            <a:ext cx="13283293" cy="3735040"/>
            <a:chOff x="0" y="0"/>
            <a:chExt cx="17711057" cy="4980053"/>
          </a:xfrm>
        </p:grpSpPr>
        <p:sp>
          <p:nvSpPr>
            <p:cNvPr id="4" name="TextBox 4"/>
            <p:cNvSpPr txBox="1"/>
            <p:nvPr/>
          </p:nvSpPr>
          <p:spPr>
            <a:xfrm>
              <a:off x="0" y="-9525"/>
              <a:ext cx="17711057" cy="1990725"/>
            </a:xfrm>
            <a:prstGeom prst="rect">
              <a:avLst/>
            </a:prstGeom>
          </p:spPr>
          <p:txBody>
            <a:bodyPr lIns="0" tIns="0" rIns="0" bIns="0" rtlCol="0" anchor="t">
              <a:spAutoFit/>
            </a:bodyPr>
            <a:lstStyle/>
            <a:p>
              <a:pPr algn="ctr">
                <a:lnSpc>
                  <a:spcPts val="11760"/>
                </a:lnSpc>
              </a:pPr>
              <a:r>
                <a:rPr lang="en-US" sz="9800">
                  <a:solidFill>
                    <a:srgbClr val="102B30"/>
                  </a:solidFill>
                  <a:latin typeface="Archivo Narrow"/>
                </a:rPr>
                <a:t>Benefits  and </a:t>
              </a:r>
              <a:r>
                <a:rPr lang="en-US" sz="9800">
                  <a:solidFill>
                    <a:srgbClr val="FF7C64"/>
                  </a:solidFill>
                  <a:latin typeface="Archivo Narrow"/>
                </a:rPr>
                <a:t>Applications</a:t>
              </a:r>
            </a:p>
          </p:txBody>
        </p:sp>
        <p:sp>
          <p:nvSpPr>
            <p:cNvPr id="5" name="TextBox 5"/>
            <p:cNvSpPr txBox="1"/>
            <p:nvPr/>
          </p:nvSpPr>
          <p:spPr>
            <a:xfrm>
              <a:off x="284948" y="2348613"/>
              <a:ext cx="17141162" cy="2631440"/>
            </a:xfrm>
            <a:prstGeom prst="rect">
              <a:avLst/>
            </a:prstGeom>
          </p:spPr>
          <p:txBody>
            <a:bodyPr lIns="0" tIns="0" rIns="0" bIns="0" rtlCol="0" anchor="t">
              <a:spAutoFit/>
            </a:bodyPr>
            <a:lstStyle/>
            <a:p>
              <a:pPr algn="ctr">
                <a:lnSpc>
                  <a:spcPts val="4049"/>
                </a:lnSpc>
              </a:pPr>
              <a:r>
                <a:rPr lang="en-US" sz="2699">
                  <a:solidFill>
                    <a:srgbClr val="102B30"/>
                  </a:solidFill>
                  <a:latin typeface="Open Sauce Light"/>
                </a:rPr>
                <a:t>While still in its early stages, Neuralink holds the potential to unlock a new era of human capability and understanding, from treating neurological disorders to enhancing communication, cognition, and control, all while pushing the boundaries of science and technology.</a:t>
              </a:r>
            </a:p>
          </p:txBody>
        </p:sp>
      </p:grpSp>
      <p:sp>
        <p:nvSpPr>
          <p:cNvPr id="6" name="Freeform 6"/>
          <p:cNvSpPr/>
          <p:nvPr/>
        </p:nvSpPr>
        <p:spPr>
          <a:xfrm rot="-1346665">
            <a:off x="-3676839" y="-1558176"/>
            <a:ext cx="5980054" cy="5947436"/>
          </a:xfrm>
          <a:custGeom>
            <a:avLst/>
            <a:gdLst/>
            <a:ahLst/>
            <a:cxnLst/>
            <a:rect l="l" t="t" r="r" b="b"/>
            <a:pathLst>
              <a:path w="5980054" h="5947436">
                <a:moveTo>
                  <a:pt x="0" y="0"/>
                </a:moveTo>
                <a:lnTo>
                  <a:pt x="5980054" y="0"/>
                </a:lnTo>
                <a:lnTo>
                  <a:pt x="5980054" y="5947436"/>
                </a:lnTo>
                <a:lnTo>
                  <a:pt x="0" y="5947436"/>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346665">
            <a:off x="16160361" y="6766500"/>
            <a:ext cx="5703388" cy="5672279"/>
          </a:xfrm>
          <a:custGeom>
            <a:avLst/>
            <a:gdLst/>
            <a:ahLst/>
            <a:cxnLst/>
            <a:rect l="l" t="t" r="r" b="b"/>
            <a:pathLst>
              <a:path w="5703388" h="5672279">
                <a:moveTo>
                  <a:pt x="0" y="0"/>
                </a:moveTo>
                <a:lnTo>
                  <a:pt x="5703389" y="0"/>
                </a:lnTo>
                <a:lnTo>
                  <a:pt x="5703389" y="5672278"/>
                </a:lnTo>
                <a:lnTo>
                  <a:pt x="0" y="5672278"/>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AA9C"/>
        </a:solidFill>
        <a:effectLst/>
      </p:bgPr>
    </p:bg>
    <p:spTree>
      <p:nvGrpSpPr>
        <p:cNvPr id="1" name=""/>
        <p:cNvGrpSpPr/>
        <p:nvPr/>
      </p:nvGrpSpPr>
      <p:grpSpPr>
        <a:xfrm>
          <a:off x="0" y="0"/>
          <a:ext cx="0" cy="0"/>
          <a:chOff x="0" y="0"/>
          <a:chExt cx="0" cy="0"/>
        </a:xfrm>
      </p:grpSpPr>
      <p:grpSp>
        <p:nvGrpSpPr>
          <p:cNvPr id="2" name="Group 2"/>
          <p:cNvGrpSpPr/>
          <p:nvPr/>
        </p:nvGrpSpPr>
        <p:grpSpPr>
          <a:xfrm>
            <a:off x="1000125" y="1037607"/>
            <a:ext cx="13431869" cy="8211787"/>
            <a:chOff x="0" y="0"/>
            <a:chExt cx="17909159" cy="10949049"/>
          </a:xfrm>
        </p:grpSpPr>
        <p:sp>
          <p:nvSpPr>
            <p:cNvPr id="3" name="TextBox 3"/>
            <p:cNvSpPr txBox="1"/>
            <p:nvPr/>
          </p:nvSpPr>
          <p:spPr>
            <a:xfrm>
              <a:off x="0" y="-9525"/>
              <a:ext cx="17909159" cy="1588761"/>
            </a:xfrm>
            <a:prstGeom prst="rect">
              <a:avLst/>
            </a:prstGeom>
          </p:spPr>
          <p:txBody>
            <a:bodyPr lIns="0" tIns="0" rIns="0" bIns="0" rtlCol="0" anchor="t">
              <a:spAutoFit/>
            </a:bodyPr>
            <a:lstStyle/>
            <a:p>
              <a:pPr>
                <a:lnSpc>
                  <a:spcPts val="9386"/>
                </a:lnSpc>
              </a:pPr>
              <a:r>
                <a:rPr lang="en-US" sz="7821">
                  <a:solidFill>
                    <a:srgbClr val="FFFFFF"/>
                  </a:solidFill>
                  <a:latin typeface="Archivo Narrow"/>
                </a:rPr>
                <a:t>Ethical </a:t>
              </a:r>
              <a:r>
                <a:rPr lang="en-US" sz="7821">
                  <a:solidFill>
                    <a:srgbClr val="102B30"/>
                  </a:solidFill>
                  <a:latin typeface="Archivo Narrow"/>
                </a:rPr>
                <a:t>Considerations</a:t>
              </a:r>
            </a:p>
          </p:txBody>
        </p:sp>
        <p:sp>
          <p:nvSpPr>
            <p:cNvPr id="4" name="TextBox 4"/>
            <p:cNvSpPr txBox="1"/>
            <p:nvPr/>
          </p:nvSpPr>
          <p:spPr>
            <a:xfrm>
              <a:off x="0" y="2077813"/>
              <a:ext cx="17909159" cy="609600"/>
            </a:xfrm>
            <a:prstGeom prst="rect">
              <a:avLst/>
            </a:prstGeom>
          </p:spPr>
          <p:txBody>
            <a:bodyPr lIns="0" tIns="0" rIns="0" bIns="0" rtlCol="0" anchor="t">
              <a:spAutoFit/>
            </a:bodyPr>
            <a:lstStyle/>
            <a:p>
              <a:pPr>
                <a:lnSpc>
                  <a:spcPts val="3610"/>
                </a:lnSpc>
              </a:pPr>
              <a:r>
                <a:rPr lang="en-US" sz="3008">
                  <a:solidFill>
                    <a:srgbClr val="102B30"/>
                  </a:solidFill>
                  <a:latin typeface="Open Sauce Bold"/>
                </a:rPr>
                <a:t>Neuralink's promise demands ethical vigilance.</a:t>
              </a:r>
            </a:p>
          </p:txBody>
        </p:sp>
        <p:sp>
          <p:nvSpPr>
            <p:cNvPr id="5" name="TextBox 5"/>
            <p:cNvSpPr txBox="1"/>
            <p:nvPr/>
          </p:nvSpPr>
          <p:spPr>
            <a:xfrm>
              <a:off x="0" y="3230248"/>
              <a:ext cx="17909159" cy="7718800"/>
            </a:xfrm>
            <a:prstGeom prst="rect">
              <a:avLst/>
            </a:prstGeom>
          </p:spPr>
          <p:txBody>
            <a:bodyPr lIns="0" tIns="0" rIns="0" bIns="0" rtlCol="0" anchor="t">
              <a:spAutoFit/>
            </a:bodyPr>
            <a:lstStyle/>
            <a:p>
              <a:pPr marL="519619" lvl="1" indent="-259809">
                <a:lnSpc>
                  <a:spcPts val="4235"/>
                </a:lnSpc>
                <a:buFont typeface="Arial"/>
                <a:buChar char="•"/>
              </a:pPr>
              <a:r>
                <a:rPr lang="en-US" sz="2406">
                  <a:solidFill>
                    <a:srgbClr val="102B30"/>
                  </a:solidFill>
                  <a:latin typeface="Open Sauce Light"/>
                </a:rPr>
                <a:t>Informed Consent</a:t>
              </a:r>
            </a:p>
            <a:p>
              <a:pPr marL="519619" lvl="1" indent="-259809">
                <a:lnSpc>
                  <a:spcPts val="4235"/>
                </a:lnSpc>
                <a:buFont typeface="Arial"/>
                <a:buChar char="•"/>
              </a:pPr>
              <a:r>
                <a:rPr lang="en-US" sz="2406">
                  <a:solidFill>
                    <a:srgbClr val="102B30"/>
                  </a:solidFill>
                  <a:latin typeface="Open Sauce Light"/>
                </a:rPr>
                <a:t>Privacy and Data Security</a:t>
              </a:r>
            </a:p>
            <a:p>
              <a:pPr marL="519619" lvl="1" indent="-259809">
                <a:lnSpc>
                  <a:spcPts val="4235"/>
                </a:lnSpc>
                <a:buFont typeface="Arial"/>
                <a:buChar char="•"/>
              </a:pPr>
              <a:r>
                <a:rPr lang="en-US" sz="2406">
                  <a:solidFill>
                    <a:srgbClr val="102B30"/>
                  </a:solidFill>
                  <a:latin typeface="Open Sauce Light"/>
                </a:rPr>
                <a:t>Equity and Accessibility</a:t>
              </a:r>
            </a:p>
            <a:p>
              <a:pPr marL="519619" lvl="1" indent="-259809">
                <a:lnSpc>
                  <a:spcPts val="4235"/>
                </a:lnSpc>
                <a:buFont typeface="Arial"/>
                <a:buChar char="•"/>
              </a:pPr>
              <a:r>
                <a:rPr lang="en-US" sz="2406">
                  <a:solidFill>
                    <a:srgbClr val="102B30"/>
                  </a:solidFill>
                  <a:latin typeface="Open Sauce Light"/>
                </a:rPr>
                <a:t>Cognitive Enhancement</a:t>
              </a:r>
            </a:p>
            <a:p>
              <a:pPr marL="519619" lvl="1" indent="-259809">
                <a:lnSpc>
                  <a:spcPts val="4235"/>
                </a:lnSpc>
                <a:buFont typeface="Arial"/>
                <a:buChar char="•"/>
              </a:pPr>
              <a:r>
                <a:rPr lang="en-US" sz="2406">
                  <a:solidFill>
                    <a:srgbClr val="102B30"/>
                  </a:solidFill>
                  <a:latin typeface="Open Sauce Light"/>
                </a:rPr>
                <a:t>Safety and Long-term Effects</a:t>
              </a:r>
            </a:p>
            <a:p>
              <a:pPr marL="519619" lvl="1" indent="-259809">
                <a:lnSpc>
                  <a:spcPts val="4235"/>
                </a:lnSpc>
                <a:buFont typeface="Arial"/>
                <a:buChar char="•"/>
              </a:pPr>
              <a:r>
                <a:rPr lang="en-US" sz="2406">
                  <a:solidFill>
                    <a:srgbClr val="102B30"/>
                  </a:solidFill>
                  <a:latin typeface="Open Sauce Light"/>
                </a:rPr>
                <a:t>Autonomy and Identity</a:t>
              </a:r>
            </a:p>
            <a:p>
              <a:pPr marL="519619" lvl="1" indent="-259809">
                <a:lnSpc>
                  <a:spcPts val="4235"/>
                </a:lnSpc>
                <a:buFont typeface="Arial"/>
                <a:buChar char="•"/>
              </a:pPr>
              <a:r>
                <a:rPr lang="en-US" sz="2406">
                  <a:solidFill>
                    <a:srgbClr val="102B30"/>
                  </a:solidFill>
                  <a:latin typeface="Open Sauce Light"/>
                </a:rPr>
                <a:t>Unintended Consequences</a:t>
              </a:r>
            </a:p>
            <a:p>
              <a:pPr marL="519619" lvl="1" indent="-259809">
                <a:lnSpc>
                  <a:spcPts val="4235"/>
                </a:lnSpc>
                <a:buFont typeface="Arial"/>
                <a:buChar char="•"/>
              </a:pPr>
              <a:r>
                <a:rPr lang="en-US" sz="2406">
                  <a:solidFill>
                    <a:srgbClr val="102B30"/>
                  </a:solidFill>
                  <a:latin typeface="Open Sauce Light"/>
                </a:rPr>
                <a:t>Regulatory Oversight</a:t>
              </a:r>
            </a:p>
            <a:p>
              <a:pPr marL="519619" lvl="1" indent="-259809">
                <a:lnSpc>
                  <a:spcPts val="4235"/>
                </a:lnSpc>
                <a:buFont typeface="Arial"/>
                <a:buChar char="•"/>
              </a:pPr>
              <a:r>
                <a:rPr lang="en-US" sz="2406">
                  <a:solidFill>
                    <a:srgbClr val="102B30"/>
                  </a:solidFill>
                  <a:latin typeface="Open Sauce Light"/>
                </a:rPr>
                <a:t>Ethical Guidelines for Research</a:t>
              </a:r>
            </a:p>
            <a:p>
              <a:pPr marL="519619" lvl="1" indent="-259809">
                <a:lnSpc>
                  <a:spcPts val="4235"/>
                </a:lnSpc>
                <a:buFont typeface="Arial"/>
                <a:buChar char="•"/>
              </a:pPr>
              <a:r>
                <a:rPr lang="en-US" sz="2406">
                  <a:solidFill>
                    <a:srgbClr val="102B30"/>
                  </a:solidFill>
                  <a:latin typeface="Open Sauce Light"/>
                </a:rPr>
                <a:t>Ethical Frameworks</a:t>
              </a:r>
            </a:p>
            <a:p>
              <a:pPr>
                <a:lnSpc>
                  <a:spcPts val="4235"/>
                </a:lnSpc>
              </a:pPr>
              <a:endParaRPr lang="en-US" sz="2406">
                <a:solidFill>
                  <a:srgbClr val="102B30"/>
                </a:solidFill>
                <a:latin typeface="Open Sauce Light"/>
              </a:endParaRPr>
            </a:p>
          </p:txBody>
        </p:sp>
      </p:grpSp>
      <p:sp>
        <p:nvSpPr>
          <p:cNvPr id="6" name="Freeform 6"/>
          <p:cNvSpPr/>
          <p:nvPr/>
        </p:nvSpPr>
        <p:spPr>
          <a:xfrm rot="-1346665">
            <a:off x="13698353" y="-2914049"/>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17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346665">
            <a:off x="7313057" y="-5014027"/>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17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7989095" y="3659822"/>
            <a:ext cx="8707272" cy="4353636"/>
          </a:xfrm>
          <a:custGeom>
            <a:avLst/>
            <a:gdLst/>
            <a:ahLst/>
            <a:cxnLst/>
            <a:rect l="l" t="t" r="r" b="b"/>
            <a:pathLst>
              <a:path w="8707272" h="4353636">
                <a:moveTo>
                  <a:pt x="0" y="0"/>
                </a:moveTo>
                <a:lnTo>
                  <a:pt x="8707273" y="0"/>
                </a:lnTo>
                <a:lnTo>
                  <a:pt x="8707273" y="4353636"/>
                </a:lnTo>
                <a:lnTo>
                  <a:pt x="0" y="4353636"/>
                </a:lnTo>
                <a:lnTo>
                  <a:pt x="0" y="0"/>
                </a:lnTo>
                <a:close/>
              </a:path>
            </a:pathLst>
          </a:custGeom>
          <a:blipFill>
            <a:blip r:embed="rId4"/>
            <a:stretch>
              <a:fillRect/>
            </a:stretch>
          </a:blipFill>
        </p:spPr>
        <p:txBody>
          <a:bodyPr/>
          <a:lstStyle/>
          <a:p>
            <a:endParaRPr lang="en-IN"/>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7545156" cy="10287000"/>
          </a:xfrm>
          <a:custGeom>
            <a:avLst/>
            <a:gdLst/>
            <a:ahLst/>
            <a:cxnLst/>
            <a:rect l="l" t="t" r="r" b="b"/>
            <a:pathLst>
              <a:path w="7545156" h="10287000">
                <a:moveTo>
                  <a:pt x="0" y="0"/>
                </a:moveTo>
                <a:lnTo>
                  <a:pt x="7545156" y="0"/>
                </a:lnTo>
                <a:lnTo>
                  <a:pt x="7545156" y="10287000"/>
                </a:lnTo>
                <a:lnTo>
                  <a:pt x="0" y="10287000"/>
                </a:lnTo>
                <a:lnTo>
                  <a:pt x="0" y="0"/>
                </a:lnTo>
                <a:close/>
              </a:path>
            </a:pathLst>
          </a:custGeom>
          <a:blipFill>
            <a:blip r:embed="rId2"/>
            <a:stretch>
              <a:fillRect l="-13633" r="-90874"/>
            </a:stretch>
          </a:blipFill>
        </p:spPr>
        <p:txBody>
          <a:bodyPr/>
          <a:lstStyle/>
          <a:p>
            <a:endParaRPr lang="en-IN"/>
          </a:p>
        </p:txBody>
      </p:sp>
      <p:grpSp>
        <p:nvGrpSpPr>
          <p:cNvPr id="3" name="Group 3"/>
          <p:cNvGrpSpPr/>
          <p:nvPr/>
        </p:nvGrpSpPr>
        <p:grpSpPr>
          <a:xfrm>
            <a:off x="9144000" y="659257"/>
            <a:ext cx="8349863" cy="8968486"/>
            <a:chOff x="0" y="0"/>
            <a:chExt cx="11133150" cy="11957981"/>
          </a:xfrm>
        </p:grpSpPr>
        <p:sp>
          <p:nvSpPr>
            <p:cNvPr id="4" name="TextBox 4"/>
            <p:cNvSpPr txBox="1"/>
            <p:nvPr/>
          </p:nvSpPr>
          <p:spPr>
            <a:xfrm>
              <a:off x="0" y="-9525"/>
              <a:ext cx="11133150" cy="3971925"/>
            </a:xfrm>
            <a:prstGeom prst="rect">
              <a:avLst/>
            </a:prstGeom>
          </p:spPr>
          <p:txBody>
            <a:bodyPr lIns="0" tIns="0" rIns="0" bIns="0" rtlCol="0" anchor="t">
              <a:spAutoFit/>
            </a:bodyPr>
            <a:lstStyle/>
            <a:p>
              <a:pPr>
                <a:lnSpc>
                  <a:spcPts val="11760"/>
                </a:lnSpc>
              </a:pPr>
              <a:r>
                <a:rPr lang="en-US" sz="9800">
                  <a:solidFill>
                    <a:srgbClr val="102B30"/>
                  </a:solidFill>
                  <a:latin typeface="Archivo Narrow"/>
                </a:rPr>
                <a:t>Challenges and Concerns</a:t>
              </a:r>
            </a:p>
          </p:txBody>
        </p:sp>
        <p:sp>
          <p:nvSpPr>
            <p:cNvPr id="5" name="TextBox 5"/>
            <p:cNvSpPr txBox="1"/>
            <p:nvPr/>
          </p:nvSpPr>
          <p:spPr>
            <a:xfrm>
              <a:off x="0" y="4469102"/>
              <a:ext cx="11133150" cy="2073275"/>
            </a:xfrm>
            <a:prstGeom prst="rect">
              <a:avLst/>
            </a:prstGeom>
          </p:spPr>
          <p:txBody>
            <a:bodyPr lIns="0" tIns="0" rIns="0" bIns="0" rtlCol="0" anchor="t">
              <a:spAutoFit/>
            </a:bodyPr>
            <a:lstStyle/>
            <a:p>
              <a:pPr>
                <a:lnSpc>
                  <a:spcPts val="3120"/>
                </a:lnSpc>
              </a:pPr>
              <a:r>
                <a:rPr lang="en-US" sz="2600">
                  <a:solidFill>
                    <a:srgbClr val="FF7C64"/>
                  </a:solidFill>
                  <a:latin typeface="Open Sauce Bold"/>
                </a:rPr>
                <a:t>Exploring the mind's potential through technology is a journey that must navigate the terrain of possibility while treading carefully on the ethical tightrope.</a:t>
              </a:r>
            </a:p>
          </p:txBody>
        </p:sp>
        <p:sp>
          <p:nvSpPr>
            <p:cNvPr id="6" name="TextBox 6"/>
            <p:cNvSpPr txBox="1"/>
            <p:nvPr/>
          </p:nvSpPr>
          <p:spPr>
            <a:xfrm>
              <a:off x="0" y="7073815"/>
              <a:ext cx="11133150" cy="4884166"/>
            </a:xfrm>
            <a:prstGeom prst="rect">
              <a:avLst/>
            </a:prstGeom>
          </p:spPr>
          <p:txBody>
            <a:bodyPr lIns="0" tIns="0" rIns="0" bIns="0" rtlCol="0" anchor="t">
              <a:spAutoFit/>
            </a:bodyPr>
            <a:lstStyle/>
            <a:p>
              <a:pPr marL="518160" lvl="1" indent="-259080">
                <a:lnSpc>
                  <a:spcPts val="4224"/>
                </a:lnSpc>
                <a:buFont typeface="Arial"/>
                <a:buChar char="•"/>
              </a:pPr>
              <a:r>
                <a:rPr lang="en-US" sz="2400">
                  <a:solidFill>
                    <a:srgbClr val="102B30"/>
                  </a:solidFill>
                  <a:latin typeface="Open Sauce Light"/>
                </a:rPr>
                <a:t>Surgical Procedure</a:t>
              </a:r>
            </a:p>
            <a:p>
              <a:pPr marL="518160" lvl="1" indent="-259080">
                <a:lnSpc>
                  <a:spcPts val="4224"/>
                </a:lnSpc>
                <a:buFont typeface="Arial"/>
                <a:buChar char="•"/>
              </a:pPr>
              <a:r>
                <a:rPr lang="en-US" sz="2400">
                  <a:solidFill>
                    <a:srgbClr val="102B30"/>
                  </a:solidFill>
                  <a:latin typeface="Open Sauce Light"/>
                </a:rPr>
                <a:t>Long-Term Safety</a:t>
              </a:r>
            </a:p>
            <a:p>
              <a:pPr marL="518160" lvl="1" indent="-259080">
                <a:lnSpc>
                  <a:spcPts val="4224"/>
                </a:lnSpc>
                <a:buFont typeface="Arial"/>
                <a:buChar char="•"/>
              </a:pPr>
              <a:r>
                <a:rPr lang="en-US" sz="2400">
                  <a:solidFill>
                    <a:srgbClr val="102B30"/>
                  </a:solidFill>
                  <a:latin typeface="Open Sauce Light"/>
                </a:rPr>
                <a:t>Data Privacy and Security</a:t>
              </a:r>
            </a:p>
            <a:p>
              <a:pPr marL="518160" lvl="1" indent="-259080">
                <a:lnSpc>
                  <a:spcPts val="4224"/>
                </a:lnSpc>
                <a:buFont typeface="Arial"/>
                <a:buChar char="•"/>
              </a:pPr>
              <a:r>
                <a:rPr lang="en-US" sz="2400">
                  <a:solidFill>
                    <a:srgbClr val="102B30"/>
                  </a:solidFill>
                  <a:latin typeface="Open Sauce Light"/>
                </a:rPr>
                <a:t>Ethical Concerns</a:t>
              </a:r>
            </a:p>
            <a:p>
              <a:pPr marL="518160" lvl="1" indent="-259080">
                <a:lnSpc>
                  <a:spcPts val="4224"/>
                </a:lnSpc>
                <a:buFont typeface="Arial"/>
                <a:buChar char="•"/>
              </a:pPr>
              <a:r>
                <a:rPr lang="en-US" sz="2400">
                  <a:solidFill>
                    <a:srgbClr val="102B30"/>
                  </a:solidFill>
                  <a:latin typeface="Open Sauce Light"/>
                </a:rPr>
                <a:t>Regulatory Approval</a:t>
              </a:r>
            </a:p>
            <a:p>
              <a:pPr marL="518160" lvl="1" indent="-259080">
                <a:lnSpc>
                  <a:spcPts val="4224"/>
                </a:lnSpc>
                <a:buFont typeface="Arial"/>
                <a:buChar char="•"/>
              </a:pPr>
              <a:r>
                <a:rPr lang="en-US" sz="2400">
                  <a:solidFill>
                    <a:srgbClr val="102B30"/>
                  </a:solidFill>
                  <a:latin typeface="Open Sauce Light"/>
                </a:rPr>
                <a:t>Integration with Existing Technology</a:t>
              </a:r>
            </a:p>
            <a:p>
              <a:pPr>
                <a:lnSpc>
                  <a:spcPts val="4224"/>
                </a:lnSpc>
              </a:pPr>
              <a:endParaRPr lang="en-US" sz="2400">
                <a:solidFill>
                  <a:srgbClr val="102B30"/>
                </a:solidFill>
                <a:latin typeface="Open Sauce Light"/>
              </a:endParaRPr>
            </a:p>
          </p:txBody>
        </p:sp>
      </p:gr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9958B"/>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711813" y="814616"/>
          <a:ext cx="8547487" cy="8657768"/>
        </p:xfrm>
        <a:graphic>
          <a:graphicData uri="http://schemas.openxmlformats.org/drawingml/2006/table">
            <a:tbl>
              <a:tblPr/>
              <a:tblGrid>
                <a:gridCol w="8547487">
                  <a:extLst>
                    <a:ext uri="{9D8B030D-6E8A-4147-A177-3AD203B41FA5}">
                      <a16:colId xmlns:a16="http://schemas.microsoft.com/office/drawing/2014/main" val="20000"/>
                    </a:ext>
                  </a:extLst>
                </a:gridCol>
              </a:tblGrid>
              <a:tr h="904875">
                <a:tc>
                  <a:txBody>
                    <a:bodyPr/>
                    <a:lstStyle/>
                    <a:p>
                      <a:pPr algn="l">
                        <a:lnSpc>
                          <a:spcPts val="3920"/>
                        </a:lnSpc>
                        <a:defRPr/>
                      </a:pPr>
                      <a:r>
                        <a:rPr lang="en-US" sz="2800">
                          <a:solidFill>
                            <a:srgbClr val="102B30"/>
                          </a:solidFill>
                          <a:latin typeface="Open Sauce Bold"/>
                        </a:rPr>
                        <a:t>Demonstrations of Brain Control</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99194">
                <a:tc>
                  <a:txBody>
                    <a:bodyPr/>
                    <a:lstStyle/>
                    <a:p>
                      <a:pPr algn="l">
                        <a:lnSpc>
                          <a:spcPts val="2940"/>
                        </a:lnSpc>
                        <a:defRPr/>
                      </a:pPr>
                      <a:r>
                        <a:rPr lang="en-US" sz="2100">
                          <a:solidFill>
                            <a:srgbClr val="FFFFFF"/>
                          </a:solidFill>
                          <a:latin typeface="Open Sauce Light"/>
                        </a:rPr>
                        <a:t>Neuralink showcased demonstrations where pigs were implanted with their technology, and they demonstrated the ability to read and interpret neural signals related to the pig's movements and sensations. Elon Musk, the founder of Neuralink, also presented a pig with a working Neuralink implant during a live webcast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72399">
                <a:tc>
                  <a:txBody>
                    <a:bodyPr/>
                    <a:lstStyle/>
                    <a:p>
                      <a:pPr algn="l">
                        <a:lnSpc>
                          <a:spcPts val="3150"/>
                        </a:lnSpc>
                        <a:defRPr/>
                      </a:pPr>
                      <a:r>
                        <a:rPr lang="en-US" sz="2100">
                          <a:solidFill>
                            <a:srgbClr val="FFFFFF"/>
                          </a:solidFill>
                          <a:latin typeface="Open Sauce Light"/>
                        </a:rPr>
                        <a:t>Three Pigs: Neuralink introduced three pigs named </a:t>
                      </a:r>
                      <a:r>
                        <a:rPr lang="en-US" sz="2100">
                          <a:solidFill>
                            <a:srgbClr val="102B30"/>
                          </a:solidFill>
                          <a:latin typeface="Open Sauce Light"/>
                        </a:rPr>
                        <a:t>Gertrude, Dorothy, and Joyce</a:t>
                      </a:r>
                      <a:r>
                        <a:rPr lang="en-US" sz="2100">
                          <a:solidFill>
                            <a:srgbClr val="FFFFFF"/>
                          </a:solidFill>
                          <a:latin typeface="Open Sauce Light"/>
                        </a:rPr>
                        <a:t>. Each pig had a different level of involvement in the experiment.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81300">
                <a:tc>
                  <a:txBody>
                    <a:bodyPr/>
                    <a:lstStyle/>
                    <a:p>
                      <a:pPr algn="l">
                        <a:lnSpc>
                          <a:spcPts val="3150"/>
                        </a:lnSpc>
                        <a:defRPr/>
                      </a:pPr>
                      <a:r>
                        <a:rPr lang="en-US" sz="2100">
                          <a:solidFill>
                            <a:srgbClr val="102B30"/>
                          </a:solidFill>
                          <a:latin typeface="Open Sauce Light"/>
                        </a:rPr>
                        <a:t>Gertrude</a:t>
                      </a:r>
                      <a:r>
                        <a:rPr lang="en-US" sz="2100">
                          <a:solidFill>
                            <a:srgbClr val="FFFFFF"/>
                          </a:solidFill>
                          <a:latin typeface="Open Sauce Light"/>
                        </a:rPr>
                        <a:t> was the primary pig used to demonstrate the functionality of the Neuralink brain implant.</a:t>
                      </a:r>
                      <a:endParaRPr lang="en-US" sz="1100"/>
                    </a:p>
                    <a:p>
                      <a:pPr>
                        <a:lnSpc>
                          <a:spcPts val="3150"/>
                        </a:lnSpc>
                      </a:pPr>
                      <a:r>
                        <a:rPr lang="en-US" sz="2100">
                          <a:solidFill>
                            <a:srgbClr val="FFFFFF"/>
                          </a:solidFill>
                          <a:latin typeface="Open Sauce Light"/>
                        </a:rPr>
                        <a:t> </a:t>
                      </a:r>
                      <a:r>
                        <a:rPr lang="en-US" sz="2100">
                          <a:solidFill>
                            <a:srgbClr val="102B30"/>
                          </a:solidFill>
                          <a:latin typeface="Open Sauce Light"/>
                        </a:rPr>
                        <a:t>Dorothy </a:t>
                      </a:r>
                      <a:r>
                        <a:rPr lang="en-US" sz="2100">
                          <a:solidFill>
                            <a:srgbClr val="FFFFFF"/>
                          </a:solidFill>
                          <a:latin typeface="Open Sauce Light"/>
                        </a:rPr>
                        <a:t>had previously received a Neuralink implant, but it was later removed.</a:t>
                      </a:r>
                    </a:p>
                    <a:p>
                      <a:pPr>
                        <a:lnSpc>
                          <a:spcPts val="3150"/>
                        </a:lnSpc>
                      </a:pPr>
                      <a:r>
                        <a:rPr lang="en-US" sz="2100">
                          <a:solidFill>
                            <a:srgbClr val="FFFFFF"/>
                          </a:solidFill>
                          <a:latin typeface="Open Sauce Light"/>
                        </a:rPr>
                        <a:t> </a:t>
                      </a:r>
                      <a:r>
                        <a:rPr lang="en-US" sz="2100">
                          <a:solidFill>
                            <a:srgbClr val="102B30"/>
                          </a:solidFill>
                          <a:latin typeface="Open Sauce Light"/>
                        </a:rPr>
                        <a:t>Joyce</a:t>
                      </a:r>
                      <a:r>
                        <a:rPr lang="en-US" sz="2100">
                          <a:solidFill>
                            <a:srgbClr val="FFFFFF"/>
                          </a:solidFill>
                          <a:latin typeface="Open Sauce Light"/>
                        </a:rPr>
                        <a:t>, the third pig, was not implanted with a Neuralink device. Instead, she served as a control or reference pig</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1324043" y="774263"/>
            <a:ext cx="5838185" cy="4067175"/>
          </a:xfrm>
          <a:prstGeom prst="rect">
            <a:avLst/>
          </a:prstGeom>
        </p:spPr>
        <p:txBody>
          <a:bodyPr lIns="0" tIns="0" rIns="0" bIns="0" rtlCol="0" anchor="t">
            <a:spAutoFit/>
          </a:bodyPr>
          <a:lstStyle/>
          <a:p>
            <a:pPr>
              <a:lnSpc>
                <a:spcPts val="10680"/>
              </a:lnSpc>
            </a:pPr>
            <a:r>
              <a:rPr lang="en-US" sz="8900">
                <a:solidFill>
                  <a:srgbClr val="FFFFFF"/>
                </a:solidFill>
                <a:latin typeface="Archivo Narrow"/>
              </a:rPr>
              <a:t>Current Progress and </a:t>
            </a:r>
            <a:r>
              <a:rPr lang="en-US" sz="8900">
                <a:solidFill>
                  <a:srgbClr val="FF7C64"/>
                </a:solidFill>
                <a:latin typeface="Archivo Narrow"/>
              </a:rPr>
              <a:t>Achievements</a:t>
            </a:r>
          </a:p>
        </p:txBody>
      </p:sp>
      <p:sp>
        <p:nvSpPr>
          <p:cNvPr id="4" name="Freeform 4"/>
          <p:cNvSpPr/>
          <p:nvPr/>
        </p:nvSpPr>
        <p:spPr>
          <a:xfrm rot="9120144">
            <a:off x="-2463045" y="7237643"/>
            <a:ext cx="8476077" cy="8429844"/>
          </a:xfrm>
          <a:custGeom>
            <a:avLst/>
            <a:gdLst/>
            <a:ahLst/>
            <a:cxnLst/>
            <a:rect l="l" t="t" r="r" b="b"/>
            <a:pathLst>
              <a:path w="8476077" h="8429844">
                <a:moveTo>
                  <a:pt x="0" y="0"/>
                </a:moveTo>
                <a:lnTo>
                  <a:pt x="8476077" y="0"/>
                </a:lnTo>
                <a:lnTo>
                  <a:pt x="8476077" y="8429844"/>
                </a:lnTo>
                <a:lnTo>
                  <a:pt x="0" y="8429844"/>
                </a:lnTo>
                <a:lnTo>
                  <a:pt x="0" y="0"/>
                </a:lnTo>
                <a:close/>
              </a:path>
            </a:pathLst>
          </a:custGeom>
          <a:blipFill>
            <a:blip r:embed="rId2">
              <a:alphaModFix amt="17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028700" y="5386231"/>
            <a:ext cx="6466972" cy="3903354"/>
          </a:xfrm>
          <a:custGeom>
            <a:avLst/>
            <a:gdLst/>
            <a:ahLst/>
            <a:cxnLst/>
            <a:rect l="l" t="t" r="r" b="b"/>
            <a:pathLst>
              <a:path w="6466972" h="3903354">
                <a:moveTo>
                  <a:pt x="0" y="0"/>
                </a:moveTo>
                <a:lnTo>
                  <a:pt x="6466972" y="0"/>
                </a:lnTo>
                <a:lnTo>
                  <a:pt x="6466972" y="3903354"/>
                </a:lnTo>
                <a:lnTo>
                  <a:pt x="0" y="3903354"/>
                </a:lnTo>
                <a:lnTo>
                  <a:pt x="0" y="0"/>
                </a:lnTo>
                <a:close/>
              </a:path>
            </a:pathLst>
          </a:custGeom>
          <a:blipFill>
            <a:blip r:embed="rId4"/>
            <a:stretch>
              <a:fillRect l="-5410" r="-11312"/>
            </a:stretch>
          </a:blipFill>
        </p:spPr>
        <p:txBody>
          <a:bodyPr/>
          <a:lstStyle/>
          <a:p>
            <a:endParaRPr lang="en-IN"/>
          </a:p>
        </p:txBody>
      </p:sp>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33823" y="1868466"/>
            <a:ext cx="14620354" cy="1190625"/>
          </a:xfrm>
          <a:prstGeom prst="rect">
            <a:avLst/>
          </a:prstGeom>
        </p:spPr>
        <p:txBody>
          <a:bodyPr lIns="0" tIns="0" rIns="0" bIns="0" rtlCol="0" anchor="t">
            <a:spAutoFit/>
          </a:bodyPr>
          <a:lstStyle/>
          <a:p>
            <a:pPr algn="ctr">
              <a:lnSpc>
                <a:spcPts val="9359"/>
              </a:lnSpc>
            </a:pPr>
            <a:r>
              <a:rPr lang="en-US" sz="7799">
                <a:solidFill>
                  <a:srgbClr val="FF7C64"/>
                </a:solidFill>
                <a:latin typeface="Archivo Narrow"/>
              </a:rPr>
              <a:t>Conclusion</a:t>
            </a:r>
          </a:p>
        </p:txBody>
      </p:sp>
      <p:sp>
        <p:nvSpPr>
          <p:cNvPr id="3" name="Freeform 3"/>
          <p:cNvSpPr/>
          <p:nvPr/>
        </p:nvSpPr>
        <p:spPr>
          <a:xfrm rot="-961607">
            <a:off x="13657874" y="-4959564"/>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55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961607">
            <a:off x="-4799577" y="7045791"/>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55000"/>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5" name="Table 5"/>
          <p:cNvGraphicFramePr>
            <a:graphicFrameLocks noGrp="1"/>
          </p:cNvGraphicFramePr>
          <p:nvPr/>
        </p:nvGraphicFramePr>
        <p:xfrm>
          <a:off x="2324330" y="3731564"/>
          <a:ext cx="13639341" cy="5043996"/>
        </p:xfrm>
        <a:graphic>
          <a:graphicData uri="http://schemas.openxmlformats.org/drawingml/2006/table">
            <a:tbl>
              <a:tblPr/>
              <a:tblGrid>
                <a:gridCol w="13639341">
                  <a:extLst>
                    <a:ext uri="{9D8B030D-6E8A-4147-A177-3AD203B41FA5}">
                      <a16:colId xmlns:a16="http://schemas.microsoft.com/office/drawing/2014/main" val="20000"/>
                    </a:ext>
                  </a:extLst>
                </a:gridCol>
              </a:tblGrid>
              <a:tr h="5038725">
                <a:tc>
                  <a:txBody>
                    <a:bodyPr/>
                    <a:lstStyle/>
                    <a:p>
                      <a:pPr algn="l">
                        <a:lnSpc>
                          <a:spcPts val="3749"/>
                        </a:lnSpc>
                        <a:defRPr/>
                      </a:pPr>
                      <a:r>
                        <a:rPr lang="en-US" sz="2499">
                          <a:solidFill>
                            <a:srgbClr val="102B30"/>
                          </a:solidFill>
                          <a:latin typeface="Open Sauce Light"/>
                        </a:rPr>
                        <a:t>Neuralink, founded by Elon Musk, endeavors to merge the human brain with technology through brain-machine interfaces (BMIs). While promising groundbreaking advancements, such as restoring mobility for individuals with disabilities and enhancing cognition, Neuralink faces ethical, regulatory, and technical challenges. These challenges range from ensuring informed consent and protecting neural data privacy to navigating complex regulatory landscapes. The long-term success and societal impact of Neuralink's technology remain uncertain, hinging on its ability to overcome these obstacles. Neuralink symbolizes the potential for remarkable progress in neurotechnology but underscores the importance of responsible development and ethical considerations in its pursuit.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Freeform 6"/>
          <p:cNvSpPr/>
          <p:nvPr/>
        </p:nvSpPr>
        <p:spPr>
          <a:xfrm>
            <a:off x="5497767" y="1877991"/>
            <a:ext cx="899783" cy="1181100"/>
          </a:xfrm>
          <a:custGeom>
            <a:avLst/>
            <a:gdLst/>
            <a:ahLst/>
            <a:cxnLst/>
            <a:rect l="l" t="t" r="r" b="b"/>
            <a:pathLst>
              <a:path w="899783" h="1181100">
                <a:moveTo>
                  <a:pt x="0" y="0"/>
                </a:moveTo>
                <a:lnTo>
                  <a:pt x="899783" y="0"/>
                </a:lnTo>
                <a:lnTo>
                  <a:pt x="899783" y="1181100"/>
                </a:lnTo>
                <a:lnTo>
                  <a:pt x="0" y="11811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sp>
        <p:nvSpPr>
          <p:cNvPr id="2" name="Freeform 2"/>
          <p:cNvSpPr/>
          <p:nvPr/>
        </p:nvSpPr>
        <p:spPr>
          <a:xfrm>
            <a:off x="9004984" y="1869707"/>
            <a:ext cx="10952169" cy="10399029"/>
          </a:xfrm>
          <a:custGeom>
            <a:avLst/>
            <a:gdLst/>
            <a:ahLst/>
            <a:cxnLst/>
            <a:rect l="l" t="t" r="r" b="b"/>
            <a:pathLst>
              <a:path w="10952169" h="10399029">
                <a:moveTo>
                  <a:pt x="0" y="0"/>
                </a:moveTo>
                <a:lnTo>
                  <a:pt x="10952169" y="0"/>
                </a:lnTo>
                <a:lnTo>
                  <a:pt x="10952169" y="10399029"/>
                </a:lnTo>
                <a:lnTo>
                  <a:pt x="0" y="10399029"/>
                </a:lnTo>
                <a:lnTo>
                  <a:pt x="0" y="0"/>
                </a:lnTo>
                <a:close/>
              </a:path>
            </a:pathLst>
          </a:custGeom>
          <a:blipFill>
            <a:blip r:embed="rId2">
              <a:alphaModFix amt="31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578389" y="2899689"/>
            <a:ext cx="9882093" cy="2981325"/>
          </a:xfrm>
          <a:prstGeom prst="rect">
            <a:avLst/>
          </a:prstGeom>
        </p:spPr>
        <p:txBody>
          <a:bodyPr lIns="0" tIns="0" rIns="0" bIns="0" rtlCol="0" anchor="t">
            <a:spAutoFit/>
          </a:bodyPr>
          <a:lstStyle/>
          <a:p>
            <a:pPr>
              <a:lnSpc>
                <a:spcPts val="11760"/>
              </a:lnSpc>
            </a:pPr>
            <a:r>
              <a:rPr lang="en-US" sz="9800">
                <a:solidFill>
                  <a:srgbClr val="FFFFFF"/>
                </a:solidFill>
                <a:latin typeface="Archivo Narrow"/>
              </a:rPr>
              <a:t>Do you have</a:t>
            </a:r>
          </a:p>
          <a:p>
            <a:pPr>
              <a:lnSpc>
                <a:spcPts val="11760"/>
              </a:lnSpc>
            </a:pPr>
            <a:r>
              <a:rPr lang="en-US" sz="9800">
                <a:solidFill>
                  <a:srgbClr val="FF7C64"/>
                </a:solidFill>
                <a:latin typeface="Archivo Narrow"/>
              </a:rPr>
              <a:t>any questions</a:t>
            </a:r>
            <a:r>
              <a:rPr lang="en-US" sz="9800">
                <a:solidFill>
                  <a:srgbClr val="FFFFFF"/>
                </a:solidFill>
                <a:latin typeface="Archivo Narrow"/>
              </a:rPr>
              <a:t>?</a:t>
            </a:r>
          </a:p>
        </p:txBody>
      </p:sp>
      <p:sp>
        <p:nvSpPr>
          <p:cNvPr id="4" name="TextBox 4"/>
          <p:cNvSpPr txBox="1"/>
          <p:nvPr/>
        </p:nvSpPr>
        <p:spPr>
          <a:xfrm>
            <a:off x="1578389" y="6229254"/>
            <a:ext cx="6685850" cy="502920"/>
          </a:xfrm>
          <a:prstGeom prst="rect">
            <a:avLst/>
          </a:prstGeom>
        </p:spPr>
        <p:txBody>
          <a:bodyPr lIns="0" tIns="0" rIns="0" bIns="0" rtlCol="0" anchor="t">
            <a:spAutoFit/>
          </a:bodyPr>
          <a:lstStyle/>
          <a:p>
            <a:pPr>
              <a:lnSpc>
                <a:spcPts val="4199"/>
              </a:lnSpc>
            </a:pPr>
            <a:r>
              <a:rPr lang="en-US" sz="2799">
                <a:solidFill>
                  <a:srgbClr val="FFFFFF"/>
                </a:solidFill>
                <a:latin typeface="Open Sauce Light"/>
              </a:rPr>
              <a:t>Q and A</a:t>
            </a: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40565" y="925957"/>
            <a:ext cx="13394144" cy="8206486"/>
            <a:chOff x="0" y="0"/>
            <a:chExt cx="17858858" cy="10941981"/>
          </a:xfrm>
        </p:grpSpPr>
        <p:sp>
          <p:nvSpPr>
            <p:cNvPr id="3" name="TextBox 3"/>
            <p:cNvSpPr txBox="1"/>
            <p:nvPr/>
          </p:nvSpPr>
          <p:spPr>
            <a:xfrm>
              <a:off x="0" y="-9525"/>
              <a:ext cx="17858858" cy="1584325"/>
            </a:xfrm>
            <a:prstGeom prst="rect">
              <a:avLst/>
            </a:prstGeom>
          </p:spPr>
          <p:txBody>
            <a:bodyPr lIns="0" tIns="0" rIns="0" bIns="0" rtlCol="0" anchor="t">
              <a:spAutoFit/>
            </a:bodyPr>
            <a:lstStyle/>
            <a:p>
              <a:pPr>
                <a:lnSpc>
                  <a:spcPts val="9359"/>
                </a:lnSpc>
              </a:pPr>
              <a:r>
                <a:rPr lang="en-US" sz="7799">
                  <a:solidFill>
                    <a:srgbClr val="FF7C64"/>
                  </a:solidFill>
                  <a:latin typeface="Archivo Narrow"/>
                </a:rPr>
                <a:t>References</a:t>
              </a:r>
            </a:p>
          </p:txBody>
        </p:sp>
        <p:sp>
          <p:nvSpPr>
            <p:cNvPr id="4" name="TextBox 4"/>
            <p:cNvSpPr txBox="1"/>
            <p:nvPr/>
          </p:nvSpPr>
          <p:spPr>
            <a:xfrm>
              <a:off x="0" y="2062452"/>
              <a:ext cx="17858858" cy="6191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 https://neuralink.com/ </a:t>
              </a:r>
            </a:p>
          </p:txBody>
        </p:sp>
        <p:sp>
          <p:nvSpPr>
            <p:cNvPr id="5" name="TextBox 5"/>
            <p:cNvSpPr txBox="1"/>
            <p:nvPr/>
          </p:nvSpPr>
          <p:spPr>
            <a:xfrm>
              <a:off x="0" y="3213015"/>
              <a:ext cx="17858858" cy="7728966"/>
            </a:xfrm>
            <a:prstGeom prst="rect">
              <a:avLst/>
            </a:prstGeom>
          </p:spPr>
          <p:txBody>
            <a:bodyPr lIns="0" tIns="0" rIns="0" bIns="0" rtlCol="0" anchor="t">
              <a:spAutoFit/>
            </a:bodyPr>
            <a:lstStyle/>
            <a:p>
              <a:pPr>
                <a:lnSpc>
                  <a:spcPts val="4224"/>
                </a:lnSpc>
              </a:pPr>
              <a:endParaRPr/>
            </a:p>
            <a:p>
              <a:pPr>
                <a:lnSpc>
                  <a:spcPts val="4224"/>
                </a:lnSpc>
              </a:pPr>
              <a:r>
                <a:rPr lang="en-US" sz="2400">
                  <a:solidFill>
                    <a:srgbClr val="102B30"/>
                  </a:solidFill>
                  <a:latin typeface="Open Sauce Bold"/>
                </a:rPr>
                <a:t>https://www.bbc.com/news/health-65717487</a:t>
              </a:r>
            </a:p>
            <a:p>
              <a:pPr>
                <a:lnSpc>
                  <a:spcPts val="4224"/>
                </a:lnSpc>
              </a:pPr>
              <a:r>
                <a:rPr lang="en-US" sz="2400">
                  <a:solidFill>
                    <a:srgbClr val="102B30"/>
                  </a:solidFill>
                  <a:latin typeface="Open Sauce Bold"/>
                </a:rPr>
                <a:t>E. Musk, "Neuralink: An Integrated Brain-Machine Interface Platform With Thousands of Channels", J Med Internet Res, vol. 21, no. 10, Oct 2019. https://www.jmir.org/2019/10/e16194/ </a:t>
              </a:r>
            </a:p>
            <a:p>
              <a:pPr>
                <a:lnSpc>
                  <a:spcPts val="4224"/>
                </a:lnSpc>
              </a:pPr>
              <a:r>
                <a:rPr lang="en-US" sz="2400">
                  <a:solidFill>
                    <a:srgbClr val="102B30"/>
                  </a:solidFill>
                  <a:latin typeface="Open Sauce Bold"/>
                </a:rPr>
                <a:t>Sarah Marsh, "Neurotechnology: Elon Musk and the goal of human enhancement", The Guardian, January 2018. </a:t>
              </a:r>
            </a:p>
            <a:p>
              <a:pPr>
                <a:lnSpc>
                  <a:spcPts val="4224"/>
                </a:lnSpc>
              </a:pPr>
              <a:r>
                <a:rPr lang="en-US" sz="2400">
                  <a:solidFill>
                    <a:srgbClr val="102B30"/>
                  </a:solidFill>
                  <a:latin typeface="Open Sauce Bold"/>
                </a:rPr>
                <a:t>https://www.ncbi.nlm.nih.gov/pmc/articles/PMC6914248/ https://www.nytimes.com/2022/11/30/health/elon-musk-neuralink-brain-device.html https://www.thehindu.com/sci-tech/science/neuralink-elon-musk-fda-concerns-human-clinical-trials/article66915151.ece </a:t>
              </a:r>
            </a:p>
          </p:txBody>
        </p:sp>
      </p:grpSp>
      <p:sp>
        <p:nvSpPr>
          <p:cNvPr id="6" name="Freeform 6"/>
          <p:cNvSpPr/>
          <p:nvPr/>
        </p:nvSpPr>
        <p:spPr>
          <a:xfrm rot="-1346665">
            <a:off x="13698353" y="-2914049"/>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17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346665">
            <a:off x="7313057" y="-5014027"/>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17000"/>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9958B"/>
        </a:solidFill>
        <a:effectLst/>
      </p:bgPr>
    </p:bg>
    <p:spTree>
      <p:nvGrpSpPr>
        <p:cNvPr id="1" name=""/>
        <p:cNvGrpSpPr/>
        <p:nvPr/>
      </p:nvGrpSpPr>
      <p:grpSpPr>
        <a:xfrm>
          <a:off x="0" y="0"/>
          <a:ext cx="0" cy="0"/>
          <a:chOff x="0" y="0"/>
          <a:chExt cx="0" cy="0"/>
        </a:xfrm>
      </p:grpSpPr>
      <p:sp>
        <p:nvSpPr>
          <p:cNvPr id="2" name="Freeform 2"/>
          <p:cNvSpPr/>
          <p:nvPr/>
        </p:nvSpPr>
        <p:spPr>
          <a:xfrm>
            <a:off x="0" y="0"/>
            <a:ext cx="8160346" cy="10287000"/>
          </a:xfrm>
          <a:custGeom>
            <a:avLst/>
            <a:gdLst/>
            <a:ahLst/>
            <a:cxnLst/>
            <a:rect l="l" t="t" r="r" b="b"/>
            <a:pathLst>
              <a:path w="8160346" h="10287000">
                <a:moveTo>
                  <a:pt x="0" y="0"/>
                </a:moveTo>
                <a:lnTo>
                  <a:pt x="8160346" y="0"/>
                </a:lnTo>
                <a:lnTo>
                  <a:pt x="8160346" y="10287000"/>
                </a:lnTo>
                <a:lnTo>
                  <a:pt x="0" y="10287000"/>
                </a:lnTo>
                <a:lnTo>
                  <a:pt x="0" y="0"/>
                </a:lnTo>
                <a:close/>
              </a:path>
            </a:pathLst>
          </a:custGeom>
          <a:blipFill>
            <a:blip r:embed="rId2"/>
            <a:stretch>
              <a:fillRect l="-15541" t="-4251" r="-15878"/>
            </a:stretch>
          </a:blipFill>
        </p:spPr>
        <p:txBody>
          <a:bodyPr/>
          <a:lstStyle/>
          <a:p>
            <a:endParaRPr lang="en-IN"/>
          </a:p>
        </p:txBody>
      </p:sp>
      <p:grpSp>
        <p:nvGrpSpPr>
          <p:cNvPr id="3" name="Group 3"/>
          <p:cNvGrpSpPr/>
          <p:nvPr/>
        </p:nvGrpSpPr>
        <p:grpSpPr>
          <a:xfrm>
            <a:off x="10107406" y="4062486"/>
            <a:ext cx="6312896" cy="2162027"/>
            <a:chOff x="0" y="0"/>
            <a:chExt cx="8417194" cy="2882703"/>
          </a:xfrm>
        </p:grpSpPr>
        <p:sp>
          <p:nvSpPr>
            <p:cNvPr id="4" name="TextBox 4"/>
            <p:cNvSpPr txBox="1"/>
            <p:nvPr/>
          </p:nvSpPr>
          <p:spPr>
            <a:xfrm>
              <a:off x="0" y="-9525"/>
              <a:ext cx="8417194" cy="1584325"/>
            </a:xfrm>
            <a:prstGeom prst="rect">
              <a:avLst/>
            </a:prstGeom>
          </p:spPr>
          <p:txBody>
            <a:bodyPr lIns="0" tIns="0" rIns="0" bIns="0" rtlCol="0" anchor="t">
              <a:spAutoFit/>
            </a:bodyPr>
            <a:lstStyle/>
            <a:p>
              <a:pPr>
                <a:lnSpc>
                  <a:spcPts val="9359"/>
                </a:lnSpc>
              </a:pPr>
              <a:r>
                <a:rPr lang="en-US" sz="7799">
                  <a:solidFill>
                    <a:srgbClr val="FFFFFF"/>
                  </a:solidFill>
                  <a:latin typeface="Archivo Narrow"/>
                </a:rPr>
                <a:t>“Thank You!”</a:t>
              </a:r>
            </a:p>
          </p:txBody>
        </p:sp>
        <p:sp>
          <p:nvSpPr>
            <p:cNvPr id="5" name="TextBox 5"/>
            <p:cNvSpPr txBox="1"/>
            <p:nvPr/>
          </p:nvSpPr>
          <p:spPr>
            <a:xfrm>
              <a:off x="0" y="2263578"/>
              <a:ext cx="8146443" cy="619125"/>
            </a:xfrm>
            <a:prstGeom prst="rect">
              <a:avLst/>
            </a:prstGeom>
          </p:spPr>
          <p:txBody>
            <a:bodyPr lIns="0" tIns="0" rIns="0" bIns="0" rtlCol="0" anchor="t">
              <a:spAutoFit/>
            </a:bodyPr>
            <a:lstStyle/>
            <a:p>
              <a:pPr>
                <a:lnSpc>
                  <a:spcPts val="3600"/>
                </a:lnSpc>
              </a:pPr>
              <a:r>
                <a:rPr lang="en-US" sz="3000">
                  <a:solidFill>
                    <a:srgbClr val="102B30"/>
                  </a:solidFill>
                  <a:latin typeface="Open Sauce Bold"/>
                </a:rPr>
                <a:t>Likhitha.</a:t>
              </a:r>
            </a:p>
          </p:txBody>
        </p:sp>
      </p:gr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1767</Words>
  <Application>Microsoft Office PowerPoint</Application>
  <PresentationFormat>Custom</PresentationFormat>
  <Paragraphs>175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Neuralink</dc:title>
  <dc:creator>20UP1A6611 .</dc:creator>
  <cp:lastModifiedBy>20UP1A6611 .</cp:lastModifiedBy>
  <cp:revision>3</cp:revision>
  <dcterms:created xsi:type="dcterms:W3CDTF">2006-08-16T00:00:00Z</dcterms:created>
  <dcterms:modified xsi:type="dcterms:W3CDTF">2023-10-18T12:12:12Z</dcterms:modified>
  <dc:identifier>DAFtfFOtkb4</dc:identifier>
</cp:coreProperties>
</file>